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68" r:id="rId3"/>
    <p:sldId id="269" r:id="rId4"/>
    <p:sldId id="280" r:id="rId5"/>
    <p:sldId id="270" r:id="rId6"/>
    <p:sldId id="271" r:id="rId7"/>
    <p:sldId id="272" r:id="rId8"/>
    <p:sldId id="273" r:id="rId9"/>
    <p:sldId id="274" r:id="rId10"/>
    <p:sldId id="275" r:id="rId11"/>
    <p:sldId id="278" r:id="rId12"/>
    <p:sldId id="276" r:id="rId13"/>
    <p:sldId id="277" r:id="rId14"/>
    <p:sldId id="279" r:id="rId15"/>
    <p:sldId id="267" r:id="rId16"/>
  </p:sldIdLst>
  <p:sldSz cx="12192000" cy="6858000"/>
  <p:notesSz cx="6858000" cy="9144000"/>
  <p:embeddedFontLst>
    <p:embeddedFont>
      <p:font typeface="Eras Demi ITC" panose="020B0805030504020804" pitchFamily="34" charset="0"/>
      <p:regular r:id="rId18"/>
    </p:embeddedFont>
    <p:embeddedFont>
      <p:font typeface="High Tower Text" panose="02040502050506030303" pitchFamily="18" charset="0"/>
      <p:regular r:id="rId19"/>
      <p:italic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72086" autoAdjust="0"/>
  </p:normalViewPr>
  <p:slideViewPr>
    <p:cSldViewPr snapToGrid="0">
      <p:cViewPr varScale="1">
        <p:scale>
          <a:sx n="66" d="100"/>
          <a:sy n="66" d="100"/>
        </p:scale>
        <p:origin x="1168" y="56"/>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058944-C1A1-4D23-AC30-C6A527D7302F}" type="datetimeFigureOut">
              <a:rPr lang="zh-CN" altLang="en-US" smtClean="0"/>
              <a:t>2025/11/1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C829C-D09A-43DE-B9B9-5AEB4E9E12A8}" type="slidenum">
              <a:rPr lang="zh-CN" altLang="en-US" smtClean="0"/>
              <a:t>‹#›</a:t>
            </a:fld>
            <a:endParaRPr lang="zh-CN" altLang="en-US"/>
          </a:p>
        </p:txBody>
      </p:sp>
    </p:spTree>
    <p:extLst>
      <p:ext uri="{BB962C8B-B14F-4D97-AF65-F5344CB8AC3E}">
        <p14:creationId xmlns:p14="http://schemas.microsoft.com/office/powerpoint/2010/main" val="108589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Welcome everyone to our Big Data Mini‑Project Final Project Report.  In this presentation we will walk through the work completed so far on a credit risk dataset.  Our aim is to predict borrowers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interest rates, classify their credit grade and discover meaningful customer segments.  Over the past few weeks we have explored the raw data, engineered useful features, trained baseline models and even automated parts of the workflow using a LangGraph agent.  Today we</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ll</a:t>
            </a:r>
            <a:r>
              <a:rPr lang="en-US" altLang="zh-CN" sz="1200" kern="1200" dirty="0">
                <a:solidFill>
                  <a:schemeClr val="tx1"/>
                </a:solidFill>
                <a:effectLst/>
                <a:latin typeface="+mn-lt"/>
                <a:ea typeface="+mn-ea"/>
                <a:cs typeface="+mn-cs"/>
              </a:rPr>
              <a:t> share what we have achieved, what we learned along the way and where we’re heading next.</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a:t>
            </a:fld>
            <a:endParaRPr lang="zh-CN" altLang="en-US"/>
          </a:p>
        </p:txBody>
      </p:sp>
    </p:spTree>
    <p:extLst>
      <p:ext uri="{BB962C8B-B14F-4D97-AF65-F5344CB8AC3E}">
        <p14:creationId xmlns:p14="http://schemas.microsoft.com/office/powerpoint/2010/main" val="255485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Here’s an overview of what we’ll cover.  We begin with a brief project overview describing the dataset and goals.  Then we explain our methodology and pipeline, highlighting how we move from exploratory analysis to feature engineering and modelling.  Separate sections present our regression, classification and clustering results.  We’ll also introduce the LangGraph agent workflow that automates the process.  After that we’ll discuss team contributions, </a:t>
            </a:r>
            <a:r>
              <a:rPr lang="en-US" altLang="zh-CN" sz="1200" kern="1200" dirty="0" err="1">
                <a:solidFill>
                  <a:schemeClr val="tx1"/>
                </a:solidFill>
                <a:effectLst/>
                <a:latin typeface="+mn-lt"/>
                <a:ea typeface="+mn-ea"/>
                <a:cs typeface="+mn-cs"/>
              </a:rPr>
              <a:t>summarise</a:t>
            </a:r>
            <a:r>
              <a:rPr lang="en-US" altLang="zh-CN" sz="1200" kern="1200" dirty="0">
                <a:solidFill>
                  <a:schemeClr val="tx1"/>
                </a:solidFill>
                <a:effectLst/>
                <a:latin typeface="+mn-lt"/>
                <a:ea typeface="+mn-ea"/>
                <a:cs typeface="+mn-cs"/>
              </a:rPr>
              <a:t> our progress and lessons learned, outline the next steps and potential risks, and conclude with key takeaways before opening the floor for questions.</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2</a:t>
            </a:fld>
            <a:endParaRPr lang="zh-CN" altLang="en-US"/>
          </a:p>
        </p:txBody>
      </p:sp>
    </p:spTree>
    <p:extLst>
      <p:ext uri="{BB962C8B-B14F-4D97-AF65-F5344CB8AC3E}">
        <p14:creationId xmlns:p14="http://schemas.microsoft.com/office/powerpoint/2010/main" val="2992175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slide shows the overall structure of our </a:t>
            </a:r>
            <a:r>
              <a:rPr lang="en-US" altLang="zh-CN" i="1" dirty="0" err="1"/>
              <a:t>bigdata_project</a:t>
            </a:r>
            <a:r>
              <a:rPr lang="en-US" altLang="zh-CN" dirty="0"/>
              <a:t>.</a:t>
            </a:r>
          </a:p>
          <a:p>
            <a:r>
              <a:rPr lang="en-US" altLang="zh-CN" dirty="0"/>
              <a:t>The </a:t>
            </a:r>
            <a:r>
              <a:rPr lang="en-US" altLang="zh-CN" b="1" dirty="0" err="1"/>
              <a:t>src</a:t>
            </a:r>
            <a:r>
              <a:rPr lang="en-US" altLang="zh-CN" dirty="0"/>
              <a:t> folder is the core — it contains all the data processing, feature engineering, and model training code that builds our regression and classification pipelines.</a:t>
            </a:r>
          </a:p>
          <a:p>
            <a:r>
              <a:rPr lang="en-US" altLang="zh-CN" dirty="0"/>
              <a:t>The </a:t>
            </a:r>
            <a:r>
              <a:rPr lang="en-US" altLang="zh-CN" b="1" dirty="0" err="1"/>
              <a:t>agent_flow</a:t>
            </a:r>
            <a:r>
              <a:rPr lang="en-US" altLang="zh-CN" dirty="0"/>
              <a:t> directory automates everything. It uses multiple agents — a planner, executor, visualizer, and reporter — to run the workflow end to end and generate reports automatically.</a:t>
            </a:r>
          </a:p>
          <a:p>
            <a:r>
              <a:rPr lang="en-US" altLang="zh-CN" dirty="0"/>
              <a:t>Next, </a:t>
            </a:r>
            <a:r>
              <a:rPr lang="en-US" altLang="zh-CN" b="1" dirty="0"/>
              <a:t>artifacts</a:t>
            </a:r>
            <a:r>
              <a:rPr lang="en-US" altLang="zh-CN" dirty="0"/>
              <a:t> stores all the results, including metrics, plots, and model outputs. These files provide visual evidence for model performance.</a:t>
            </a:r>
          </a:p>
          <a:p>
            <a:r>
              <a:rPr lang="en-US" altLang="zh-CN" dirty="0"/>
              <a:t>The </a:t>
            </a:r>
            <a:r>
              <a:rPr lang="en-US" altLang="zh-CN" b="1" dirty="0"/>
              <a:t>reports</a:t>
            </a:r>
            <a:r>
              <a:rPr lang="en-US" altLang="zh-CN" dirty="0"/>
              <a:t> folder contains readable Markdown summaries produced by the system. They are designed for instructors to review our work and verify reproducibility.</a:t>
            </a:r>
          </a:p>
          <a:p>
            <a:r>
              <a:rPr lang="en-US" altLang="zh-CN" dirty="0"/>
              <a:t>The </a:t>
            </a:r>
            <a:r>
              <a:rPr lang="en-US" altLang="zh-CN" b="1" dirty="0"/>
              <a:t>data</a:t>
            </a:r>
            <a:r>
              <a:rPr lang="en-US" altLang="zh-CN" dirty="0"/>
              <a:t> folder holds a sample dataset, ensuring the same input and output format for testing and demonstration.</a:t>
            </a:r>
          </a:p>
          <a:p>
            <a:r>
              <a:rPr lang="en-US" altLang="zh-CN" dirty="0"/>
              <a:t>Finally, the </a:t>
            </a:r>
            <a:r>
              <a:rPr lang="en-US" altLang="zh-CN" b="1" dirty="0" err="1"/>
              <a:t>entrypoint</a:t>
            </a:r>
            <a:r>
              <a:rPr lang="en-US" altLang="zh-CN" b="1" dirty="0"/>
              <a:t> scripts</a:t>
            </a:r>
            <a:r>
              <a:rPr lang="en-US" altLang="zh-CN" dirty="0"/>
              <a:t>, like </a:t>
            </a:r>
            <a:r>
              <a:rPr lang="en-US" altLang="zh-CN" i="1" dirty="0"/>
              <a:t>main.py</a:t>
            </a:r>
            <a:r>
              <a:rPr lang="en-US" altLang="zh-CN" dirty="0"/>
              <a:t> and </a:t>
            </a:r>
            <a:r>
              <a:rPr lang="en-US" altLang="zh-CN" i="1" dirty="0"/>
              <a:t>llm_insights.py</a:t>
            </a:r>
            <a:r>
              <a:rPr lang="en-US" altLang="zh-CN" dirty="0"/>
              <a:t>, make the entire project easy to rerun and reproduce with just one command.</a:t>
            </a:r>
          </a:p>
        </p:txBody>
      </p:sp>
      <p:sp>
        <p:nvSpPr>
          <p:cNvPr id="4" name="灯片编号占位符 3"/>
          <p:cNvSpPr>
            <a:spLocks noGrp="1"/>
          </p:cNvSpPr>
          <p:nvPr>
            <p:ph type="sldNum" sz="quarter" idx="5"/>
          </p:nvPr>
        </p:nvSpPr>
        <p:spPr/>
        <p:txBody>
          <a:bodyPr/>
          <a:lstStyle/>
          <a:p>
            <a:fld id="{ABBC829C-D09A-43DE-B9B9-5AEB4E9E12A8}" type="slidenum">
              <a:rPr lang="zh-CN" altLang="en-US" smtClean="0"/>
              <a:t>3</a:t>
            </a:fld>
            <a:endParaRPr lang="zh-CN" altLang="en-US"/>
          </a:p>
        </p:txBody>
      </p:sp>
    </p:spTree>
    <p:extLst>
      <p:ext uri="{BB962C8B-B14F-4D97-AF65-F5344CB8AC3E}">
        <p14:creationId xmlns:p14="http://schemas.microsoft.com/office/powerpoint/2010/main" val="3343203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8BBF-30C1-8284-9445-DB9500203B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CD1754-9DD6-38F1-EAB1-B9484FA7E6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12C1FC-ACE2-E1DA-7581-24A03DA21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Our dataset consists of historic loan records capturing borrower demographics, credit histories and loan characteristics.  From the outset our objectives were threefold: first to use regression to estimate the interest rate a borrower might receive; second to classify the credit grade assigned by lenders; and third to segment borrowers into similar groups through clustering.  To achieve these goals we assembled a reproducible pipeline that starts with exploratory data analysis, continues through feature engineering, modelling and evaluation, and culminates in automatically generated reports.  Understanding the raw data and the problem context provided a solid foundation for our modelling work.</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3FDEAC77-CA03-45B1-F9A5-DEA3F146DE50}"/>
              </a:ext>
            </a:extLst>
          </p:cNvPr>
          <p:cNvSpPr>
            <a:spLocks noGrp="1"/>
          </p:cNvSpPr>
          <p:nvPr>
            <p:ph type="sldNum" sz="quarter" idx="5"/>
          </p:nvPr>
        </p:nvSpPr>
        <p:spPr/>
        <p:txBody>
          <a:bodyPr/>
          <a:lstStyle/>
          <a:p>
            <a:fld id="{ABBC829C-D09A-43DE-B9B9-5AEB4E9E12A8}" type="slidenum">
              <a:rPr lang="zh-CN" altLang="en-US" smtClean="0"/>
              <a:t>4</a:t>
            </a:fld>
            <a:endParaRPr lang="zh-CN" altLang="en-US"/>
          </a:p>
        </p:txBody>
      </p:sp>
    </p:spTree>
    <p:extLst>
      <p:ext uri="{BB962C8B-B14F-4D97-AF65-F5344CB8AC3E}">
        <p14:creationId xmlns:p14="http://schemas.microsoft.com/office/powerpoint/2010/main" val="3094123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 structured our workflow into several discrete stages.  We began with exploratory data analysis to understand distributions, relationships and temporal trends in the data.  Based on those insights we engineered features: categorical variables were one‑hot encoded and continuous variables were </a:t>
            </a:r>
            <a:r>
              <a:rPr lang="en-US" altLang="zh-CN" sz="1200" kern="1200" dirty="0" err="1">
                <a:solidFill>
                  <a:schemeClr val="tx1"/>
                </a:solidFill>
                <a:effectLst/>
                <a:latin typeface="+mn-lt"/>
                <a:ea typeface="+mn-ea"/>
                <a:cs typeface="+mn-cs"/>
              </a:rPr>
              <a:t>normalised</a:t>
            </a:r>
            <a:r>
              <a:rPr lang="en-US" altLang="zh-CN" sz="1200" kern="1200" dirty="0">
                <a:solidFill>
                  <a:schemeClr val="tx1"/>
                </a:solidFill>
                <a:effectLst/>
                <a:latin typeface="+mn-lt"/>
                <a:ea typeface="+mn-ea"/>
                <a:cs typeface="+mn-cs"/>
              </a:rPr>
              <a:t>.  For the regression task we employed a histogram‑based gradient boosting model to predict interest rates.  A similar gradient boosting classifier was used to assign credit grades.  Finally, to explore unsupervised structure we applied k‑means clustering on a principal components representation.  Each stage feeds into the next, and the entire pipeline is automated for repeatability.</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5</a:t>
            </a:fld>
            <a:endParaRPr lang="zh-CN" altLang="en-US"/>
          </a:p>
        </p:txBody>
      </p:sp>
    </p:spTree>
    <p:extLst>
      <p:ext uri="{BB962C8B-B14F-4D97-AF65-F5344CB8AC3E}">
        <p14:creationId xmlns:p14="http://schemas.microsoft.com/office/powerpoint/2010/main" val="3520145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Let’s look at the regression results.  The histogram‑based gradient boosting regressor achieved a mean absolute error of roughly 0.73 and a root mean squared error of 1.15 on the validation set.  On the held‑out test set the MAE rises slightly to about 1.11 and the RMSE to 1.77.  </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Importantly, the coefficient of determination reaches 0.95 on validation and remains high at 0.90 on test.  The scatter plot of predicted versus true interest rates shows points lying close to the diagonal, confirming that the model captures the underlying relationship well.  These metrics indicate the approach provides accurate interest rate estimates for most borrowers.</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6</a:t>
            </a:fld>
            <a:endParaRPr lang="zh-CN" altLang="en-US"/>
          </a:p>
        </p:txBody>
      </p:sp>
    </p:spTree>
    <p:extLst>
      <p:ext uri="{BB962C8B-B14F-4D97-AF65-F5344CB8AC3E}">
        <p14:creationId xmlns:p14="http://schemas.microsoft.com/office/powerpoint/2010/main" val="2417236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To further assess our regressor we examined the residuals.  Residuals are the differences between predicted and true values; ideally they should be </a:t>
            </a:r>
            <a:r>
              <a:rPr lang="en-US" altLang="zh-CN" sz="1200" kern="1200" dirty="0" err="1">
                <a:solidFill>
                  <a:schemeClr val="tx1"/>
                </a:solidFill>
                <a:effectLst/>
                <a:latin typeface="+mn-lt"/>
                <a:ea typeface="+mn-ea"/>
                <a:cs typeface="+mn-cs"/>
              </a:rPr>
              <a:t>centred</a:t>
            </a:r>
            <a:r>
              <a:rPr lang="en-US" altLang="zh-CN" sz="1200" kern="1200" dirty="0">
                <a:solidFill>
                  <a:schemeClr val="tx1"/>
                </a:solidFill>
                <a:effectLst/>
                <a:latin typeface="+mn-lt"/>
                <a:ea typeface="+mn-ea"/>
                <a:cs typeface="+mn-cs"/>
              </a:rPr>
              <a:t> on zero with no discernible pattern.  In our case the residuals cluster tightly around zero and form an approximately symmetric distribution.  A few outliers exist, and there is a slight skew towards negative values, but the variance remains small overall.  The high R² values on both validation and test sets support the conclusion that our model fits the data well.  Nevertheless, exploring alternate models and tuning hyperparameters may help reduce those outliers and further tighten the residual distribution.</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7</a:t>
            </a:fld>
            <a:endParaRPr lang="zh-CN" altLang="en-US"/>
          </a:p>
        </p:txBody>
      </p:sp>
    </p:spTree>
    <p:extLst>
      <p:ext uri="{BB962C8B-B14F-4D97-AF65-F5344CB8AC3E}">
        <p14:creationId xmlns:p14="http://schemas.microsoft.com/office/powerpoint/2010/main" val="424932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Turning to classification, we trained a histogram‑based gradient boosting classifier to predict a borrower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credit grade.  The model achieves an accuracy of about 57 per cent and a macro F1 score around 0.38; the weighted F1 score improves to 0.55 because the class distribution is highly imbalanced.  The overall area under the ROC curve stands at roughly 0.85, indicating good discriminative power.  Examining the confusion matrix reveals that the model tends to confuse adjacent grades, especially B and C, which is understandable given subtle differences among intermediate risk categories.  Future work will address class imbalance to improve macro F1.</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8</a:t>
            </a:fld>
            <a:endParaRPr lang="zh-CN" altLang="en-US"/>
          </a:p>
        </p:txBody>
      </p:sp>
    </p:spTree>
    <p:extLst>
      <p:ext uri="{BB962C8B-B14F-4D97-AF65-F5344CB8AC3E}">
        <p14:creationId xmlns:p14="http://schemas.microsoft.com/office/powerpoint/2010/main" val="2370292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We also evaluated the classifier using ROC and precision‑recall curves.  The ROC curve yields an impressive AUC of 0.936, suggesting the model separates positive and negative classes very well.  We selected the classification threshold using Youden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J statistic to balance sensitivity and specificity, and considered precision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recall trade‑offs due to the imbalanced classes.  Beyond pure metrics, our analysis surfaced meaningful business insights: younger borrowers with lower incomes tend to default more frequently; larger loan amounts correlate with higher default risk; and borrowers with a history of late payments are significantly more likely to default.  These findings can guide underwriting policies and targeted interventions</a:t>
            </a:r>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9</a:t>
            </a:fld>
            <a:endParaRPr lang="zh-CN" altLang="en-US"/>
          </a:p>
        </p:txBody>
      </p:sp>
    </p:spTree>
    <p:extLst>
      <p:ext uri="{BB962C8B-B14F-4D97-AF65-F5344CB8AC3E}">
        <p14:creationId xmlns:p14="http://schemas.microsoft.com/office/powerpoint/2010/main" val="3164307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To uncover hidden segments we applied k‑means clustering after dimensionality reduction.  Plotting the silhouette score across different cluster counts shows a clear peak around k equals 2, suggesting two well‑separated groups.  Profiling these clusters reveals distinct characteristics.  The first group comprises borrowers seeking smaller loans around thirteen thousand dollars, earning moderate incomes near seventy thousand and having roughly twenty total credit accounts.  The second cluster contains borrowers with larger loans around eighteen thousand dollars, higher incomes near ninety thousand and about thirty‑five total accounts.  Segmenting the population in this way allows lenders to tailor risk assessments and product offerings to each group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profile.</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10</a:t>
            </a:fld>
            <a:endParaRPr lang="zh-CN" altLang="en-US"/>
          </a:p>
        </p:txBody>
      </p:sp>
    </p:spTree>
    <p:extLst>
      <p:ext uri="{BB962C8B-B14F-4D97-AF65-F5344CB8AC3E}">
        <p14:creationId xmlns:p14="http://schemas.microsoft.com/office/powerpoint/2010/main" val="548224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latin typeface="Arial" panose="020B0604020202020204" pitchFamily="34" charset="0"/>
              </a:rPr>
              <a:t>Based on the analysis results of the dataset, we will be able to comprehensively derive relevant reference data for user financial risk analysis. To better provide decision-makers with visually strong data analysis services, we have developed an online user risk analysis dashboard, which quickly identifies low-risk users and focuses on potential risks based on the latest user risk assessment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11</a:t>
            </a:fld>
            <a:endParaRPr lang="zh-CN" altLang="en-US"/>
          </a:p>
        </p:txBody>
      </p:sp>
    </p:spTree>
    <p:extLst>
      <p:ext uri="{BB962C8B-B14F-4D97-AF65-F5344CB8AC3E}">
        <p14:creationId xmlns:p14="http://schemas.microsoft.com/office/powerpoint/2010/main" val="2306808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Beyond traditional scripting, we experimented with LangGraph to automate the modelling and reporting process.  In our agent workflow the planner node determines which tasks need to run—data cleaning, training, evaluation, </a:t>
            </a:r>
            <a:r>
              <a:rPr lang="en-US" altLang="zh-CN" sz="1200" kern="1200" dirty="0" err="1">
                <a:solidFill>
                  <a:schemeClr val="tx1"/>
                </a:solidFill>
                <a:effectLst/>
                <a:latin typeface="+mn-lt"/>
                <a:ea typeface="+mn-ea"/>
                <a:cs typeface="+mn-cs"/>
              </a:rPr>
              <a:t>visualisation</a:t>
            </a:r>
            <a:r>
              <a:rPr lang="en-US" altLang="zh-CN" sz="1200" kern="1200" dirty="0">
                <a:solidFill>
                  <a:schemeClr val="tx1"/>
                </a:solidFill>
                <a:effectLst/>
                <a:latin typeface="+mn-lt"/>
                <a:ea typeface="+mn-ea"/>
                <a:cs typeface="+mn-cs"/>
              </a:rPr>
              <a:t> and report generation.  The executor then trains the appropriate model and returns metrics and artefacts.  Next, the </a:t>
            </a:r>
            <a:r>
              <a:rPr lang="en-US" altLang="zh-CN" sz="1200" kern="1200" dirty="0" err="1">
                <a:solidFill>
                  <a:schemeClr val="tx1"/>
                </a:solidFill>
                <a:effectLst/>
                <a:latin typeface="+mn-lt"/>
                <a:ea typeface="+mn-ea"/>
                <a:cs typeface="+mn-cs"/>
              </a:rPr>
              <a:t>visualiser</a:t>
            </a:r>
            <a:r>
              <a:rPr lang="en-US" altLang="zh-CN" sz="1200" kern="1200" dirty="0">
                <a:solidFill>
                  <a:schemeClr val="tx1"/>
                </a:solidFill>
                <a:effectLst/>
                <a:latin typeface="+mn-lt"/>
                <a:ea typeface="+mn-ea"/>
                <a:cs typeface="+mn-cs"/>
              </a:rPr>
              <a:t> produces plots such as ROC curves and confusion matrices for inclusion in the report.  Finally, the reporter compiles a Markdown report and can optionally call a language model to append high‑level insights.  This modular pipeline promotes reproducibility and frees us from manual bookkeeping.</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12</a:t>
            </a:fld>
            <a:endParaRPr lang="zh-CN" altLang="en-US"/>
          </a:p>
        </p:txBody>
      </p:sp>
    </p:spTree>
    <p:extLst>
      <p:ext uri="{BB962C8B-B14F-4D97-AF65-F5344CB8AC3E}">
        <p14:creationId xmlns:p14="http://schemas.microsoft.com/office/powerpoint/2010/main" val="1475289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Our progress reflects coordinated teamwork.</a:t>
            </a:r>
            <a:br>
              <a:rPr lang="en-US" altLang="zh-CN" dirty="0"/>
            </a:br>
            <a:r>
              <a:rPr lang="en-US" altLang="zh-CN" b="1" dirty="0"/>
              <a:t>Xu </a:t>
            </a:r>
            <a:r>
              <a:rPr lang="en-US" altLang="zh-CN" b="1" dirty="0" err="1"/>
              <a:t>Shuangbo</a:t>
            </a:r>
            <a:r>
              <a:rPr lang="en-US" altLang="zh-CN" dirty="0"/>
              <a:t> made the main development, including data exploration, model design, and report writing, while also drafting most of the presentation content.</a:t>
            </a:r>
            <a:br>
              <a:rPr lang="en-US" altLang="zh-CN" dirty="0"/>
            </a:br>
            <a:r>
              <a:rPr lang="en-US" altLang="zh-CN" b="1" dirty="0"/>
              <a:t>Li </a:t>
            </a:r>
            <a:r>
              <a:rPr lang="en-US" altLang="zh-CN" b="1" dirty="0" err="1"/>
              <a:t>Shangze</a:t>
            </a:r>
            <a:r>
              <a:rPr lang="en-US" altLang="zh-CN" dirty="0"/>
              <a:t> supported the project through dataset </a:t>
            </a:r>
            <a:r>
              <a:rPr lang="en-US" altLang="zh-CN" dirty="0" err="1"/>
              <a:t>organisation</a:t>
            </a:r>
            <a:r>
              <a:rPr lang="en-US" altLang="zh-CN" dirty="0"/>
              <a:t>, literature review, and feedback on model choices and slide design.</a:t>
            </a:r>
            <a:br>
              <a:rPr lang="en-US" altLang="zh-CN" dirty="0"/>
            </a:br>
            <a:r>
              <a:rPr lang="en-US" altLang="zh-CN" dirty="0"/>
              <a:t>Roughly eighty per cent of the work was handled by Xu </a:t>
            </a:r>
            <a:r>
              <a:rPr lang="en-US" altLang="zh-CN" dirty="0" err="1"/>
              <a:t>Shuangbo</a:t>
            </a:r>
            <a:r>
              <a:rPr lang="en-US" altLang="zh-CN" dirty="0"/>
              <a:t> and twenty per cent by the teammate.</a:t>
            </a:r>
          </a:p>
          <a:p>
            <a:r>
              <a:rPr lang="en-US" altLang="zh-CN" dirty="0"/>
              <a:t>By this checkpoint, we have completed the exploratory analysis, feature engineering, and baseline models, achieving an R² around 0.95 and an AUC of 0.936.</a:t>
            </a:r>
            <a:br>
              <a:rPr lang="en-US" altLang="zh-CN" dirty="0"/>
            </a:br>
            <a:r>
              <a:rPr lang="en-US" altLang="zh-CN" dirty="0"/>
              <a:t>We also integrated the </a:t>
            </a:r>
            <a:r>
              <a:rPr lang="en-US" altLang="zh-CN" dirty="0" err="1"/>
              <a:t>LangGraph</a:t>
            </a:r>
            <a:r>
              <a:rPr lang="en-US" altLang="zh-CN" dirty="0"/>
              <a:t> workflow to automate the process from training to reporting and learned the importance of careful data cleaning and balanced evaluation.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13</a:t>
            </a:fld>
            <a:endParaRPr lang="zh-CN" altLang="en-US"/>
          </a:p>
        </p:txBody>
      </p:sp>
    </p:spTree>
    <p:extLst>
      <p:ext uri="{BB962C8B-B14F-4D97-AF65-F5344CB8AC3E}">
        <p14:creationId xmlns:p14="http://schemas.microsoft.com/office/powerpoint/2010/main" val="1715845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summary, we have established a reproducible pipeline that moves from exploratory analysis to automated report generation.  Our regression model delivers highly accurate interest rate predictions, while our classifier shows promise with a strong AUC, though macro F1 could be improved.  Clustering analysis uncovered two distinct borrower segments, enabling more nuanced risk strategies.  Integrating the LangGraph agent workflow has streamlined the process and improved reproducibility.  In the coming weeks we will tune our models, enhance interpretability and prepare our final deliverables.  Thank you for your attention, and we look forward to sharing our final results soon.</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Q&amp;A / Backup</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That concludes the prepared material.  Here we have a summary table of the classification metrics for quick reference.  Please feel free to ask any questions you have about our models, the metrics we reported, the clustering analysis or the agent workflow.  We are happy to discuss our methodology, dive deeper into specific results or elaborate on the business insights drawn from the analysis.  Your feedback will be invaluable as we refine our approach for the final submission.</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14</a:t>
            </a:fld>
            <a:endParaRPr lang="zh-CN" altLang="en-US"/>
          </a:p>
        </p:txBody>
      </p:sp>
    </p:spTree>
    <p:extLst>
      <p:ext uri="{BB962C8B-B14F-4D97-AF65-F5344CB8AC3E}">
        <p14:creationId xmlns:p14="http://schemas.microsoft.com/office/powerpoint/2010/main" val="15909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469C7-7593-DBF3-F3A0-023A3CB8ED6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329B886-E660-6FAD-A0FC-98AF891FC4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BDB5B7-B935-0F2A-CE46-495AAA569C1C}"/>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617C78D9-3A5A-519D-BF6E-0BE2063AF4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B7D860-92EE-81C6-CDD9-CF389F55DC7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01316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1CE663-DF40-994E-CBF7-3AB60F1C4D8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058717-6128-F9BD-7F9B-90B66360D73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0510E3-29C7-8C23-09BB-CDC91CC1E05F}"/>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6857CA7B-427C-A91C-1C02-BC31E75258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BF562D-2822-B847-6BF4-FE07588F02AD}"/>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68930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7465E-4834-9AB2-6F1A-E1A874CE44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A5A437B-9280-91E2-C003-8B49E5596C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BADEC1-AEA3-2ED6-5749-84E5DB17EFB1}"/>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D2086BC6-1EEF-87AD-03FB-5B8922825C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AAEAE8-351E-C1AD-9B8F-1DA203D4751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14845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84F41-996C-D8A9-B280-AAA020D86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BB2D23-F343-7EDD-540E-7680CC3EEA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6BACA9-6126-3D51-CFCC-D9D014D0C48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062266-4BA2-29D5-C38A-AAB801CA9A72}"/>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70DBFB8B-04E7-042B-B0D7-579A793131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6647E4-C096-E185-5D91-DEBACF73D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18871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55991-98BE-4450-0DE7-FD4D18B86A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D5388D-455B-DE9A-18D8-C29FFEE50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512DFB-BE1E-EB0C-361C-37CE47B3DDF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1CA5785-5569-B7F9-F2AA-C702CC103A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4ADB32-FDDB-7D15-F6B6-86405265732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9DE6DBC-2A3A-D2FD-BB49-A692BB7315D9}"/>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8" name="页脚占位符 7">
            <a:extLst>
              <a:ext uri="{FF2B5EF4-FFF2-40B4-BE49-F238E27FC236}">
                <a16:creationId xmlns:a16="http://schemas.microsoft.com/office/drawing/2014/main" id="{385956D9-A43E-3B8F-8A52-F632956DEDA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C70CD5C-A7CB-4AA0-E1D4-9FE32363C69A}"/>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469496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F861E-AD45-21E4-60B5-86A9F225135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006E9A-A69C-8100-E3E0-96E7294036F1}"/>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4" name="页脚占位符 3">
            <a:extLst>
              <a:ext uri="{FF2B5EF4-FFF2-40B4-BE49-F238E27FC236}">
                <a16:creationId xmlns:a16="http://schemas.microsoft.com/office/drawing/2014/main" id="{A67C4B2D-5549-7EA3-EE86-E0545B9F89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918D20D-1404-758A-557C-9614345D7D42}"/>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66774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F81AAF-509F-C434-FB98-B9154D60B3D2}"/>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3" name="页脚占位符 2">
            <a:extLst>
              <a:ext uri="{FF2B5EF4-FFF2-40B4-BE49-F238E27FC236}">
                <a16:creationId xmlns:a16="http://schemas.microsoft.com/office/drawing/2014/main" id="{D01AF0D6-991E-0CA4-05E0-F632F765F8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CF8AF06-87B6-1650-D3EF-3F8C9D8C17EC}"/>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81529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34748-88FD-96F4-C7E1-856F24AB7B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0503071-7180-F55A-389B-5647025ED4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F1A52E-5A79-68C4-3082-3ABDEECFC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A2CCD1-585C-1960-3017-6B690E76FB6E}"/>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47A127A7-78A9-B786-1035-C248A08FBE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517844-BD11-D75D-C185-5B3E6704504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812762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90A90-3F89-A470-5324-9E18216DC3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852F391-E543-DF09-7E59-C5F32891D7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DFD44A-9F83-4D02-0683-A8C41AF9C2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42E759-B849-5E91-DD6C-FE55E622C484}"/>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C57D36E4-4813-948F-5244-C93B8238EFA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5E5534-2187-EE89-B7A8-23C4F1DD85B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742371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6C91A-66FF-4353-2404-87CB0776A0F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25D544-0A2B-DC7B-09D9-D4D595EBE2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2812B2-A70E-CA4F-91F7-4EE6A9725124}"/>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8AE77F0C-C982-B34B-582C-CD4303C2F0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653264-91F1-8FE5-BF5B-AEE16862E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66512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28A163-563B-A9AF-1FED-4F4E1CDF2B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B03BB3E-7603-A8AB-AF31-3E8656EBB0B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D9204F-38A8-0E06-F2A6-E60D15019C2D}"/>
              </a:ext>
            </a:extLst>
          </p:cNvPr>
          <p:cNvSpPr>
            <a:spLocks noGrp="1"/>
          </p:cNvSpPr>
          <p:nvPr>
            <p:ph type="dt" sz="half" idx="10"/>
          </p:nvPr>
        </p:nvSpPr>
        <p:spPr/>
        <p:txBody>
          <a:body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8BF26585-28AE-4873-7840-0F9EAD7804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2E60EF-4907-BF74-9280-C93C8873546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57529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445379-CD7C-0731-BAD3-EDDA9DA96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03CE6BE-32CD-7735-A7CE-78934C50EA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F49D5D-FE9D-2F59-3317-DEEAA059A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A53DC-87C5-4BEF-A2BB-A0A5F6D86BC2}"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05D07B80-27FE-6402-30C5-627AC0E491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2E3DC9-A62D-5E14-B340-EF8C4C4FB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565398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3.xml"/><Relationship Id="rId5" Type="http://schemas.openxmlformats.org/officeDocument/2006/relationships/slide" Target="slide7.xml"/><Relationship Id="rId10" Type="http://schemas.openxmlformats.org/officeDocument/2006/relationships/slide" Target="slide12.xml"/><Relationship Id="rId4" Type="http://schemas.openxmlformats.org/officeDocument/2006/relationships/slide" Target="slide5.xml"/><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BB05261-FB93-5C9D-5A84-1194480C1544}"/>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200311" cy="6858000"/>
          </a:xfrm>
          <a:prstGeom prst="rect">
            <a:avLst/>
          </a:prstGeom>
        </p:spPr>
      </p:pic>
      <p:sp>
        <p:nvSpPr>
          <p:cNvPr id="2" name="标题 1">
            <a:extLst>
              <a:ext uri="{FF2B5EF4-FFF2-40B4-BE49-F238E27FC236}">
                <a16:creationId xmlns:a16="http://schemas.microsoft.com/office/drawing/2014/main" id="{FEDE2102-AC69-4704-18AF-78634A564F5D}"/>
              </a:ext>
            </a:extLst>
          </p:cNvPr>
          <p:cNvSpPr>
            <a:spLocks noGrp="1"/>
          </p:cNvSpPr>
          <p:nvPr>
            <p:ph type="ctrTitle"/>
          </p:nvPr>
        </p:nvSpPr>
        <p:spPr/>
        <p:txBody>
          <a:bodyPr/>
          <a:lstStyle/>
          <a:p>
            <a:r>
              <a:rPr lang="en-US" altLang="zh-CN" dirty="0">
                <a:latin typeface="Times New Roman" panose="02020603050405020304" pitchFamily="18" charset="0"/>
                <a:cs typeface="Times New Roman" panose="02020603050405020304" pitchFamily="18" charset="0"/>
              </a:rPr>
              <a:t>Financial Guardian: Financial Risk Prediction</a:t>
            </a:r>
            <a:endParaRPr lang="zh-CN" altLang="en-US"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46AC0701-B425-EB04-DCF3-F94C72EBC0B8}"/>
              </a:ext>
            </a:extLst>
          </p:cNvPr>
          <p:cNvSpPr>
            <a:spLocks noGrp="1"/>
          </p:cNvSpPr>
          <p:nvPr>
            <p:ph type="subTitle" idx="1"/>
          </p:nvPr>
        </p:nvSpPr>
        <p:spPr>
          <a:xfrm>
            <a:off x="1524000" y="444317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李尚泽</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-1120242314</a:t>
            </a: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许双博</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-1120243389</a:t>
            </a:r>
          </a:p>
          <a:p>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2E4EDFC-78AA-73B8-AE53-71B3522551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91B2480-5CA5-7264-0E33-FCCCA79925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30719" y="-197885"/>
            <a:ext cx="1961281" cy="1961281"/>
          </a:xfrm>
          <a:prstGeom prst="rect">
            <a:avLst/>
          </a:prstGeom>
        </p:spPr>
      </p:pic>
      <p:sp>
        <p:nvSpPr>
          <p:cNvPr id="5" name="标题 1">
            <a:extLst>
              <a:ext uri="{FF2B5EF4-FFF2-40B4-BE49-F238E27FC236}">
                <a16:creationId xmlns:a16="http://schemas.microsoft.com/office/drawing/2014/main" id="{2C91FE3B-BE0B-6F0F-02E7-5F1A79A9E40C}"/>
              </a:ext>
            </a:extLst>
          </p:cNvPr>
          <p:cNvSpPr txBox="1">
            <a:spLocks/>
          </p:cNvSpPr>
          <p:nvPr/>
        </p:nvSpPr>
        <p:spPr>
          <a:xfrm>
            <a:off x="3000030" y="16684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dirty="0">
                <a:latin typeface="Times New Roman" panose="02020603050405020304" pitchFamily="18" charset="0"/>
                <a:cs typeface="Times New Roman" panose="02020603050405020304" pitchFamily="18" charset="0"/>
              </a:rPr>
              <a:t>——Final Project Report· 2025–2026 Autumn Semester</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6182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47EAAD89-1AED-5DFB-411A-0A1CBC1995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2620DE5-5E36-59D7-B151-B6210B8CE6C2}"/>
              </a:ext>
            </a:extLst>
          </p:cNvPr>
          <p:cNvSpPr txBox="1"/>
          <p:nvPr/>
        </p:nvSpPr>
        <p:spPr>
          <a:xfrm>
            <a:off x="9321800" y="6359979"/>
            <a:ext cx="2208893" cy="369332"/>
          </a:xfrm>
          <a:prstGeom prst="rect">
            <a:avLst/>
          </a:prstGeom>
          <a:noFill/>
        </p:spPr>
        <p:txBody>
          <a:bodyPr wrap="square" rtlCol="0">
            <a:spAutoFit/>
          </a:bodyPr>
          <a:lstStyle/>
          <a:p>
            <a:r>
              <a:rPr lang="en-US" altLang="zh-CN" dirty="0">
                <a:latin typeface="+mn-ea"/>
                <a:cs typeface="Times New Roman" panose="02020603050405020304" pitchFamily="18" charset="0"/>
              </a:rPr>
              <a:t>Final Project Report</a:t>
            </a:r>
            <a:endParaRPr lang="zh-CN" altLang="en-US" dirty="0">
              <a:latin typeface="+mn-ea"/>
            </a:endParaRPr>
          </a:p>
        </p:txBody>
      </p:sp>
      <p:sp>
        <p:nvSpPr>
          <p:cNvPr id="5" name="矩形: 圆顶角 4">
            <a:extLst>
              <a:ext uri="{FF2B5EF4-FFF2-40B4-BE49-F238E27FC236}">
                <a16:creationId xmlns:a16="http://schemas.microsoft.com/office/drawing/2014/main" id="{A0A1718B-B00A-5572-3F9B-CCFDFB9EF82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4CF5D88-CD54-A62E-FF50-034DEAFA477F}"/>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Agenda</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8F693D7F-7FE6-2158-0950-610CE8F75D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0</a:t>
            </a:r>
            <a:endParaRPr lang="zh-CN" altLang="en-US" b="1" dirty="0"/>
          </a:p>
        </p:txBody>
      </p:sp>
      <p:sp>
        <p:nvSpPr>
          <p:cNvPr id="4" name="Rounded Rectangle 1">
            <a:extLst>
              <a:ext uri="{FF2B5EF4-FFF2-40B4-BE49-F238E27FC236}">
                <a16:creationId xmlns:a16="http://schemas.microsoft.com/office/drawing/2014/main" id="{A780DC84-B58D-7CD7-EFC2-78C100B2441B}"/>
              </a:ext>
            </a:extLst>
          </p:cNvPr>
          <p:cNvSpPr/>
          <p:nvPr/>
        </p:nvSpPr>
        <p:spPr>
          <a:xfrm>
            <a:off x="1193772" y="813657"/>
            <a:ext cx="4135176" cy="1255525"/>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4000" b="1" dirty="0">
                <a:ln w="22225">
                  <a:solidFill>
                    <a:schemeClr val="accent2"/>
                  </a:solidFill>
                  <a:prstDash val="solid"/>
                </a:ln>
                <a:solidFill>
                  <a:schemeClr val="accent2">
                    <a:lumMod val="40000"/>
                    <a:lumOff val="60000"/>
                  </a:schemeClr>
                </a:solidFill>
              </a:rPr>
              <a:t>1. INTRO</a:t>
            </a:r>
            <a:endParaRPr lang="en-US" altLang="zh-CN" sz="4000" dirty="0"/>
          </a:p>
          <a:p>
            <a:pPr marR="0" lvl="0" algn="ctr" defTabSz="914400" rtl="0" eaLnBrk="1" fontAlgn="auto" latinLnBrk="0" hangingPunct="1">
              <a:lnSpc>
                <a:spcPct val="150000"/>
              </a:lnSpc>
              <a:spcBef>
                <a:spcPts val="0"/>
              </a:spcBef>
              <a:spcAft>
                <a:spcPts val="0"/>
              </a:spcAft>
              <a:buClrTx/>
              <a:buSzTx/>
              <a:tabLst/>
              <a:defRPr/>
            </a:pP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Project overview</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Rounded Rectangle 1">
            <a:extLst>
              <a:ext uri="{FF2B5EF4-FFF2-40B4-BE49-F238E27FC236}">
                <a16:creationId xmlns:a16="http://schemas.microsoft.com/office/drawing/2014/main" id="{4C57F486-9257-3942-3E24-DFA63E8DC6CF}"/>
              </a:ext>
            </a:extLst>
          </p:cNvPr>
          <p:cNvSpPr/>
          <p:nvPr/>
        </p:nvSpPr>
        <p:spPr>
          <a:xfrm>
            <a:off x="1160026" y="2298746"/>
            <a:ext cx="4168922" cy="1421855"/>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4000" b="1" dirty="0">
                <a:ln w="22225">
                  <a:solidFill>
                    <a:schemeClr val="accent2"/>
                  </a:solidFill>
                  <a:prstDash val="solid"/>
                </a:ln>
                <a:solidFill>
                  <a:schemeClr val="accent2">
                    <a:lumMod val="40000"/>
                    <a:lumOff val="60000"/>
                  </a:schemeClr>
                </a:solidFill>
              </a:rPr>
              <a:t>2. METHODS</a:t>
            </a:r>
          </a:p>
          <a:p>
            <a:pPr algn="ctr">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Methodology &amp; pipeline</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9" name="Rounded Rectangle 1">
            <a:extLst>
              <a:ext uri="{FF2B5EF4-FFF2-40B4-BE49-F238E27FC236}">
                <a16:creationId xmlns:a16="http://schemas.microsoft.com/office/drawing/2014/main" id="{FF9E2BAA-309A-E37A-D7BB-99FD0FF400C6}"/>
              </a:ext>
            </a:extLst>
          </p:cNvPr>
          <p:cNvSpPr/>
          <p:nvPr/>
        </p:nvSpPr>
        <p:spPr>
          <a:xfrm>
            <a:off x="254000" y="3950166"/>
            <a:ext cx="6014720" cy="2020121"/>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b="1" dirty="0">
                <a:ln w="22225">
                  <a:solidFill>
                    <a:schemeClr val="accent2"/>
                  </a:solidFill>
                  <a:prstDash val="solid"/>
                </a:ln>
                <a:solidFill>
                  <a:schemeClr val="accent2">
                    <a:lumMod val="40000"/>
                    <a:lumOff val="60000"/>
                  </a:schemeClr>
                </a:solidFill>
              </a:rPr>
              <a:t>3. ANALYSES</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endParaRPr>
          </a:p>
          <a:p>
            <a:pPr algn="ctr">
              <a:lnSpc>
                <a:spcPct val="150000"/>
              </a:lnSpc>
              <a:defRPr/>
            </a:pPr>
            <a:r>
              <a:rPr lang="en-US" altLang="zh-CN" sz="2400" dirty="0">
                <a:solidFill>
                  <a:schemeClr val="tx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Regression analysis</a:t>
            </a:r>
            <a:r>
              <a:rPr lang="en-US" altLang="zh-CN" sz="2400" dirty="0">
                <a:solidFill>
                  <a:schemeClr val="tx1"/>
                </a:solidFill>
                <a:latin typeface="Times New Roman" panose="02020603050405020304" pitchFamily="18" charset="0"/>
                <a:cs typeface="Times New Roman" panose="02020603050405020304" pitchFamily="18" charset="0"/>
              </a:rPr>
              <a:t>	</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7" action="ppaction://hlinksldjump">
                  <a:extLst>
                    <a:ext uri="{A12FA001-AC4F-418D-AE19-62706E023703}">
                      <ahyp:hlinkClr xmlns:ahyp="http://schemas.microsoft.com/office/drawing/2018/hyperlinkcolor" val="tx"/>
                    </a:ext>
                  </a:extLst>
                </a:hlinkClick>
              </a:rPr>
              <a:t>Classification analysis</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R="0" lvl="0" algn="ctr" defTabSz="914400" rtl="0" eaLnBrk="1" fontAlgn="auto" latinLnBrk="0" hangingPunct="1">
              <a:lnSpc>
                <a:spcPct val="150000"/>
              </a:lnSpc>
              <a:spcBef>
                <a:spcPts val="0"/>
              </a:spcBef>
              <a:spcAft>
                <a:spcPts val="0"/>
              </a:spcAft>
              <a:buClrTx/>
              <a:buSzTx/>
              <a:tabLst/>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8" action="ppaction://hlinksldjump">
                  <a:extLst>
                    <a:ext uri="{A12FA001-AC4F-418D-AE19-62706E023703}">
                      <ahyp:hlinkClr xmlns:ahyp="http://schemas.microsoft.com/office/drawing/2018/hyperlinkcolor" val="tx"/>
                    </a:ext>
                  </a:extLst>
                </a:hlinkClick>
              </a:rPr>
              <a:t>Clustering analysis</a:t>
            </a: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hlinkClick r:id="rId9" action="ppaction://hlinksldjump">
                  <a:extLst>
                    <a:ext uri="{A12FA001-AC4F-418D-AE19-62706E023703}">
                      <ahyp:hlinkClr xmlns:ahyp="http://schemas.microsoft.com/office/drawing/2018/hyperlinkcolor" val="tx"/>
                    </a:ext>
                  </a:extLst>
                </a:hlinkClick>
              </a:rPr>
              <a:t>Risk analysis</a:t>
            </a:r>
            <a:endPar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1" name="Rounded Rectangle 1">
            <a:extLst>
              <a:ext uri="{FF2B5EF4-FFF2-40B4-BE49-F238E27FC236}">
                <a16:creationId xmlns:a16="http://schemas.microsoft.com/office/drawing/2014/main" id="{DD49B599-5073-4891-AEBC-EA8A95ED7F1F}"/>
              </a:ext>
            </a:extLst>
          </p:cNvPr>
          <p:cNvSpPr/>
          <p:nvPr/>
        </p:nvSpPr>
        <p:spPr>
          <a:xfrm>
            <a:off x="6739161" y="741894"/>
            <a:ext cx="4411908" cy="1327288"/>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600" b="1" dirty="0">
                <a:ln w="22225">
                  <a:solidFill>
                    <a:schemeClr val="accent2"/>
                  </a:solidFill>
                  <a:prstDash val="solid"/>
                </a:ln>
                <a:solidFill>
                  <a:schemeClr val="accent2">
                    <a:lumMod val="40000"/>
                    <a:lumOff val="60000"/>
                  </a:schemeClr>
                </a:solidFill>
              </a:rPr>
              <a:t>4. AUTOMATION</a:t>
            </a:r>
          </a:p>
          <a:p>
            <a:pPr marR="0" lvl="0" algn="ctr" defTabSz="914400" rtl="0" eaLnBrk="1" fontAlgn="auto" latinLnBrk="0" hangingPunct="1">
              <a:lnSpc>
                <a:spcPct val="150000"/>
              </a:lnSpc>
              <a:spcBef>
                <a:spcPts val="0"/>
              </a:spcBef>
              <a:spcAft>
                <a:spcPts val="0"/>
              </a:spcAft>
              <a:buClrTx/>
              <a:buSzTx/>
              <a:tabLst/>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Agent workflow (</a:t>
            </a:r>
            <a:r>
              <a:rPr kumimoji="0" lang="en-US" altLang="zh-CN" sz="2400" b="0" i="0" u="none" strike="noStrike" kern="1200" cap="none" spc="0" normalizeH="0" baseline="0" noProof="0" dirty="0" err="1">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LangGraph</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2" name="Rounded Rectangle 1">
            <a:extLst>
              <a:ext uri="{FF2B5EF4-FFF2-40B4-BE49-F238E27FC236}">
                <a16:creationId xmlns:a16="http://schemas.microsoft.com/office/drawing/2014/main" id="{FE2316BA-A1C4-55B0-0706-80829C08B31B}"/>
              </a:ext>
            </a:extLst>
          </p:cNvPr>
          <p:cNvSpPr/>
          <p:nvPr/>
        </p:nvSpPr>
        <p:spPr>
          <a:xfrm>
            <a:off x="6739161" y="2356838"/>
            <a:ext cx="4411908" cy="1327289"/>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600" b="1" dirty="0">
                <a:ln w="22225">
                  <a:solidFill>
                    <a:schemeClr val="accent2"/>
                  </a:solidFill>
                  <a:prstDash val="solid"/>
                </a:ln>
                <a:solidFill>
                  <a:schemeClr val="accent2">
                    <a:lumMod val="40000"/>
                    <a:lumOff val="60000"/>
                  </a:schemeClr>
                </a:solidFill>
              </a:rPr>
              <a:t>5. PROGRESS</a:t>
            </a:r>
          </a:p>
          <a:p>
            <a:pPr algn="ctr">
              <a:lnSpc>
                <a:spcPct val="150000"/>
              </a:lnSpc>
              <a:defRPr/>
            </a:pPr>
            <a:r>
              <a:rPr lang="en-US" altLang="zh-CN" sz="2400" dirty="0">
                <a:solidFill>
                  <a:schemeClr val="tx1"/>
                </a:solidFill>
                <a:latin typeface="Times New Roman" panose="02020603050405020304" pitchFamily="18" charset="0"/>
                <a:cs typeface="Times New Roman" panose="02020603050405020304" pitchFamily="18" charset="0"/>
                <a:hlinkClick r:id="rId11" action="ppaction://hlinksldjump">
                  <a:extLst>
                    <a:ext uri="{A12FA001-AC4F-418D-AE19-62706E023703}">
                      <ahyp:hlinkClr xmlns:ahyp="http://schemas.microsoft.com/office/drawing/2018/hyperlinkcolor" val="tx"/>
                    </a:ext>
                  </a:extLst>
                </a:hlinkClick>
              </a:rPr>
              <a:t>Roles &amp; progress</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14" name="Rounded Rectangle 1">
            <a:extLst>
              <a:ext uri="{FF2B5EF4-FFF2-40B4-BE49-F238E27FC236}">
                <a16:creationId xmlns:a16="http://schemas.microsoft.com/office/drawing/2014/main" id="{84E78FE3-EB5B-9997-1429-FF312C57BEC9}"/>
              </a:ext>
            </a:extLst>
          </p:cNvPr>
          <p:cNvSpPr/>
          <p:nvPr/>
        </p:nvSpPr>
        <p:spPr>
          <a:xfrm>
            <a:off x="6562497" y="4326265"/>
            <a:ext cx="4765236" cy="1327288"/>
          </a:xfrm>
          <a:prstGeom prst="roundRect">
            <a:avLst/>
          </a:prstGeom>
          <a:ln w="76200"/>
        </p:spPr>
        <p:style>
          <a:lnRef idx="2">
            <a:schemeClr val="accent2"/>
          </a:lnRef>
          <a:fillRef idx="1">
            <a:schemeClr val="lt1"/>
          </a:fillRef>
          <a:effectRef idx="0">
            <a:schemeClr val="accent2"/>
          </a:effectRef>
          <a:fontRef idx="minor">
            <a:schemeClr val="dk1"/>
          </a:fontRef>
        </p:style>
        <p:txBody>
          <a:bodyPr rtlCol="0" anchor="ctr"/>
          <a:lstStyle/>
          <a:p>
            <a:pPr algn="ctr">
              <a:defRPr sz="4400" b="1">
                <a:solidFill>
                  <a:srgbClr val="0059B3"/>
                </a:solidFill>
                <a:latin typeface="Arial"/>
              </a:defRPr>
            </a:pPr>
            <a:r>
              <a:rPr lang="en-US" altLang="zh-CN" sz="3400" b="1" dirty="0">
                <a:ln w="22225">
                  <a:solidFill>
                    <a:schemeClr val="accent2"/>
                  </a:solidFill>
                  <a:prstDash val="solid"/>
                </a:ln>
                <a:solidFill>
                  <a:schemeClr val="accent2">
                    <a:lumMod val="40000"/>
                    <a:lumOff val="60000"/>
                  </a:schemeClr>
                </a:solidFill>
              </a:rPr>
              <a:t>6. </a:t>
            </a:r>
            <a:r>
              <a:rPr lang="en-US" altLang="zh-CN" sz="3200" b="1" dirty="0">
                <a:ln w="22225">
                  <a:solidFill>
                    <a:schemeClr val="accent2"/>
                  </a:solidFill>
                  <a:prstDash val="solid"/>
                </a:ln>
                <a:solidFill>
                  <a:schemeClr val="accent2">
                    <a:lumMod val="40000"/>
                    <a:lumOff val="60000"/>
                  </a:schemeClr>
                </a:solidFill>
              </a:rPr>
              <a:t>TEAM</a:t>
            </a:r>
            <a:r>
              <a:rPr lang="en-US" altLang="zh-CN" sz="3400" b="1" dirty="0">
                <a:ln w="22225">
                  <a:solidFill>
                    <a:schemeClr val="accent2"/>
                  </a:solidFill>
                  <a:prstDash val="solid"/>
                </a:ln>
                <a:solidFill>
                  <a:schemeClr val="accent2">
                    <a:lumMod val="40000"/>
                    <a:lumOff val="60000"/>
                  </a:schemeClr>
                </a:solidFill>
              </a:rPr>
              <a:t>&amp;SUMMARY</a:t>
            </a:r>
          </a:p>
          <a:p>
            <a:pPr algn="ctr">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hlinkClick r:id="rId12" action="ppaction://hlinksldjump">
                  <a:extLst>
                    <a:ext uri="{A12FA001-AC4F-418D-AE19-62706E023703}">
                      <ahyp:hlinkClr xmlns:ahyp="http://schemas.microsoft.com/office/drawing/2018/hyperlinkcolor" val="tx"/>
                    </a:ext>
                  </a:extLst>
                </a:hlinkClick>
              </a:rPr>
              <a:t>Summary</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19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F72420F6-1A44-2F35-298C-4A88B8EAF7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654B091-20FB-E39D-2DD9-C3655A873F06}"/>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Project Overview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027D026-7612-AE9E-E728-B62539A61FE0}"/>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02EE6F8-579F-B6BA-39C3-F311FB8DAF14}"/>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Project Overview</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2E0DC7ED-AAF6-8779-F363-136462F02613}"/>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a:t>
            </a:r>
            <a:endParaRPr lang="zh-CN" altLang="en-US" b="1" dirty="0"/>
          </a:p>
        </p:txBody>
      </p:sp>
      <p:sp>
        <p:nvSpPr>
          <p:cNvPr id="11" name="TextBox 2">
            <a:extLst>
              <a:ext uri="{FF2B5EF4-FFF2-40B4-BE49-F238E27FC236}">
                <a16:creationId xmlns:a16="http://schemas.microsoft.com/office/drawing/2014/main" id="{6BF0EECC-2C82-3A01-0248-47F127DDE236}"/>
              </a:ext>
            </a:extLst>
          </p:cNvPr>
          <p:cNvSpPr txBox="1"/>
          <p:nvPr/>
        </p:nvSpPr>
        <p:spPr>
          <a:xfrm>
            <a:off x="332510" y="1228397"/>
            <a:ext cx="3973484" cy="4401205"/>
          </a:xfrm>
          <a:prstGeom prst="rect">
            <a:avLst/>
          </a:prstGeom>
          <a:noFill/>
        </p:spPr>
        <p:txBody>
          <a:bodyPr wrap="square">
            <a:spAutoFit/>
          </a:bodyPr>
          <a:lstStyle/>
          <a:p>
            <a:r>
              <a:rPr sz="2800" dirty="0" err="1">
                <a:latin typeface="Times New Roman" panose="02020603050405020304" pitchFamily="18" charset="0"/>
                <a:cs typeface="Times New Roman" panose="02020603050405020304" pitchFamily="18" charset="0"/>
              </a:rPr>
              <a:t>bigdata_project</a:t>
            </a:r>
            <a:r>
              <a:rPr sz="2800" dirty="0">
                <a:latin typeface="Times New Roman" panose="02020603050405020304" pitchFamily="18" charset="0"/>
                <a:cs typeface="Times New Roman" panose="02020603050405020304" pitchFamily="18" charset="0"/>
              </a:rPr>
              <a:t>
├─ </a:t>
            </a:r>
            <a:r>
              <a:rPr sz="2800" dirty="0" err="1">
                <a:solidFill>
                  <a:srgbClr val="0070C0"/>
                </a:solidFill>
                <a:latin typeface="Times New Roman" panose="02020603050405020304" pitchFamily="18" charset="0"/>
                <a:cs typeface="Times New Roman" panose="02020603050405020304" pitchFamily="18" charset="0"/>
              </a:rPr>
              <a:t>src</a:t>
            </a:r>
            <a:r>
              <a:rPr sz="2800" dirty="0">
                <a:solidFill>
                  <a:srgbClr val="0070C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
├─ </a:t>
            </a:r>
            <a:r>
              <a:rPr sz="2800" dirty="0" err="1">
                <a:solidFill>
                  <a:srgbClr val="0070C0"/>
                </a:solidFill>
                <a:latin typeface="Times New Roman" panose="02020603050405020304" pitchFamily="18" charset="0"/>
                <a:cs typeface="Times New Roman" panose="02020603050405020304" pitchFamily="18" charset="0"/>
              </a:rPr>
              <a:t>agent_flow</a:t>
            </a:r>
            <a:r>
              <a:rPr sz="2800" dirty="0">
                <a:solidFill>
                  <a:srgbClr val="0070C0"/>
                </a:solidFill>
                <a:latin typeface="Times New Roman" panose="02020603050405020304" pitchFamily="18" charset="0"/>
                <a:cs typeface="Times New Roman" panose="02020603050405020304" pitchFamily="18" charset="0"/>
              </a:rPr>
              <a:t>/</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artifacts/</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reports/</a:t>
            </a:r>
            <a:r>
              <a:rPr sz="2800" dirty="0">
                <a:latin typeface="Times New Roman" panose="02020603050405020304" pitchFamily="18" charset="0"/>
                <a:cs typeface="Times New Roman" panose="02020603050405020304" pitchFamily="18" charset="0"/>
              </a:rPr>
              <a:t>
├─ </a:t>
            </a:r>
            <a:r>
              <a:rPr sz="2800" dirty="0">
                <a:solidFill>
                  <a:srgbClr val="0070C0"/>
                </a:solidFill>
                <a:latin typeface="Times New Roman" panose="02020603050405020304" pitchFamily="18" charset="0"/>
                <a:cs typeface="Times New Roman" panose="02020603050405020304" pitchFamily="18" charset="0"/>
              </a:rPr>
              <a:t>data/</a:t>
            </a:r>
            <a:r>
              <a:rPr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main.py </a:t>
            </a:r>
            <a:endParaRPr lang="en-US"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llm_insights.</a:t>
            </a:r>
            <a:r>
              <a:rPr lang="en-US" sz="2800" dirty="0">
                <a:latin typeface="Times New Roman" panose="02020603050405020304" pitchFamily="18" charset="0"/>
                <a:cs typeface="Times New Roman" panose="02020603050405020304" pitchFamily="18" charset="0"/>
              </a:rPr>
              <a:t>py</a:t>
            </a:r>
          </a:p>
          <a:p>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requirements.txt </a:t>
            </a:r>
            <a:endParaRPr lang="en-US"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README.md</a:t>
            </a:r>
          </a:p>
        </p:txBody>
      </p:sp>
      <p:sp>
        <p:nvSpPr>
          <p:cNvPr id="12" name="Rounded Rectangle 3">
            <a:extLst>
              <a:ext uri="{FF2B5EF4-FFF2-40B4-BE49-F238E27FC236}">
                <a16:creationId xmlns:a16="http://schemas.microsoft.com/office/drawing/2014/main" id="{E902BFB3-8236-FEAC-1D9A-CA84895D3F78}"/>
              </a:ext>
            </a:extLst>
          </p:cNvPr>
          <p:cNvSpPr/>
          <p:nvPr/>
        </p:nvSpPr>
        <p:spPr>
          <a:xfrm>
            <a:off x="4361976" y="1280550"/>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src</a:t>
            </a:r>
            <a:r>
              <a:rPr sz="2400" b="1" dirty="0">
                <a:solidFill>
                  <a:schemeClr val="tx1"/>
                </a:solidFill>
                <a:latin typeface="Times New Roman" panose="02020603050405020304" pitchFamily="18" charset="0"/>
                <a:cs typeface="Times New Roman" panose="02020603050405020304" pitchFamily="18" charset="0"/>
              </a:rPr>
              <a:t>/</a:t>
            </a:r>
          </a:p>
          <a:p>
            <a:pPr lvl="1" algn="ctr"/>
            <a:r>
              <a:rPr lang="en-US" sz="1600" dirty="0">
                <a:solidFill>
                  <a:schemeClr val="tx1"/>
                </a:solidFill>
                <a:latin typeface="Times New Roman" panose="02020603050405020304" pitchFamily="18" charset="0"/>
                <a:cs typeface="Times New Roman" panose="02020603050405020304" pitchFamily="18" charset="0"/>
              </a:rPr>
              <a:t>Core modules for data preprocessing, feature engineering, and model training.(Builds and evaluates regression/classification pipelines.)</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3" name="Rounded Rectangle 4">
            <a:extLst>
              <a:ext uri="{FF2B5EF4-FFF2-40B4-BE49-F238E27FC236}">
                <a16:creationId xmlns:a16="http://schemas.microsoft.com/office/drawing/2014/main" id="{DA1149D1-A410-773E-E490-5944474240CF}"/>
              </a:ext>
            </a:extLst>
          </p:cNvPr>
          <p:cNvSpPr/>
          <p:nvPr/>
        </p:nvSpPr>
        <p:spPr>
          <a:xfrm>
            <a:off x="8080536" y="1280550"/>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agent_flow</a:t>
            </a:r>
            <a:r>
              <a:rPr sz="2400" b="1" dirty="0">
                <a:solidFill>
                  <a:schemeClr val="tx1"/>
                </a:solidFill>
                <a:latin typeface="Times New Roman" panose="02020603050405020304" pitchFamily="18" charset="0"/>
                <a:cs typeface="Times New Roman" panose="02020603050405020304" pitchFamily="18" charset="0"/>
              </a:rPr>
              <a:t>/</a:t>
            </a:r>
          </a:p>
          <a:p>
            <a:pPr lvl="1" algn="ctr"/>
            <a:r>
              <a:rPr lang="en-US" sz="1600" dirty="0">
                <a:solidFill>
                  <a:schemeClr val="tx1"/>
                </a:solidFill>
                <a:latin typeface="Times New Roman" panose="02020603050405020304" pitchFamily="18" charset="0"/>
                <a:cs typeface="Times New Roman" panose="02020603050405020304" pitchFamily="18" charset="0"/>
              </a:rPr>
              <a:t>Multi-agent workflow for automated orchestration and reporting.(Planner → Executor → Visualizer → Reporter.)</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4" name="Rounded Rectangle 5">
            <a:extLst>
              <a:ext uri="{FF2B5EF4-FFF2-40B4-BE49-F238E27FC236}">
                <a16:creationId xmlns:a16="http://schemas.microsoft.com/office/drawing/2014/main" id="{C92C8DA8-4041-B141-1F98-1B2FE756753D}"/>
              </a:ext>
            </a:extLst>
          </p:cNvPr>
          <p:cNvSpPr/>
          <p:nvPr/>
        </p:nvSpPr>
        <p:spPr>
          <a:xfrm>
            <a:off x="4361976" y="3386191"/>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a:solidFill>
                  <a:schemeClr val="tx1"/>
                </a:solidFill>
                <a:latin typeface="Times New Roman" panose="02020603050405020304" pitchFamily="18" charset="0"/>
                <a:cs typeface="Times New Roman" panose="02020603050405020304" pitchFamily="18" charset="0"/>
              </a:rPr>
              <a:t>artifacts/</a:t>
            </a:r>
          </a:p>
          <a:p>
            <a:pPr lvl="1" algn="ctr"/>
            <a:r>
              <a:rPr lang="en-US" sz="1600" dirty="0">
                <a:solidFill>
                  <a:schemeClr val="tx1"/>
                </a:solidFill>
                <a:latin typeface="Times New Roman" panose="02020603050405020304" pitchFamily="18" charset="0"/>
                <a:cs typeface="Times New Roman" panose="02020603050405020304" pitchFamily="18" charset="0"/>
              </a:rPr>
              <a:t>Stores all generated outputs — metrics, plots, and evaluation results.(Visual evidence for model performance.)</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7" name="Rounded Rectangle 8">
            <a:extLst>
              <a:ext uri="{FF2B5EF4-FFF2-40B4-BE49-F238E27FC236}">
                <a16:creationId xmlns:a16="http://schemas.microsoft.com/office/drawing/2014/main" id="{3B32260E-AA7C-76DD-6977-4557B40D727C}"/>
              </a:ext>
            </a:extLst>
          </p:cNvPr>
          <p:cNvSpPr/>
          <p:nvPr/>
        </p:nvSpPr>
        <p:spPr>
          <a:xfrm>
            <a:off x="8013301" y="3386191"/>
            <a:ext cx="3517392" cy="1985918"/>
          </a:xfrm>
          <a:prstGeom prst="roundRect">
            <a:avLst>
              <a:gd name="adj" fmla="val 0"/>
            </a:avLst>
          </a:prstGeom>
          <a:solidFill>
            <a:srgbClr val="F7F8FC"/>
          </a:solidFill>
          <a:ln w="12700">
            <a:solidFill>
              <a:srgbClr val="D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dirty="0" err="1">
                <a:solidFill>
                  <a:schemeClr val="tx1"/>
                </a:solidFill>
                <a:latin typeface="Times New Roman" panose="02020603050405020304" pitchFamily="18" charset="0"/>
                <a:cs typeface="Times New Roman" panose="02020603050405020304" pitchFamily="18" charset="0"/>
              </a:rPr>
              <a:t>Entrypoints</a:t>
            </a:r>
            <a:endParaRPr sz="2400" b="1" dirty="0">
              <a:solidFill>
                <a:schemeClr val="tx1"/>
              </a:solidFill>
              <a:latin typeface="Times New Roman" panose="02020603050405020304" pitchFamily="18" charset="0"/>
              <a:cs typeface="Times New Roman" panose="02020603050405020304" pitchFamily="18" charset="0"/>
            </a:endParaRPr>
          </a:p>
          <a:p>
            <a:pPr lvl="1" algn="ctr"/>
            <a:r>
              <a:rPr lang="en-US" sz="1600" dirty="0">
                <a:solidFill>
                  <a:schemeClr val="tx1"/>
                </a:solidFill>
                <a:latin typeface="Times New Roman" panose="02020603050405020304" pitchFamily="18" charset="0"/>
                <a:cs typeface="Times New Roman" panose="02020603050405020304" pitchFamily="18" charset="0"/>
              </a:rPr>
              <a:t>Scripts to run and reproduce the project.</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(main.py, llm_insights.py,  requirements.txt, README.md)</a:t>
            </a:r>
            <a:endParaRPr sz="1600" dirty="0">
              <a:solidFill>
                <a:schemeClr val="tx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84B07B42-4325-8E8F-3563-B178B8CA5AFA}"/>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Tree>
    <p:extLst>
      <p:ext uri="{BB962C8B-B14F-4D97-AF65-F5344CB8AC3E}">
        <p14:creationId xmlns:p14="http://schemas.microsoft.com/office/powerpoint/2010/main" val="3969068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E25F9-32E8-77E4-D101-04F795C652F6}"/>
            </a:ext>
          </a:extLst>
        </p:cNvPr>
        <p:cNvGrpSpPr/>
        <p:nvPr/>
      </p:nvGrpSpPr>
      <p:grpSpPr>
        <a:xfrm>
          <a:off x="0" y="0"/>
          <a:ext cx="0" cy="0"/>
          <a:chOff x="0" y="0"/>
          <a:chExt cx="0" cy="0"/>
        </a:xfrm>
      </p:grpSpPr>
      <p:sp>
        <p:nvSpPr>
          <p:cNvPr id="2" name="矩形: 单圆角 1">
            <a:extLst>
              <a:ext uri="{FF2B5EF4-FFF2-40B4-BE49-F238E27FC236}">
                <a16:creationId xmlns:a16="http://schemas.microsoft.com/office/drawing/2014/main" id="{563B67D9-1C14-0AE6-3D9D-C31B09B2AA3A}"/>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DA5C6FE-BB67-57C5-7EE7-E04BC6FB67C7}"/>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8D116247-3E18-A16D-C584-E01A3C685C67}"/>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Project Overview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6A1468C-79FD-9F9F-739D-E4D649313295}"/>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608D5D4-87D3-AE4A-1053-979C58F06A93}"/>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Project Overview</a:t>
            </a:r>
            <a:endParaRPr lang="zh-CN" altLang="en-US" sz="2000" b="1" dirty="0">
              <a:latin typeface="High Tower Text" panose="02040502050506030303" pitchFamily="18" charset="0"/>
            </a:endParaRPr>
          </a:p>
        </p:txBody>
      </p:sp>
      <p:sp>
        <p:nvSpPr>
          <p:cNvPr id="8" name="文本框 7">
            <a:extLst>
              <a:ext uri="{FF2B5EF4-FFF2-40B4-BE49-F238E27FC236}">
                <a16:creationId xmlns:a16="http://schemas.microsoft.com/office/drawing/2014/main" id="{238D35BB-F19D-9C25-6F2C-58486DD5E4EF}"/>
              </a:ext>
            </a:extLst>
          </p:cNvPr>
          <p:cNvSpPr txBox="1"/>
          <p:nvPr/>
        </p:nvSpPr>
        <p:spPr>
          <a:xfrm>
            <a:off x="416965" y="1613126"/>
            <a:ext cx="3723235" cy="1569660"/>
          </a:xfrm>
          <a:prstGeom prst="rect">
            <a:avLst/>
          </a:prstGeom>
          <a:noFill/>
        </p:spPr>
        <p:txBody>
          <a:bodyPr wrap="square" rtlCol="0">
            <a:spAutoFit/>
          </a:bodyPr>
          <a:lstStyle/>
          <a:p>
            <a:r>
              <a:rPr lang="en-US" altLang="zh-CN" sz="2400" dirty="0">
                <a:solidFill>
                  <a:srgbClr val="030A18"/>
                </a:solidFill>
                <a:latin typeface="Times New Roman" panose="02020603050405020304" pitchFamily="18" charset="0"/>
                <a:cs typeface="Times New Roman" panose="02020603050405020304" pitchFamily="18" charset="0"/>
              </a:rPr>
              <a:t>Dataset: historical loan records with borrower demographics, credit history and loan characteristics.</a:t>
            </a:r>
            <a:endParaRPr lang="en-US" altLang="zh-CN"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9F42E4B-52D1-3287-D340-630042307FB2}"/>
              </a:ext>
            </a:extLst>
          </p:cNvPr>
          <p:cNvSpPr txBox="1"/>
          <p:nvPr/>
        </p:nvSpPr>
        <p:spPr>
          <a:xfrm>
            <a:off x="416965" y="4048515"/>
            <a:ext cx="9768434" cy="1646605"/>
          </a:xfrm>
          <a:prstGeom prst="rect">
            <a:avLst/>
          </a:prstGeom>
          <a:noFill/>
        </p:spPr>
        <p:txBody>
          <a:bodyPr wrap="square" rtlCol="0">
            <a:spAutoFit/>
          </a:bodyPr>
          <a:lstStyle/>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Objectives: predict interest rates (regression), classify credit grades, and discover customer segments (clustering)</a:t>
            </a:r>
            <a:endParaRPr lang="en-US" altLang="zh-CN" sz="2400" dirty="0">
              <a:latin typeface="Times New Roman" panose="02020603050405020304" pitchFamily="18" charset="0"/>
              <a:cs typeface="Times New Roman" panose="02020603050405020304" pitchFamily="18" charset="0"/>
            </a:endParaRPr>
          </a:p>
          <a:p>
            <a:r>
              <a:rPr lang="en-US" altLang="zh-CN" sz="2400" dirty="0">
                <a:solidFill>
                  <a:srgbClr val="030A18"/>
                </a:solidFill>
                <a:latin typeface="Times New Roman" panose="02020603050405020304" pitchFamily="18" charset="0"/>
                <a:cs typeface="Times New Roman" panose="02020603050405020304" pitchFamily="18" charset="0"/>
              </a:rPr>
              <a:t>Pipeline: perform EDA, engineer features, build models &amp; evaluate results, then generate automated reports</a:t>
            </a:r>
            <a:endParaRPr lang="en-US" altLang="zh-CN"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6DEC03E-2A47-2647-8F99-81A9101C82A5}"/>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2</a:t>
            </a:r>
            <a:endParaRPr lang="zh-CN" altLang="en-US" b="1" dirty="0"/>
          </a:p>
        </p:txBody>
      </p:sp>
      <p:pic>
        <p:nvPicPr>
          <p:cNvPr id="2050" name="Picture 2">
            <a:extLst>
              <a:ext uri="{FF2B5EF4-FFF2-40B4-BE49-F238E27FC236}">
                <a16:creationId xmlns:a16="http://schemas.microsoft.com/office/drawing/2014/main" id="{979741EC-4BC1-F324-C76A-7B4ADA0C8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1262" y="977497"/>
            <a:ext cx="7773773" cy="2915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54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229AAD13-B38E-AC65-BD4F-724CEF5506F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608BE9D-75CF-A628-B9B8-D873EE25E327}"/>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A18B31D3-87D3-E870-0560-12A429A56189}"/>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Main Content of the Project</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D99B6CE-6BB1-55DD-B969-E3E54DF2C9B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E8FEBEE-E077-FEF3-1896-DF2580AFD38C}"/>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Times New Roman" panose="02020603050405020304" pitchFamily="18" charset="0"/>
                <a:cs typeface="Times New Roman" panose="02020603050405020304" pitchFamily="18" charset="0"/>
              </a:rPr>
              <a:t>Main Content</a:t>
            </a:r>
            <a:endParaRPr lang="zh-CN" altLang="en-US" sz="2000" b="1" dirty="0"/>
          </a:p>
        </p:txBody>
      </p:sp>
      <p:sp>
        <p:nvSpPr>
          <p:cNvPr id="7" name="矩形: 单圆角 6">
            <a:extLst>
              <a:ext uri="{FF2B5EF4-FFF2-40B4-BE49-F238E27FC236}">
                <a16:creationId xmlns:a16="http://schemas.microsoft.com/office/drawing/2014/main" id="{1A192DD2-0584-BD6A-EA32-6EE57990958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4E5E76-54AA-DF2E-509D-605A6EEAF1D6}"/>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9" name="文本框 8">
            <a:extLst>
              <a:ext uri="{FF2B5EF4-FFF2-40B4-BE49-F238E27FC236}">
                <a16:creationId xmlns:a16="http://schemas.microsoft.com/office/drawing/2014/main" id="{214F7A67-9CFF-AC18-C5E1-5FCB5C5FE674}"/>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Methodology &amp; Pipeline</a:t>
            </a:r>
            <a:endParaRPr lang="zh-CN" altLang="en-US" dirty="0">
              <a:effectLst>
                <a:outerShdw blurRad="38100" dist="38100" dir="2700000" algn="tl">
                  <a:srgbClr val="000000">
                    <a:alpha val="43137"/>
                  </a:srgbClr>
                </a:outerShdw>
              </a:effectLst>
            </a:endParaRPr>
          </a:p>
        </p:txBody>
      </p:sp>
      <p:sp>
        <p:nvSpPr>
          <p:cNvPr id="10" name="矩形: 圆顶角 9">
            <a:extLst>
              <a:ext uri="{FF2B5EF4-FFF2-40B4-BE49-F238E27FC236}">
                <a16:creationId xmlns:a16="http://schemas.microsoft.com/office/drawing/2014/main" id="{3A36B228-B915-0301-B5C5-DF09EF8584AF}"/>
              </a:ext>
            </a:extLst>
          </p:cNvPr>
          <p:cNvSpPr/>
          <p:nvPr/>
        </p:nvSpPr>
        <p:spPr>
          <a:xfrm rot="10800000">
            <a:off x="416966" y="17270"/>
            <a:ext cx="4802734"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46E3DA4-4F58-AF39-D204-706B2B1CB8F5}"/>
              </a:ext>
            </a:extLst>
          </p:cNvPr>
          <p:cNvSpPr txBox="1"/>
          <p:nvPr/>
        </p:nvSpPr>
        <p:spPr>
          <a:xfrm>
            <a:off x="596900" y="22206"/>
            <a:ext cx="4445000"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Methodology &amp; Pipeline</a:t>
            </a:r>
            <a:endParaRPr lang="zh-CN" altLang="en-US" sz="2000" b="1" dirty="0">
              <a:latin typeface="High Tower Text" panose="02040502050506030303" pitchFamily="18" charset="0"/>
            </a:endParaRPr>
          </a:p>
        </p:txBody>
      </p:sp>
      <p:sp>
        <p:nvSpPr>
          <p:cNvPr id="13" name="文本框 12">
            <a:extLst>
              <a:ext uri="{FF2B5EF4-FFF2-40B4-BE49-F238E27FC236}">
                <a16:creationId xmlns:a16="http://schemas.microsoft.com/office/drawing/2014/main" id="{EEB46436-EC39-F93E-64E6-2DD3CA409668}"/>
              </a:ext>
            </a:extLst>
          </p:cNvPr>
          <p:cNvSpPr txBox="1"/>
          <p:nvPr/>
        </p:nvSpPr>
        <p:spPr>
          <a:xfrm>
            <a:off x="640079" y="1353121"/>
            <a:ext cx="9654135" cy="2246769"/>
          </a:xfrm>
          <a:prstGeom prst="rect">
            <a:avLst/>
          </a:prstGeom>
          <a:noFill/>
        </p:spPr>
        <p:txBody>
          <a:bodyPr wrap="square" rtlCol="0">
            <a:spAutoFit/>
          </a:bodyPr>
          <a:lstStyle/>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EDA: </a:t>
            </a:r>
            <a:r>
              <a:rPr lang="en-US" altLang="zh-CN" sz="2400" dirty="0">
                <a:solidFill>
                  <a:srgbClr val="030A18"/>
                </a:solidFill>
                <a:latin typeface="Times New Roman" panose="02020603050405020304" pitchFamily="18" charset="0"/>
                <a:cs typeface="Times New Roman" panose="02020603050405020304" pitchFamily="18" charset="0"/>
              </a:rPr>
              <a:t>explore distributions and temporal trends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Feature engineering: </a:t>
            </a:r>
            <a:r>
              <a:rPr lang="en-US" altLang="zh-CN" sz="2400" dirty="0">
                <a:solidFill>
                  <a:srgbClr val="030A18"/>
                </a:solidFill>
                <a:latin typeface="Times New Roman" panose="02020603050405020304" pitchFamily="18" charset="0"/>
                <a:cs typeface="Times New Roman" panose="02020603050405020304" pitchFamily="18" charset="0"/>
              </a:rPr>
              <a:t>encode categorical, normalize continuous variables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Regression: </a:t>
            </a:r>
            <a:r>
              <a:rPr lang="en-US" altLang="zh-CN" sz="2400" dirty="0">
                <a:solidFill>
                  <a:srgbClr val="030A18"/>
                </a:solidFill>
                <a:latin typeface="Times New Roman" panose="02020603050405020304" pitchFamily="18" charset="0"/>
                <a:cs typeface="Times New Roman" panose="02020603050405020304" pitchFamily="18" charset="0"/>
              </a:rPr>
              <a:t>histogram‑based gradient boosting to estimate interest rate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Classification: </a:t>
            </a:r>
            <a:r>
              <a:rPr lang="en-US" altLang="zh-CN" sz="2400" dirty="0">
                <a:solidFill>
                  <a:srgbClr val="030A18"/>
                </a:solidFill>
                <a:latin typeface="Times New Roman" panose="02020603050405020304" pitchFamily="18" charset="0"/>
                <a:cs typeface="Times New Roman" panose="02020603050405020304" pitchFamily="18" charset="0"/>
              </a:rPr>
              <a:t>histogram‑based classifier to predict credit grade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b="1" dirty="0">
                <a:solidFill>
                  <a:srgbClr val="030A18"/>
                </a:solidFill>
                <a:latin typeface="Times New Roman" panose="02020603050405020304" pitchFamily="18" charset="0"/>
                <a:cs typeface="Times New Roman" panose="02020603050405020304" pitchFamily="18" charset="0"/>
              </a:rPr>
              <a:t>Clustering: </a:t>
            </a:r>
            <a:r>
              <a:rPr lang="en-US" altLang="zh-CN" sz="2400" dirty="0">
                <a:solidFill>
                  <a:srgbClr val="030A18"/>
                </a:solidFill>
                <a:latin typeface="Times New Roman" panose="02020603050405020304" pitchFamily="18" charset="0"/>
                <a:cs typeface="Times New Roman" panose="02020603050405020304" pitchFamily="18" charset="0"/>
              </a:rPr>
              <a:t>k‑means (PCA) to uncover customer segments</a:t>
            </a:r>
            <a:endParaRPr lang="en-US" altLang="zh-CN" sz="2400" dirty="0">
              <a:latin typeface="Times New Roman" panose="02020603050405020304" pitchFamily="18" charset="0"/>
              <a:cs typeface="Times New Roman" panose="02020603050405020304" pitchFamily="18" charset="0"/>
            </a:endParaRPr>
          </a:p>
        </p:txBody>
      </p:sp>
      <p:sp>
        <p:nvSpPr>
          <p:cNvPr id="15" name="Shape 2">
            <a:extLst>
              <a:ext uri="{FF2B5EF4-FFF2-40B4-BE49-F238E27FC236}">
                <a16:creationId xmlns:a16="http://schemas.microsoft.com/office/drawing/2014/main" id="{7555C18B-B8F6-A729-1EC7-8C1A65F4EEEB}"/>
              </a:ext>
            </a:extLst>
          </p:cNvPr>
          <p:cNvSpPr/>
          <p:nvPr/>
        </p:nvSpPr>
        <p:spPr>
          <a:xfrm>
            <a:off x="240846" y="4131468"/>
            <a:ext cx="1406994"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6" name="Text 3">
            <a:extLst>
              <a:ext uri="{FF2B5EF4-FFF2-40B4-BE49-F238E27FC236}">
                <a16:creationId xmlns:a16="http://schemas.microsoft.com/office/drawing/2014/main" id="{A174D67F-8A39-D705-3E06-F73CDAB72670}"/>
              </a:ext>
            </a:extLst>
          </p:cNvPr>
          <p:cNvSpPr/>
          <p:nvPr/>
        </p:nvSpPr>
        <p:spPr>
          <a:xfrm>
            <a:off x="240846" y="4428885"/>
            <a:ext cx="1406994" cy="648219"/>
          </a:xfrm>
          <a:prstGeom prst="rect">
            <a:avLst/>
          </a:prstGeom>
          <a:noFill/>
          <a:ln/>
        </p:spPr>
        <p:txBody>
          <a:bodyPr wrap="square" rtlCol="0" anchor="ctr"/>
          <a:lstStyle/>
          <a:p>
            <a:pPr marL="0" indent="0" algn="ctr">
              <a:buNone/>
            </a:pPr>
            <a:r>
              <a:rPr lang="en-US" sz="2000" dirty="0">
                <a:solidFill>
                  <a:srgbClr val="030A18"/>
                </a:solidFill>
                <a:latin typeface="Eras Demi ITC" panose="020B0805030504020804" pitchFamily="34" charset="0"/>
              </a:rPr>
              <a:t>EDA</a:t>
            </a:r>
            <a:endParaRPr lang="en-US" sz="2000" dirty="0">
              <a:latin typeface="Eras Demi ITC" panose="020B0805030504020804" pitchFamily="34" charset="0"/>
            </a:endParaRPr>
          </a:p>
        </p:txBody>
      </p:sp>
      <p:sp>
        <p:nvSpPr>
          <p:cNvPr id="18" name="Shape 5">
            <a:extLst>
              <a:ext uri="{FF2B5EF4-FFF2-40B4-BE49-F238E27FC236}">
                <a16:creationId xmlns:a16="http://schemas.microsoft.com/office/drawing/2014/main" id="{2F13EE27-126E-858F-811A-A7CA1BC83391}"/>
              </a:ext>
            </a:extLst>
          </p:cNvPr>
          <p:cNvSpPr/>
          <p:nvPr/>
        </p:nvSpPr>
        <p:spPr>
          <a:xfrm>
            <a:off x="2073532" y="4131468"/>
            <a:ext cx="1650315"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9" name="Text 6">
            <a:extLst>
              <a:ext uri="{FF2B5EF4-FFF2-40B4-BE49-F238E27FC236}">
                <a16:creationId xmlns:a16="http://schemas.microsoft.com/office/drawing/2014/main" id="{4B41C6D2-D9E8-E09D-DEFF-858369746738}"/>
              </a:ext>
            </a:extLst>
          </p:cNvPr>
          <p:cNvSpPr/>
          <p:nvPr/>
        </p:nvSpPr>
        <p:spPr>
          <a:xfrm>
            <a:off x="2311141" y="4601851"/>
            <a:ext cx="1228835" cy="330900"/>
          </a:xfrm>
          <a:prstGeom prst="rect">
            <a:avLst/>
          </a:prstGeom>
          <a:noFill/>
          <a:ln/>
        </p:spPr>
        <p:txBody>
          <a:bodyPr wrap="square" rtlCol="0" anchor="ctr"/>
          <a:lstStyle/>
          <a:p>
            <a:pPr marL="0" indent="0" algn="ctr">
              <a:buNone/>
            </a:pPr>
            <a:r>
              <a:rPr lang="en-US" sz="2000" dirty="0">
                <a:solidFill>
                  <a:srgbClr val="030A18"/>
                </a:solidFill>
                <a:latin typeface="Eras Demi ITC" panose="020B0805030504020804" pitchFamily="34" charset="0"/>
              </a:rPr>
              <a:t>Features</a:t>
            </a:r>
            <a:endParaRPr lang="en-US" sz="2000" dirty="0">
              <a:latin typeface="Eras Demi ITC" panose="020B0805030504020804" pitchFamily="34" charset="0"/>
            </a:endParaRPr>
          </a:p>
        </p:txBody>
      </p:sp>
      <p:sp>
        <p:nvSpPr>
          <p:cNvPr id="21" name="Shape 8">
            <a:extLst>
              <a:ext uri="{FF2B5EF4-FFF2-40B4-BE49-F238E27FC236}">
                <a16:creationId xmlns:a16="http://schemas.microsoft.com/office/drawing/2014/main" id="{9718C18A-752C-1C9D-7DC2-C56CA8081C0F}"/>
              </a:ext>
            </a:extLst>
          </p:cNvPr>
          <p:cNvSpPr/>
          <p:nvPr/>
        </p:nvSpPr>
        <p:spPr>
          <a:xfrm>
            <a:off x="4173648" y="4131468"/>
            <a:ext cx="1650315" cy="129643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2" name="Text 9">
            <a:extLst>
              <a:ext uri="{FF2B5EF4-FFF2-40B4-BE49-F238E27FC236}">
                <a16:creationId xmlns:a16="http://schemas.microsoft.com/office/drawing/2014/main" id="{8FC74A4D-96DC-C9F0-9797-5AFCA7407362}"/>
              </a:ext>
            </a:extLst>
          </p:cNvPr>
          <p:cNvSpPr/>
          <p:nvPr/>
        </p:nvSpPr>
        <p:spPr>
          <a:xfrm>
            <a:off x="4310835" y="4592378"/>
            <a:ext cx="1380312" cy="321458"/>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Regression</a:t>
            </a:r>
            <a:endParaRPr lang="en-US" dirty="0">
              <a:latin typeface="Eras Demi ITC" panose="020B0805030504020804" pitchFamily="34" charset="0"/>
            </a:endParaRPr>
          </a:p>
        </p:txBody>
      </p:sp>
      <p:sp>
        <p:nvSpPr>
          <p:cNvPr id="24" name="Shape 11">
            <a:extLst>
              <a:ext uri="{FF2B5EF4-FFF2-40B4-BE49-F238E27FC236}">
                <a16:creationId xmlns:a16="http://schemas.microsoft.com/office/drawing/2014/main" id="{713B1561-C17D-DED5-EFB9-753CA0206345}"/>
              </a:ext>
            </a:extLst>
          </p:cNvPr>
          <p:cNvSpPr/>
          <p:nvPr/>
        </p:nvSpPr>
        <p:spPr>
          <a:xfrm>
            <a:off x="6270814" y="4131468"/>
            <a:ext cx="1650314" cy="130163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5" name="Text 12">
            <a:extLst>
              <a:ext uri="{FF2B5EF4-FFF2-40B4-BE49-F238E27FC236}">
                <a16:creationId xmlns:a16="http://schemas.microsoft.com/office/drawing/2014/main" id="{E967EA56-30B2-DF26-9B91-9D50A923185F}"/>
              </a:ext>
            </a:extLst>
          </p:cNvPr>
          <p:cNvSpPr/>
          <p:nvPr/>
        </p:nvSpPr>
        <p:spPr>
          <a:xfrm>
            <a:off x="6236294" y="4584774"/>
            <a:ext cx="1825412" cy="353212"/>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Classification</a:t>
            </a:r>
            <a:endParaRPr lang="en-US" dirty="0">
              <a:latin typeface="Eras Demi ITC" panose="020B0805030504020804" pitchFamily="34" charset="0"/>
            </a:endParaRPr>
          </a:p>
        </p:txBody>
      </p:sp>
      <p:sp>
        <p:nvSpPr>
          <p:cNvPr id="27" name="Shape 14">
            <a:extLst>
              <a:ext uri="{FF2B5EF4-FFF2-40B4-BE49-F238E27FC236}">
                <a16:creationId xmlns:a16="http://schemas.microsoft.com/office/drawing/2014/main" id="{3179C75D-3E6F-EA03-CAC8-0A3D9517DB8B}"/>
              </a:ext>
            </a:extLst>
          </p:cNvPr>
          <p:cNvSpPr/>
          <p:nvPr/>
        </p:nvSpPr>
        <p:spPr>
          <a:xfrm>
            <a:off x="8394543" y="4113958"/>
            <a:ext cx="1650314" cy="131914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8" name="Text 15">
            <a:extLst>
              <a:ext uri="{FF2B5EF4-FFF2-40B4-BE49-F238E27FC236}">
                <a16:creationId xmlns:a16="http://schemas.microsoft.com/office/drawing/2014/main" id="{B9959F4F-6306-98F3-61BB-DF158985851D}"/>
              </a:ext>
            </a:extLst>
          </p:cNvPr>
          <p:cNvSpPr/>
          <p:nvPr/>
        </p:nvSpPr>
        <p:spPr>
          <a:xfrm>
            <a:off x="8341513" y="4608274"/>
            <a:ext cx="1703344" cy="310756"/>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Clustering</a:t>
            </a:r>
            <a:endParaRPr lang="en-US" dirty="0">
              <a:latin typeface="Eras Demi ITC" panose="020B0805030504020804" pitchFamily="34" charset="0"/>
            </a:endParaRPr>
          </a:p>
        </p:txBody>
      </p:sp>
      <p:sp>
        <p:nvSpPr>
          <p:cNvPr id="30" name="Shape 17">
            <a:extLst>
              <a:ext uri="{FF2B5EF4-FFF2-40B4-BE49-F238E27FC236}">
                <a16:creationId xmlns:a16="http://schemas.microsoft.com/office/drawing/2014/main" id="{B453604E-9D1E-5F4D-B182-EE43A14ADE73}"/>
              </a:ext>
            </a:extLst>
          </p:cNvPr>
          <p:cNvSpPr/>
          <p:nvPr/>
        </p:nvSpPr>
        <p:spPr>
          <a:xfrm>
            <a:off x="10435073" y="4113958"/>
            <a:ext cx="1604562" cy="1313946"/>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31" name="Text 18">
            <a:extLst>
              <a:ext uri="{FF2B5EF4-FFF2-40B4-BE49-F238E27FC236}">
                <a16:creationId xmlns:a16="http://schemas.microsoft.com/office/drawing/2014/main" id="{2C178DBD-D246-D33B-2500-AC7A20836FDE}"/>
              </a:ext>
            </a:extLst>
          </p:cNvPr>
          <p:cNvSpPr/>
          <p:nvPr/>
        </p:nvSpPr>
        <p:spPr>
          <a:xfrm>
            <a:off x="10699208" y="4548277"/>
            <a:ext cx="1076292" cy="382089"/>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Report</a:t>
            </a:r>
            <a:endParaRPr lang="en-US" dirty="0">
              <a:latin typeface="Eras Demi ITC" panose="020B0805030504020804" pitchFamily="34" charset="0"/>
            </a:endParaRPr>
          </a:p>
        </p:txBody>
      </p:sp>
      <p:sp>
        <p:nvSpPr>
          <p:cNvPr id="12" name="文本框 11">
            <a:extLst>
              <a:ext uri="{FF2B5EF4-FFF2-40B4-BE49-F238E27FC236}">
                <a16:creationId xmlns:a16="http://schemas.microsoft.com/office/drawing/2014/main" id="{01960DCC-6742-2483-C9F2-F6553C16BE2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3</a:t>
            </a:r>
            <a:endParaRPr lang="zh-CN" altLang="en-US" b="1" dirty="0"/>
          </a:p>
        </p:txBody>
      </p:sp>
      <p:sp>
        <p:nvSpPr>
          <p:cNvPr id="14" name="Shape 4">
            <a:extLst>
              <a:ext uri="{FF2B5EF4-FFF2-40B4-BE49-F238E27FC236}">
                <a16:creationId xmlns:a16="http://schemas.microsoft.com/office/drawing/2014/main" id="{4C60C0C5-7392-2EA5-EE82-31DA50F184E4}"/>
              </a:ext>
            </a:extLst>
          </p:cNvPr>
          <p:cNvSpPr/>
          <p:nvPr/>
        </p:nvSpPr>
        <p:spPr>
          <a:xfrm>
            <a:off x="3726797" y="4662482"/>
            <a:ext cx="566720" cy="267884"/>
          </a:xfrm>
          <a:prstGeom prst="rightArrow">
            <a:avLst/>
          </a:prstGeom>
          <a:solidFill>
            <a:srgbClr val="97B1DF"/>
          </a:solidFill>
          <a:ln w="12700">
            <a:solidFill>
              <a:srgbClr val="97B1DF"/>
            </a:solidFill>
            <a:prstDash val="solid"/>
          </a:ln>
        </p:spPr>
        <p:txBody>
          <a:bodyPr/>
          <a:lstStyle/>
          <a:p>
            <a:endParaRPr dirty="0"/>
          </a:p>
        </p:txBody>
      </p:sp>
      <p:sp>
        <p:nvSpPr>
          <p:cNvPr id="32" name="Shape 4">
            <a:extLst>
              <a:ext uri="{FF2B5EF4-FFF2-40B4-BE49-F238E27FC236}">
                <a16:creationId xmlns:a16="http://schemas.microsoft.com/office/drawing/2014/main" id="{9358A347-1951-8FC9-88B5-481D9BD4981A}"/>
              </a:ext>
            </a:extLst>
          </p:cNvPr>
          <p:cNvSpPr/>
          <p:nvPr/>
        </p:nvSpPr>
        <p:spPr>
          <a:xfrm>
            <a:off x="5837695" y="4630728"/>
            <a:ext cx="566720" cy="267884"/>
          </a:xfrm>
          <a:prstGeom prst="rightArrow">
            <a:avLst/>
          </a:prstGeom>
          <a:solidFill>
            <a:srgbClr val="97B1DF"/>
          </a:solidFill>
          <a:ln w="12700">
            <a:solidFill>
              <a:srgbClr val="97B1DF"/>
            </a:solidFill>
            <a:prstDash val="solid"/>
          </a:ln>
        </p:spPr>
        <p:txBody>
          <a:bodyPr/>
          <a:lstStyle/>
          <a:p>
            <a:endParaRPr dirty="0"/>
          </a:p>
        </p:txBody>
      </p:sp>
      <p:sp>
        <p:nvSpPr>
          <p:cNvPr id="33" name="Shape 4">
            <a:extLst>
              <a:ext uri="{FF2B5EF4-FFF2-40B4-BE49-F238E27FC236}">
                <a16:creationId xmlns:a16="http://schemas.microsoft.com/office/drawing/2014/main" id="{2D4C81DF-23D0-FDB3-A559-C78FF0BC7C85}"/>
              </a:ext>
            </a:extLst>
          </p:cNvPr>
          <p:cNvSpPr/>
          <p:nvPr/>
        </p:nvSpPr>
        <p:spPr>
          <a:xfrm>
            <a:off x="7921128" y="4624359"/>
            <a:ext cx="566720" cy="267884"/>
          </a:xfrm>
          <a:prstGeom prst="rightArrow">
            <a:avLst/>
          </a:prstGeom>
          <a:solidFill>
            <a:srgbClr val="97B1DF"/>
          </a:solidFill>
          <a:ln w="12700">
            <a:solidFill>
              <a:srgbClr val="97B1DF"/>
            </a:solidFill>
            <a:prstDash val="solid"/>
          </a:ln>
        </p:spPr>
        <p:txBody>
          <a:bodyPr/>
          <a:lstStyle/>
          <a:p>
            <a:endParaRPr dirty="0"/>
          </a:p>
        </p:txBody>
      </p:sp>
      <p:sp>
        <p:nvSpPr>
          <p:cNvPr id="17" name="Shape 4">
            <a:extLst>
              <a:ext uri="{FF2B5EF4-FFF2-40B4-BE49-F238E27FC236}">
                <a16:creationId xmlns:a16="http://schemas.microsoft.com/office/drawing/2014/main" id="{08032272-8281-5E24-051A-0E968425A70C}"/>
              </a:ext>
            </a:extLst>
          </p:cNvPr>
          <p:cNvSpPr/>
          <p:nvPr/>
        </p:nvSpPr>
        <p:spPr>
          <a:xfrm>
            <a:off x="1652509" y="4662482"/>
            <a:ext cx="584779" cy="274528"/>
          </a:xfrm>
          <a:prstGeom prst="rightArrow">
            <a:avLst/>
          </a:prstGeom>
          <a:solidFill>
            <a:srgbClr val="97B1DF"/>
          </a:solidFill>
          <a:ln w="12700">
            <a:solidFill>
              <a:srgbClr val="97B1DF"/>
            </a:solidFill>
            <a:prstDash val="solid"/>
          </a:ln>
        </p:spPr>
        <p:txBody>
          <a:bodyPr/>
          <a:lstStyle/>
          <a:p>
            <a:endParaRPr dirty="0"/>
          </a:p>
        </p:txBody>
      </p:sp>
      <p:sp>
        <p:nvSpPr>
          <p:cNvPr id="34" name="Shape 4">
            <a:extLst>
              <a:ext uri="{FF2B5EF4-FFF2-40B4-BE49-F238E27FC236}">
                <a16:creationId xmlns:a16="http://schemas.microsoft.com/office/drawing/2014/main" id="{852B16B2-E8F3-5577-0D1B-69161A098B64}"/>
              </a:ext>
            </a:extLst>
          </p:cNvPr>
          <p:cNvSpPr/>
          <p:nvPr/>
        </p:nvSpPr>
        <p:spPr>
          <a:xfrm>
            <a:off x="10012614" y="4621555"/>
            <a:ext cx="566720" cy="267884"/>
          </a:xfrm>
          <a:prstGeom prst="rightArrow">
            <a:avLst/>
          </a:prstGeom>
          <a:solidFill>
            <a:srgbClr val="97B1DF"/>
          </a:solidFill>
          <a:ln w="12700">
            <a:solidFill>
              <a:srgbClr val="97B1DF"/>
            </a:solidFill>
            <a:prstDash val="solid"/>
          </a:ln>
        </p:spPr>
        <p:txBody>
          <a:bodyPr/>
          <a:lstStyle/>
          <a:p>
            <a:endParaRPr dirty="0"/>
          </a:p>
        </p:txBody>
      </p:sp>
    </p:spTree>
    <p:extLst>
      <p:ext uri="{BB962C8B-B14F-4D97-AF65-F5344CB8AC3E}">
        <p14:creationId xmlns:p14="http://schemas.microsoft.com/office/powerpoint/2010/main" val="283550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C231337-EBA3-5315-CC75-05F5003A50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34420F-44A6-97E8-5184-534FECCDA3CA}"/>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2FD945F9-B842-69A8-FE2F-A4ACB3354B90}"/>
              </a:ext>
            </a:extLst>
          </p:cNvPr>
          <p:cNvSpPr txBox="1"/>
          <p:nvPr/>
        </p:nvSpPr>
        <p:spPr>
          <a:xfrm>
            <a:off x="240845" y="6359979"/>
            <a:ext cx="4855261"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b="1" dirty="0">
                <a:effectLst>
                  <a:outerShdw blurRad="38100" dist="38100" dir="2700000" algn="tl">
                    <a:srgbClr val="000000">
                      <a:alpha val="43137"/>
                    </a:srgbClr>
                  </a:outerShdw>
                </a:effectLst>
              </a:rPr>
              <a:t>Predicting Interest Rate</a:t>
            </a:r>
            <a:endParaRPr lang="zh-CN" altLang="en-US" b="1"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699D065-3AD2-DBA5-1696-BB63C5FD0CA5}"/>
              </a:ext>
            </a:extLst>
          </p:cNvPr>
          <p:cNvSpPr/>
          <p:nvPr/>
        </p:nvSpPr>
        <p:spPr>
          <a:xfrm rot="10800000">
            <a:off x="416965" y="17269"/>
            <a:ext cx="4347539" cy="616875"/>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ED27114-8888-EAEF-D411-7A80984E12C5}"/>
              </a:ext>
            </a:extLst>
          </p:cNvPr>
          <p:cNvSpPr txBox="1"/>
          <p:nvPr/>
        </p:nvSpPr>
        <p:spPr>
          <a:xfrm>
            <a:off x="596900" y="22206"/>
            <a:ext cx="3984725" cy="584775"/>
          </a:xfrm>
          <a:prstGeom prst="rect">
            <a:avLst/>
          </a:prstGeom>
          <a:noFill/>
        </p:spPr>
        <p:txBody>
          <a:bodyPr wrap="square" rtlCol="0">
            <a:spAutoFit/>
          </a:bodyPr>
          <a:lstStyle/>
          <a:p>
            <a:pPr algn="ctr"/>
            <a:r>
              <a:rPr lang="en-US" altLang="zh-CN" sz="3200" b="1" dirty="0">
                <a:effectLst>
                  <a:outerShdw blurRad="38100" dist="38100" dir="2700000" algn="tl">
                    <a:srgbClr val="000000">
                      <a:alpha val="43137"/>
                    </a:srgbClr>
                  </a:outerShdw>
                </a:effectLst>
                <a:latin typeface="High Tower Text" panose="02040502050506030303" pitchFamily="18" charset="0"/>
              </a:rPr>
              <a:t>Regression Analysis</a:t>
            </a:r>
            <a:endParaRPr lang="zh-CN" altLang="en-US" sz="3200" b="1" dirty="0">
              <a:effectLst>
                <a:outerShdw blurRad="38100" dist="38100" dir="2700000" algn="tl">
                  <a:srgbClr val="000000">
                    <a:alpha val="43137"/>
                  </a:srgbClr>
                </a:outerShdw>
              </a:effectLst>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A620FEF2-019E-4B08-FA92-186528199B1B}"/>
              </a:ext>
            </a:extLst>
          </p:cNvPr>
          <p:cNvGraphicFramePr>
            <a:graphicFrameLocks noGrp="1"/>
          </p:cNvGraphicFramePr>
          <p:nvPr>
            <p:extLst>
              <p:ext uri="{D42A27DB-BD31-4B8C-83A1-F6EECF244321}">
                <p14:modId xmlns:p14="http://schemas.microsoft.com/office/powerpoint/2010/main" val="2806116443"/>
              </p:ext>
            </p:extLst>
          </p:nvPr>
        </p:nvGraphicFramePr>
        <p:xfrm>
          <a:off x="1188720" y="1354795"/>
          <a:ext cx="4528686" cy="2117560"/>
        </p:xfrm>
        <a:graphic>
          <a:graphicData uri="http://schemas.openxmlformats.org/drawingml/2006/table">
            <a:tbl>
              <a:tblPr/>
              <a:tblGrid>
                <a:gridCol w="1509562">
                  <a:extLst>
                    <a:ext uri="{9D8B030D-6E8A-4147-A177-3AD203B41FA5}">
                      <a16:colId xmlns:a16="http://schemas.microsoft.com/office/drawing/2014/main" val="20000"/>
                    </a:ext>
                  </a:extLst>
                </a:gridCol>
                <a:gridCol w="1509562">
                  <a:extLst>
                    <a:ext uri="{9D8B030D-6E8A-4147-A177-3AD203B41FA5}">
                      <a16:colId xmlns:a16="http://schemas.microsoft.com/office/drawing/2014/main" val="20001"/>
                    </a:ext>
                  </a:extLst>
                </a:gridCol>
                <a:gridCol w="1509562">
                  <a:extLst>
                    <a:ext uri="{9D8B030D-6E8A-4147-A177-3AD203B41FA5}">
                      <a16:colId xmlns:a16="http://schemas.microsoft.com/office/drawing/2014/main" val="20002"/>
                    </a:ext>
                  </a:extLst>
                </a:gridCol>
              </a:tblGrid>
              <a:tr h="52939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Validation</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Test</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0.7326</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1.1081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1.1527</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1.7732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R²</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0.9472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0.8961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
        <p:nvSpPr>
          <p:cNvPr id="12" name="文本框 11">
            <a:extLst>
              <a:ext uri="{FF2B5EF4-FFF2-40B4-BE49-F238E27FC236}">
                <a16:creationId xmlns:a16="http://schemas.microsoft.com/office/drawing/2014/main" id="{898A3867-3C96-7E48-77E2-0646E3CF7DE2}"/>
              </a:ext>
            </a:extLst>
          </p:cNvPr>
          <p:cNvSpPr txBox="1"/>
          <p:nvPr/>
        </p:nvSpPr>
        <p:spPr>
          <a:xfrm>
            <a:off x="537633" y="4220169"/>
            <a:ext cx="6184900" cy="1477328"/>
          </a:xfrm>
          <a:prstGeom prst="rect">
            <a:avLst/>
          </a:prstGeom>
          <a:noFill/>
        </p:spPr>
        <p:txBody>
          <a:bodyPr wrap="square">
            <a:spAutoFit/>
          </a:bodyPr>
          <a:lstStyle/>
          <a:p>
            <a:pPr marL="342900" indent="-342900">
              <a:spcAft>
                <a:spcPts val="600"/>
              </a:spcAft>
              <a:buFont typeface="Wingdings" panose="05000000000000000000" pitchFamily="2" charset="2"/>
              <a:buChar char="u"/>
            </a:pPr>
            <a:r>
              <a:rPr lang="en-US" altLang="zh-CN" sz="2000" dirty="0">
                <a:solidFill>
                  <a:srgbClr val="030A18"/>
                </a:solidFill>
                <a:latin typeface="Times New Roman" panose="02020603050405020304" pitchFamily="18" charset="0"/>
                <a:cs typeface="Times New Roman" panose="02020603050405020304" pitchFamily="18" charset="0"/>
              </a:rPr>
              <a:t>Strong performance with high R² on validation and test.
Low MAE(</a:t>
            </a:r>
            <a:r>
              <a:rPr lang="en-US" altLang="zh-CN" dirty="0">
                <a:latin typeface="Times New Roman" panose="02020603050405020304" pitchFamily="18" charset="0"/>
                <a:cs typeface="Times New Roman" panose="02020603050405020304" pitchFamily="18" charset="0"/>
              </a:rPr>
              <a:t>Mean Absolute Error</a:t>
            </a:r>
            <a:r>
              <a:rPr lang="en-US" altLang="zh-CN" sz="2000" dirty="0">
                <a:solidFill>
                  <a:srgbClr val="030A18"/>
                </a:solidFill>
                <a:latin typeface="Times New Roman" panose="02020603050405020304" pitchFamily="18" charset="0"/>
                <a:cs typeface="Times New Roman" panose="02020603050405020304" pitchFamily="18" charset="0"/>
              </a:rPr>
              <a:t>) and RMSE(</a:t>
            </a:r>
            <a:r>
              <a:rPr lang="en-US" altLang="zh-CN" dirty="0">
                <a:latin typeface="Times New Roman" panose="02020603050405020304" pitchFamily="18" charset="0"/>
                <a:cs typeface="Times New Roman" panose="02020603050405020304" pitchFamily="18" charset="0"/>
              </a:rPr>
              <a:t>Root Mean Square Error</a:t>
            </a:r>
            <a:r>
              <a:rPr lang="en-US" altLang="zh-CN" sz="2000" dirty="0">
                <a:solidFill>
                  <a:srgbClr val="030A18"/>
                </a:solidFill>
                <a:latin typeface="Times New Roman" panose="02020603050405020304" pitchFamily="18" charset="0"/>
                <a:cs typeface="Times New Roman" panose="02020603050405020304" pitchFamily="18" charset="0"/>
              </a:rPr>
              <a:t>) indicate accurate interest rate predictions.</a:t>
            </a:r>
          </a:p>
          <a:p>
            <a:pPr marL="342900" indent="-342900">
              <a:spcAft>
                <a:spcPts val="600"/>
              </a:spcAft>
              <a:buFont typeface="Wingdings" panose="05000000000000000000" pitchFamily="2" charset="2"/>
              <a:buChar char="u"/>
            </a:pPr>
            <a:r>
              <a:rPr lang="en-US" altLang="zh-CN" sz="2000" dirty="0">
                <a:solidFill>
                  <a:srgbClr val="030A18"/>
                </a:solidFill>
                <a:latin typeface="Times New Roman" panose="02020603050405020304" pitchFamily="18" charset="0"/>
                <a:cs typeface="Times New Roman" panose="02020603050405020304" pitchFamily="18" charset="0"/>
              </a:rPr>
              <a:t>Further tuning may reduce residual variance.</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9CEF9679-469B-03B4-597D-B642660B3836}"/>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4</a:t>
            </a:r>
            <a:endParaRPr lang="zh-CN" altLang="en-US" b="1" dirty="0"/>
          </a:p>
        </p:txBody>
      </p:sp>
      <p:pic>
        <p:nvPicPr>
          <p:cNvPr id="9" name="图片 8">
            <a:extLst>
              <a:ext uri="{FF2B5EF4-FFF2-40B4-BE49-F238E27FC236}">
                <a16:creationId xmlns:a16="http://schemas.microsoft.com/office/drawing/2014/main" id="{7C2634CE-513A-B278-51E5-612575C9C8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6342" y="858670"/>
            <a:ext cx="4463875" cy="4463875"/>
          </a:xfrm>
          <a:prstGeom prst="rect">
            <a:avLst/>
          </a:prstGeom>
        </p:spPr>
      </p:pic>
      <p:sp>
        <p:nvSpPr>
          <p:cNvPr id="8" name="矩形: 对角圆角 7">
            <a:extLst>
              <a:ext uri="{FF2B5EF4-FFF2-40B4-BE49-F238E27FC236}">
                <a16:creationId xmlns:a16="http://schemas.microsoft.com/office/drawing/2014/main" id="{C95BA4DC-E633-9BCF-E569-ACBFCF247A77}"/>
              </a:ext>
            </a:extLst>
          </p:cNvPr>
          <p:cNvSpPr/>
          <p:nvPr/>
        </p:nvSpPr>
        <p:spPr>
          <a:xfrm>
            <a:off x="866340" y="635555"/>
            <a:ext cx="3445843" cy="441047"/>
          </a:xfrm>
          <a:prstGeom prst="round2DiagRect">
            <a:avLst>
              <a:gd name="adj1" fmla="val 0"/>
              <a:gd name="adj2"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effectLst>
                  <a:outerShdw blurRad="38100" dist="38100" dir="2700000" algn="tl">
                    <a:srgbClr val="000000">
                      <a:alpha val="43137"/>
                    </a:srgbClr>
                  </a:outerShdw>
                </a:effectLst>
                <a:latin typeface="High Tower Text" panose="02040502050506030303" pitchFamily="18" charset="0"/>
              </a:rPr>
              <a:t>Predicting Interest Rate</a:t>
            </a:r>
            <a:endParaRPr lang="zh-CN" altLang="en-US" dirty="0">
              <a:solidFill>
                <a:schemeClr val="tx1"/>
              </a:solidFill>
            </a:endParaRPr>
          </a:p>
        </p:txBody>
      </p:sp>
    </p:spTree>
    <p:extLst>
      <p:ext uri="{BB962C8B-B14F-4D97-AF65-F5344CB8AC3E}">
        <p14:creationId xmlns:p14="http://schemas.microsoft.com/office/powerpoint/2010/main" val="135222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单圆角 17">
            <a:extLst>
              <a:ext uri="{FF2B5EF4-FFF2-40B4-BE49-F238E27FC236}">
                <a16:creationId xmlns:a16="http://schemas.microsoft.com/office/drawing/2014/main" id="{7FFBA8FF-4225-43AD-2AF1-5725F285F26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1FA688B3-C43D-E846-6A29-E712C91C69AC}"/>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20" name="文本框 19">
            <a:extLst>
              <a:ext uri="{FF2B5EF4-FFF2-40B4-BE49-F238E27FC236}">
                <a16:creationId xmlns:a16="http://schemas.microsoft.com/office/drawing/2014/main" id="{06E3D56D-8E95-EDD3-3C61-5AA3BD63B4F4}"/>
              </a:ext>
            </a:extLst>
          </p:cNvPr>
          <p:cNvSpPr txBox="1"/>
          <p:nvPr/>
        </p:nvSpPr>
        <p:spPr>
          <a:xfrm>
            <a:off x="240846" y="6359979"/>
            <a:ext cx="389512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dirty="0">
                <a:solidFill>
                  <a:srgbClr val="030A18"/>
                </a:solidFill>
                <a:effectLst>
                  <a:outerShdw blurRad="38100" dist="38100" dir="2700000" algn="tl">
                    <a:srgbClr val="000000">
                      <a:alpha val="43137"/>
                    </a:srgbClr>
                  </a:outerShdw>
                </a:effectLst>
                <a:latin typeface="Arial" pitchFamily="34" charset="0"/>
                <a:cs typeface="Arial" pitchFamily="34" charset="-120"/>
              </a:rPr>
              <a:t>Diagnostics</a:t>
            </a:r>
            <a:endParaRPr lang="zh-CN" altLang="en-US" dirty="0">
              <a:effectLst>
                <a:outerShdw blurRad="38100" dist="38100" dir="2700000" algn="tl">
                  <a:srgbClr val="000000">
                    <a:alpha val="43137"/>
                  </a:srgbClr>
                </a:outerShdw>
              </a:effectLst>
            </a:endParaRPr>
          </a:p>
        </p:txBody>
      </p:sp>
      <p:sp>
        <p:nvSpPr>
          <p:cNvPr id="27" name="文本框 26">
            <a:extLst>
              <a:ext uri="{FF2B5EF4-FFF2-40B4-BE49-F238E27FC236}">
                <a16:creationId xmlns:a16="http://schemas.microsoft.com/office/drawing/2014/main" id="{61E50DC4-CC6D-2F7A-E505-C2623666063B}"/>
              </a:ext>
            </a:extLst>
          </p:cNvPr>
          <p:cNvSpPr txBox="1"/>
          <p:nvPr/>
        </p:nvSpPr>
        <p:spPr>
          <a:xfrm>
            <a:off x="366209" y="1424912"/>
            <a:ext cx="6279918" cy="2831544"/>
          </a:xfrm>
          <a:prstGeom prst="rect">
            <a:avLst/>
          </a:prstGeom>
          <a:noFill/>
        </p:spPr>
        <p:txBody>
          <a:bodyPr wrap="square">
            <a:spAutoFit/>
          </a:bodyPr>
          <a:lstStyle/>
          <a:p>
            <a:pPr marL="0" indent="0">
              <a:spcAft>
                <a:spcPts val="600"/>
              </a:spcAft>
              <a:buNone/>
            </a:pPr>
            <a:r>
              <a:rPr lang="en-US" altLang="zh-CN" sz="2800" dirty="0">
                <a:solidFill>
                  <a:srgbClr val="030A18"/>
                </a:solidFill>
                <a:latin typeface="Times New Roman" panose="02020603050405020304" pitchFamily="18" charset="0"/>
                <a:cs typeface="Times New Roman" panose="02020603050405020304" pitchFamily="18" charset="0"/>
              </a:rPr>
              <a:t>• R² values of 0.947 (Val) and 0.896 (test) demonstrate excellent goodness‑of‑fit.
• Residuals cluster tightly around zero, indicating low bias and homoscedasticity.
• A few outliers and moderate skew suggest opportunities for further tuning.</a:t>
            </a:r>
            <a:endParaRPr lang="en-US" altLang="zh-CN" sz="28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2AA11D52-1A1D-7EC3-DA95-0765B984B05A}"/>
              </a:ext>
            </a:extLst>
          </p:cNvPr>
          <p:cNvSpPr txBox="1"/>
          <p:nvPr/>
        </p:nvSpPr>
        <p:spPr>
          <a:xfrm>
            <a:off x="2951889" y="6332815"/>
            <a:ext cx="6155356" cy="369332"/>
          </a:xfrm>
          <a:prstGeom prst="rect">
            <a:avLst/>
          </a:prstGeom>
          <a:noFill/>
        </p:spPr>
        <p:txBody>
          <a:bodyPr wrap="square">
            <a:spAutoFit/>
          </a:bodyPr>
          <a:lstStyle/>
          <a:p>
            <a:pPr algn="ctr"/>
            <a:r>
              <a:rPr lang="en-US" altLang="zh-CN" b="1" dirty="0"/>
              <a:t>Page 5</a:t>
            </a:r>
            <a:endParaRPr lang="zh-CN" altLang="en-US" b="1" dirty="0"/>
          </a:p>
        </p:txBody>
      </p:sp>
      <p:pic>
        <p:nvPicPr>
          <p:cNvPr id="3074" name="Picture 2">
            <a:extLst>
              <a:ext uri="{FF2B5EF4-FFF2-40B4-BE49-F238E27FC236}">
                <a16:creationId xmlns:a16="http://schemas.microsoft.com/office/drawing/2014/main" id="{08E8E543-B7A9-32FC-519C-0CE95FFD6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7488" y="1044693"/>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顶角 5">
            <a:extLst>
              <a:ext uri="{FF2B5EF4-FFF2-40B4-BE49-F238E27FC236}">
                <a16:creationId xmlns:a16="http://schemas.microsoft.com/office/drawing/2014/main" id="{BFA776BB-DA50-7BAB-D28D-6E052BB5BC02}"/>
              </a:ext>
            </a:extLst>
          </p:cNvPr>
          <p:cNvSpPr/>
          <p:nvPr/>
        </p:nvSpPr>
        <p:spPr>
          <a:xfrm rot="10800000">
            <a:off x="416965" y="17269"/>
            <a:ext cx="4347539" cy="616875"/>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59A3E8C-0758-4F99-0420-CBAA66A544F0}"/>
              </a:ext>
            </a:extLst>
          </p:cNvPr>
          <p:cNvSpPr txBox="1"/>
          <p:nvPr/>
        </p:nvSpPr>
        <p:spPr>
          <a:xfrm>
            <a:off x="596900" y="22206"/>
            <a:ext cx="3984725" cy="584775"/>
          </a:xfrm>
          <a:prstGeom prst="rect">
            <a:avLst/>
          </a:prstGeom>
          <a:noFill/>
        </p:spPr>
        <p:txBody>
          <a:bodyPr wrap="square" rtlCol="0">
            <a:spAutoFit/>
          </a:bodyPr>
          <a:lstStyle/>
          <a:p>
            <a:pPr algn="ctr"/>
            <a:r>
              <a:rPr lang="en-US" altLang="zh-CN" sz="3200" b="1" dirty="0">
                <a:effectLst>
                  <a:outerShdw blurRad="38100" dist="38100" dir="2700000" algn="tl">
                    <a:srgbClr val="000000">
                      <a:alpha val="43137"/>
                    </a:srgbClr>
                  </a:outerShdw>
                </a:effectLst>
                <a:latin typeface="High Tower Text" panose="02040502050506030303" pitchFamily="18" charset="0"/>
              </a:rPr>
              <a:t>Regression Analysis</a:t>
            </a:r>
            <a:endParaRPr lang="zh-CN" altLang="en-US" sz="3200" b="1" dirty="0">
              <a:effectLst>
                <a:outerShdw blurRad="38100" dist="38100" dir="2700000" algn="tl">
                  <a:srgbClr val="000000">
                    <a:alpha val="43137"/>
                  </a:srgbClr>
                </a:outerShdw>
              </a:effectLst>
              <a:latin typeface="High Tower Text" panose="02040502050506030303" pitchFamily="18" charset="0"/>
            </a:endParaRPr>
          </a:p>
        </p:txBody>
      </p:sp>
      <p:sp>
        <p:nvSpPr>
          <p:cNvPr id="8" name="矩形: 对角圆角 7">
            <a:extLst>
              <a:ext uri="{FF2B5EF4-FFF2-40B4-BE49-F238E27FC236}">
                <a16:creationId xmlns:a16="http://schemas.microsoft.com/office/drawing/2014/main" id="{A923E5A1-55D3-5C3A-EF90-56AD5C19D359}"/>
              </a:ext>
            </a:extLst>
          </p:cNvPr>
          <p:cNvSpPr/>
          <p:nvPr/>
        </p:nvSpPr>
        <p:spPr>
          <a:xfrm>
            <a:off x="866340" y="635555"/>
            <a:ext cx="3445843" cy="441047"/>
          </a:xfrm>
          <a:prstGeom prst="round2DiagRect">
            <a:avLst>
              <a:gd name="adj1" fmla="val 0"/>
              <a:gd name="adj2" fmla="val 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30A18"/>
                </a:solidFill>
                <a:effectLst>
                  <a:outerShdw blurRad="38100" dist="38100" dir="2700000" algn="tl">
                    <a:srgbClr val="000000">
                      <a:alpha val="43137"/>
                    </a:srgbClr>
                  </a:outerShdw>
                </a:effectLst>
                <a:latin typeface="High Tower Text" panose="02040502050506030303" pitchFamily="18" charset="0"/>
                <a:cs typeface="Arial" pitchFamily="34" charset="-120"/>
              </a:rPr>
              <a:t>Diagnostics</a:t>
            </a:r>
            <a:endParaRPr lang="zh-CN" altLang="en-US" dirty="0">
              <a:solidFill>
                <a:schemeClr val="tx1"/>
              </a:solidFill>
              <a:latin typeface="High Tower Text" panose="02040502050506030303" pitchFamily="18" charset="0"/>
            </a:endParaRPr>
          </a:p>
        </p:txBody>
      </p:sp>
    </p:spTree>
    <p:extLst>
      <p:ext uri="{BB962C8B-B14F-4D97-AF65-F5344CB8AC3E}">
        <p14:creationId xmlns:p14="http://schemas.microsoft.com/office/powerpoint/2010/main" val="1667762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A2418271-7F61-1A4E-8E0C-9BED083EB8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B94A5B-47E3-0D6D-F4A0-702AB69B550D}"/>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449F9102-ED62-387E-A44B-9E26645A17EE}"/>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551B681-5FFE-1A39-B598-8B919533C5AA}"/>
              </a:ext>
            </a:extLst>
          </p:cNvPr>
          <p:cNvSpPr/>
          <p:nvPr/>
        </p:nvSpPr>
        <p:spPr>
          <a:xfrm rot="10800000">
            <a:off x="416966" y="17270"/>
            <a:ext cx="4300000"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C3BA730-0E15-5ED3-8C44-BA200B0EDB2E}"/>
              </a:ext>
            </a:extLst>
          </p:cNvPr>
          <p:cNvSpPr txBox="1"/>
          <p:nvPr/>
        </p:nvSpPr>
        <p:spPr>
          <a:xfrm>
            <a:off x="416965" y="22206"/>
            <a:ext cx="430000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Results</a:t>
            </a:r>
            <a:endParaRPr lang="zh-CN" altLang="en-US" sz="2000" b="1" dirty="0">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153F181A-24F6-6F2F-E2B0-646BE1BDDA3C}"/>
              </a:ext>
            </a:extLst>
          </p:cNvPr>
          <p:cNvGraphicFramePr>
            <a:graphicFrameLocks noGrp="1"/>
          </p:cNvGraphicFramePr>
          <p:nvPr>
            <p:extLst>
              <p:ext uri="{D42A27DB-BD31-4B8C-83A1-F6EECF244321}">
                <p14:modId xmlns:p14="http://schemas.microsoft.com/office/powerpoint/2010/main" val="2402866342"/>
              </p:ext>
            </p:extLst>
          </p:nvPr>
        </p:nvGraphicFramePr>
        <p:xfrm>
          <a:off x="1217712" y="999277"/>
          <a:ext cx="4067966" cy="2765500"/>
        </p:xfrm>
        <a:graphic>
          <a:graphicData uri="http://schemas.openxmlformats.org/drawingml/2006/table">
            <a:tbl>
              <a:tblPr/>
              <a:tblGrid>
                <a:gridCol w="2033983">
                  <a:extLst>
                    <a:ext uri="{9D8B030D-6E8A-4147-A177-3AD203B41FA5}">
                      <a16:colId xmlns:a16="http://schemas.microsoft.com/office/drawing/2014/main" val="20000"/>
                    </a:ext>
                  </a:extLst>
                </a:gridCol>
                <a:gridCol w="2033983">
                  <a:extLst>
                    <a:ext uri="{9D8B030D-6E8A-4147-A177-3AD203B41FA5}">
                      <a16:colId xmlns:a16="http://schemas.microsoft.com/office/drawing/2014/main" val="20001"/>
                    </a:ext>
                  </a:extLst>
                </a:gridCol>
              </a:tblGrid>
              <a:tr h="55310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Score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0.5738</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Macro</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0.3831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Weighted</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0.5513</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AUC (ovr)</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0.8475</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文本框 12">
            <a:extLst>
              <a:ext uri="{FF2B5EF4-FFF2-40B4-BE49-F238E27FC236}">
                <a16:creationId xmlns:a16="http://schemas.microsoft.com/office/drawing/2014/main" id="{9CDC85D2-17BC-CDA7-0F6D-AAC41DD33165}"/>
              </a:ext>
            </a:extLst>
          </p:cNvPr>
          <p:cNvSpPr txBox="1"/>
          <p:nvPr/>
        </p:nvSpPr>
        <p:spPr>
          <a:xfrm>
            <a:off x="631035" y="4157073"/>
            <a:ext cx="6161048" cy="1785104"/>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Reasonable accuracy but macro F1 reveals class imbalance
• Weighted F1 is higher, reflecting skewed label distribution
• AUC of 0.848 indicates good discriminative power</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17894C48-F663-5546-2DC4-0685A85EAFA0}"/>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6</a:t>
            </a:r>
            <a:endParaRPr lang="zh-CN" altLang="en-US" b="1" dirty="0"/>
          </a:p>
        </p:txBody>
      </p:sp>
      <p:pic>
        <p:nvPicPr>
          <p:cNvPr id="4100" name="Picture 4">
            <a:extLst>
              <a:ext uri="{FF2B5EF4-FFF2-40B4-BE49-F238E27FC236}">
                <a16:creationId xmlns:a16="http://schemas.microsoft.com/office/drawing/2014/main" id="{7A4C4FB9-0B4D-4D57-A00C-201D875477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03" r="13017" b="-778"/>
          <a:stretch>
            <a:fillRect/>
          </a:stretch>
        </p:blipFill>
        <p:spPr bwMode="auto">
          <a:xfrm>
            <a:off x="6191764" y="314089"/>
            <a:ext cx="5583270" cy="5628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791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DCAB2744-B04E-5E69-E964-39F57A5E6DC5}"/>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F6859C4-E1D0-EE3D-9FF1-D836A988DC55}"/>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B333751B-2287-774D-7989-CAFF0E88735A}"/>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AE9280C-6B5A-51F7-EE6D-81C392072E94}"/>
              </a:ext>
            </a:extLst>
          </p:cNvPr>
          <p:cNvSpPr/>
          <p:nvPr/>
        </p:nvSpPr>
        <p:spPr>
          <a:xfrm rot="10800000">
            <a:off x="416966" y="17270"/>
            <a:ext cx="5548936"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149C404-385C-86C4-AE7A-8509F7E819EE}"/>
              </a:ext>
            </a:extLst>
          </p:cNvPr>
          <p:cNvSpPr txBox="1"/>
          <p:nvPr/>
        </p:nvSpPr>
        <p:spPr>
          <a:xfrm>
            <a:off x="271999" y="17269"/>
            <a:ext cx="5838869"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ROC &amp; Insights</a:t>
            </a:r>
            <a:endParaRPr lang="zh-CN" altLang="en-US" sz="2000" b="1" dirty="0">
              <a:latin typeface="High Tower Text" panose="02040502050506030303" pitchFamily="18" charset="0"/>
            </a:endParaRPr>
          </a:p>
        </p:txBody>
      </p:sp>
      <p:sp>
        <p:nvSpPr>
          <p:cNvPr id="11" name="文本框 10">
            <a:extLst>
              <a:ext uri="{FF2B5EF4-FFF2-40B4-BE49-F238E27FC236}">
                <a16:creationId xmlns:a16="http://schemas.microsoft.com/office/drawing/2014/main" id="{B15284A0-841C-F0C2-0107-8D2DD4281F70}"/>
              </a:ext>
            </a:extLst>
          </p:cNvPr>
          <p:cNvSpPr txBox="1"/>
          <p:nvPr/>
        </p:nvSpPr>
        <p:spPr>
          <a:xfrm>
            <a:off x="416966" y="1322928"/>
            <a:ext cx="6969513" cy="3647152"/>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cs typeface="Times New Roman" panose="02020603050405020304" pitchFamily="18" charset="0"/>
              </a:rPr>
              <a:t>• ROC curve shows AUC = 0.936, indicating strong discrimination
• Threshold chosen using Youden's J statistic to balance sensitivity &amp; specificity
• PR curve analysis highlights precision–recall trade‑offs in imbalanced data
• Insights: high‑risk groups include younger borrowers with lower income; larger loans increase default risk; poor credit history strongly predicts defaults</a:t>
            </a:r>
            <a:endParaRPr lang="en-US" altLang="zh-CN" sz="2400" dirty="0">
              <a:latin typeface="Times New Roman" panose="02020603050405020304" pitchFamily="18" charset="0"/>
              <a:cs typeface="Times New Roman" panose="02020603050405020304" pitchFamily="18" charset="0"/>
            </a:endParaRPr>
          </a:p>
        </p:txBody>
      </p:sp>
      <p:pic>
        <p:nvPicPr>
          <p:cNvPr id="12" name="Image 0" descr="/home/oai/share/cached_assets_used/roc_curve_agent.png">
            <a:extLst>
              <a:ext uri="{FF2B5EF4-FFF2-40B4-BE49-F238E27FC236}">
                <a16:creationId xmlns:a16="http://schemas.microsoft.com/office/drawing/2014/main" id="{0F361EDA-BB59-BB3E-8456-BB165E6BE795}"/>
              </a:ext>
            </a:extLst>
          </p:cNvPr>
          <p:cNvPicPr>
            <a:picLocks noChangeAspect="1"/>
          </p:cNvPicPr>
          <p:nvPr/>
        </p:nvPicPr>
        <p:blipFill>
          <a:blip r:embed="rId3"/>
          <a:stretch>
            <a:fillRect/>
          </a:stretch>
        </p:blipFill>
        <p:spPr>
          <a:xfrm>
            <a:off x="7386479" y="1070516"/>
            <a:ext cx="4485607" cy="4538967"/>
          </a:xfrm>
          <a:prstGeom prst="rect">
            <a:avLst/>
          </a:prstGeom>
        </p:spPr>
      </p:pic>
      <p:sp>
        <p:nvSpPr>
          <p:cNvPr id="7" name="文本框 6">
            <a:extLst>
              <a:ext uri="{FF2B5EF4-FFF2-40B4-BE49-F238E27FC236}">
                <a16:creationId xmlns:a16="http://schemas.microsoft.com/office/drawing/2014/main" id="{ECDB9BD2-F04C-84A8-2350-C334C6C0F5B5}"/>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7</a:t>
            </a:r>
            <a:endParaRPr lang="zh-CN" altLang="en-US" b="1" dirty="0"/>
          </a:p>
        </p:txBody>
      </p:sp>
    </p:spTree>
    <p:extLst>
      <p:ext uri="{BB962C8B-B14F-4D97-AF65-F5344CB8AC3E}">
        <p14:creationId xmlns:p14="http://schemas.microsoft.com/office/powerpoint/2010/main" val="1949124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12540D05-B278-F3F7-3CC7-7CBC4FBA9BB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F84016E-946C-DC04-B0B4-F76C0E47478B}"/>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668636B9-F556-8D03-8038-6396D7D16D8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Clustering Analysis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FA072F5-C520-6202-651A-90A5CB3E5943}"/>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4F20C0A-E0FD-2BD2-39CE-2CCD1CD2A322}"/>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Clustering Analysis</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D7A33C1F-C9F2-AF16-606D-81588F936F2E}"/>
              </a:ext>
            </a:extLst>
          </p:cNvPr>
          <p:cNvSpPr txBox="1"/>
          <p:nvPr/>
        </p:nvSpPr>
        <p:spPr>
          <a:xfrm>
            <a:off x="538046" y="1505404"/>
            <a:ext cx="6520676" cy="3277820"/>
          </a:xfrm>
          <a:prstGeom prst="rect">
            <a:avLst/>
          </a:prstGeom>
          <a:noFill/>
        </p:spPr>
        <p:txBody>
          <a:bodyPr wrap="square">
            <a:spAutoFit/>
          </a:bodyPr>
          <a:lstStyle/>
          <a:p>
            <a:pPr marL="342900" indent="-342900">
              <a:spcAft>
                <a:spcPts val="600"/>
              </a:spcAft>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rPr>
              <a:t>Silhouette scores peak at k=2 (≈0.22), suggesting two distinct clusters
Cluster 0: smaller loans (~$13K), moderate incomes (~$70K) and ~20 total accounts
Cluster 1: larger loans (~$18K), higher incomes (~$92K) and ~35 total accounts
Segmentation enables tailored risk strategies and product offerings</a:t>
            </a:r>
            <a:endParaRPr lang="en-US" altLang="zh-CN" sz="2400" dirty="0">
              <a:latin typeface="Times New Roman" panose="02020603050405020304" pitchFamily="18" charset="0"/>
              <a:cs typeface="Times New Roman" panose="02020603050405020304" pitchFamily="18" charset="0"/>
            </a:endParaRPr>
          </a:p>
        </p:txBody>
      </p:sp>
      <p:pic>
        <p:nvPicPr>
          <p:cNvPr id="11" name="Image 0" descr="/home/oai/share/cached_assets_used/silhouette.png">
            <a:extLst>
              <a:ext uri="{FF2B5EF4-FFF2-40B4-BE49-F238E27FC236}">
                <a16:creationId xmlns:a16="http://schemas.microsoft.com/office/drawing/2014/main" id="{8468A728-2E3F-3B22-A3FC-A19A7D14F2E7}"/>
              </a:ext>
            </a:extLst>
          </p:cNvPr>
          <p:cNvPicPr>
            <a:picLocks noChangeAspect="1"/>
          </p:cNvPicPr>
          <p:nvPr/>
        </p:nvPicPr>
        <p:blipFill>
          <a:blip r:embed="rId3"/>
          <a:stretch>
            <a:fillRect/>
          </a:stretch>
        </p:blipFill>
        <p:spPr>
          <a:xfrm>
            <a:off x="6846618" y="1249877"/>
            <a:ext cx="5098569" cy="3823927"/>
          </a:xfrm>
          <a:prstGeom prst="rect">
            <a:avLst/>
          </a:prstGeom>
        </p:spPr>
      </p:pic>
      <p:sp>
        <p:nvSpPr>
          <p:cNvPr id="7" name="文本框 6">
            <a:extLst>
              <a:ext uri="{FF2B5EF4-FFF2-40B4-BE49-F238E27FC236}">
                <a16:creationId xmlns:a16="http://schemas.microsoft.com/office/drawing/2014/main" id="{C68C0D50-9CF2-1EB8-9C13-EDEA111994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8</a:t>
            </a:r>
            <a:endParaRPr lang="zh-CN" altLang="en-US" b="1" dirty="0"/>
          </a:p>
        </p:txBody>
      </p:sp>
    </p:spTree>
    <p:extLst>
      <p:ext uri="{BB962C8B-B14F-4D97-AF65-F5344CB8AC3E}">
        <p14:creationId xmlns:p14="http://schemas.microsoft.com/office/powerpoint/2010/main" val="355148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5066305E-DA98-F869-9E6B-0502689BD03F}"/>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EFB0480-C334-0851-76D7-36CE31498F23}"/>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83F8A372-56F6-9090-9BDF-8B2DD87D834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Risk Analysis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C86AD138-6B80-CA18-CFEB-1215F75A8A3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C6DC2E1-31B7-0811-55FD-8A62AE2005B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9</a:t>
            </a:r>
            <a:endParaRPr lang="zh-CN" altLang="en-US" b="1" dirty="0"/>
          </a:p>
        </p:txBody>
      </p:sp>
      <p:sp>
        <p:nvSpPr>
          <p:cNvPr id="7" name="文本框 6">
            <a:extLst>
              <a:ext uri="{FF2B5EF4-FFF2-40B4-BE49-F238E27FC236}">
                <a16:creationId xmlns:a16="http://schemas.microsoft.com/office/drawing/2014/main" id="{FE3C4DC9-D5CB-6BA4-E591-A0F0A52E1CB8}"/>
              </a:ext>
            </a:extLst>
          </p:cNvPr>
          <p:cNvSpPr txBox="1"/>
          <p:nvPr/>
        </p:nvSpPr>
        <p:spPr>
          <a:xfrm>
            <a:off x="748143" y="-11771"/>
            <a:ext cx="2951354" cy="584775"/>
          </a:xfrm>
          <a:prstGeom prst="rect">
            <a:avLst/>
          </a:prstGeom>
          <a:noFill/>
        </p:spPr>
        <p:txBody>
          <a:bodyPr wrap="square" rtlCol="0">
            <a:spAutoFit/>
          </a:bodyPr>
          <a:lstStyle/>
          <a:p>
            <a:pPr algn="ctr"/>
            <a:r>
              <a:rPr lang="en-US" altLang="zh-CN" sz="3200" b="1" dirty="0">
                <a:latin typeface="High Tower Text" panose="02040502050506030303" pitchFamily="18" charset="0"/>
              </a:rPr>
              <a:t>Risk analysis</a:t>
            </a:r>
            <a:endParaRPr lang="zh-CN" altLang="en-US" sz="3200" b="1" dirty="0">
              <a:latin typeface="High Tower Text" panose="02040502050506030303" pitchFamily="18" charset="0"/>
            </a:endParaRPr>
          </a:p>
        </p:txBody>
      </p:sp>
      <p:pic>
        <p:nvPicPr>
          <p:cNvPr id="6" name="图片 5">
            <a:extLst>
              <a:ext uri="{FF2B5EF4-FFF2-40B4-BE49-F238E27FC236}">
                <a16:creationId xmlns:a16="http://schemas.microsoft.com/office/drawing/2014/main" id="{CC2C409C-EA6D-A75E-2B05-B603C7A403EA}"/>
              </a:ext>
            </a:extLst>
          </p:cNvPr>
          <p:cNvPicPr>
            <a:picLocks noChangeAspect="1"/>
          </p:cNvPicPr>
          <p:nvPr/>
        </p:nvPicPr>
        <p:blipFill>
          <a:blip r:embed="rId3"/>
          <a:srcRect l="5774" t="8068" r="6629" b="486"/>
          <a:stretch>
            <a:fillRect/>
          </a:stretch>
        </p:blipFill>
        <p:spPr>
          <a:xfrm>
            <a:off x="661516" y="3578066"/>
            <a:ext cx="5548189" cy="2331268"/>
          </a:xfrm>
          <a:prstGeom prst="rect">
            <a:avLst/>
          </a:prstGeom>
        </p:spPr>
      </p:pic>
      <p:pic>
        <p:nvPicPr>
          <p:cNvPr id="8" name="图片 7">
            <a:extLst>
              <a:ext uri="{FF2B5EF4-FFF2-40B4-BE49-F238E27FC236}">
                <a16:creationId xmlns:a16="http://schemas.microsoft.com/office/drawing/2014/main" id="{ABC824E9-5C44-7856-998B-CD8EBC566CCA}"/>
              </a:ext>
            </a:extLst>
          </p:cNvPr>
          <p:cNvPicPr>
            <a:picLocks noChangeAspect="1"/>
          </p:cNvPicPr>
          <p:nvPr/>
        </p:nvPicPr>
        <p:blipFill>
          <a:blip r:embed="rId4"/>
          <a:stretch>
            <a:fillRect/>
          </a:stretch>
        </p:blipFill>
        <p:spPr>
          <a:xfrm>
            <a:off x="6627509" y="128689"/>
            <a:ext cx="5127589" cy="2473693"/>
          </a:xfrm>
          <a:prstGeom prst="rect">
            <a:avLst/>
          </a:prstGeom>
        </p:spPr>
      </p:pic>
      <p:pic>
        <p:nvPicPr>
          <p:cNvPr id="9" name="图片 8">
            <a:extLst>
              <a:ext uri="{FF2B5EF4-FFF2-40B4-BE49-F238E27FC236}">
                <a16:creationId xmlns:a16="http://schemas.microsoft.com/office/drawing/2014/main" id="{62A1EE93-8103-F237-0A4E-16817D72F6D0}"/>
              </a:ext>
            </a:extLst>
          </p:cNvPr>
          <p:cNvPicPr>
            <a:picLocks noChangeAspect="1"/>
          </p:cNvPicPr>
          <p:nvPr/>
        </p:nvPicPr>
        <p:blipFill>
          <a:blip r:embed="rId5"/>
          <a:stretch>
            <a:fillRect/>
          </a:stretch>
        </p:blipFill>
        <p:spPr>
          <a:xfrm>
            <a:off x="6655226" y="2785398"/>
            <a:ext cx="5127589" cy="3247383"/>
          </a:xfrm>
          <a:prstGeom prst="rect">
            <a:avLst/>
          </a:prstGeom>
        </p:spPr>
      </p:pic>
      <p:sp>
        <p:nvSpPr>
          <p:cNvPr id="13" name="文本框 12">
            <a:extLst>
              <a:ext uri="{FF2B5EF4-FFF2-40B4-BE49-F238E27FC236}">
                <a16:creationId xmlns:a16="http://schemas.microsoft.com/office/drawing/2014/main" id="{CAA0E127-615B-2539-0B5F-FD115C8F66D5}"/>
              </a:ext>
            </a:extLst>
          </p:cNvPr>
          <p:cNvSpPr txBox="1"/>
          <p:nvPr/>
        </p:nvSpPr>
        <p:spPr>
          <a:xfrm>
            <a:off x="409185" y="948666"/>
            <a:ext cx="6189044" cy="2585323"/>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Based on the dataset analysis, we will provide reference data for user financial risk analysis. To assist decision-makers, we have developed an online </a:t>
            </a:r>
            <a:r>
              <a:rPr lang="en-US" altLang="zh-CN" sz="2400" b="1" dirty="0">
                <a:latin typeface="Times New Roman" panose="02020603050405020304" pitchFamily="18" charset="0"/>
                <a:cs typeface="Times New Roman" panose="02020603050405020304" pitchFamily="18" charset="0"/>
              </a:rPr>
              <a:t>risk analysis dashboard</a:t>
            </a:r>
            <a:r>
              <a:rPr lang="en-US" altLang="zh-CN" sz="2400" dirty="0">
                <a:latin typeface="Times New Roman" panose="02020603050405020304" pitchFamily="18" charset="0"/>
                <a:cs typeface="Times New Roman" panose="02020603050405020304" pitchFamily="18" charset="0"/>
              </a:rPr>
              <a:t> that quickly identifies low-risk users and focuses on potential risks based on the latest assessment data.</a:t>
            </a:r>
          </a:p>
          <a:p>
            <a:pPr lvl="0" eaLnBrk="0" fontAlgn="base" hangingPunct="0">
              <a:spcBef>
                <a:spcPct val="0"/>
              </a:spcBef>
              <a:spcAft>
                <a:spcPct val="0"/>
              </a:spcAft>
            </a:pPr>
            <a:endParaRPr lang="zh-CN" altLang="zh-CN" dirty="0">
              <a:latin typeface="Arial" panose="020B0604020202020204" pitchFamily="34" charset="0"/>
            </a:endParaRPr>
          </a:p>
        </p:txBody>
      </p:sp>
    </p:spTree>
    <p:extLst>
      <p:ext uri="{BB962C8B-B14F-4D97-AF65-F5344CB8AC3E}">
        <p14:creationId xmlns:p14="http://schemas.microsoft.com/office/powerpoint/2010/main" val="2339553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
            <a:extLst>
              <a:ext uri="{FF2B5EF4-FFF2-40B4-BE49-F238E27FC236}">
                <a16:creationId xmlns:a16="http://schemas.microsoft.com/office/drawing/2014/main" id="{1B6827F4-4B08-9A97-E10F-30202BDB4561}"/>
              </a:ext>
            </a:extLst>
          </p:cNvPr>
          <p:cNvSpPr/>
          <p:nvPr/>
        </p:nvSpPr>
        <p:spPr>
          <a:xfrm>
            <a:off x="9326936"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2" name="Shape 1">
            <a:extLst>
              <a:ext uri="{FF2B5EF4-FFF2-40B4-BE49-F238E27FC236}">
                <a16:creationId xmlns:a16="http://schemas.microsoft.com/office/drawing/2014/main" id="{50A643B1-0CB4-A487-D197-26D48C84E616}"/>
              </a:ext>
            </a:extLst>
          </p:cNvPr>
          <p:cNvSpPr/>
          <p:nvPr/>
        </p:nvSpPr>
        <p:spPr>
          <a:xfrm>
            <a:off x="6569862"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 name="矩形: 单圆角 1">
            <a:extLst>
              <a:ext uri="{FF2B5EF4-FFF2-40B4-BE49-F238E27FC236}">
                <a16:creationId xmlns:a16="http://schemas.microsoft.com/office/drawing/2014/main" id="{61C6AEF4-9731-C631-866C-EAC365783AC1}"/>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D8AE798-126F-5ECA-5668-A399531007C1}"/>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74B9F4A0-00FB-763B-50B5-2E4BE9CF5DFA}"/>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Agent Workflow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4FDED339-78ED-0D99-1503-41FD6C438986}"/>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D1972C3-68FE-AEC3-82E0-08B445CB9AA4}"/>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Agent Workflow</a:t>
            </a:r>
            <a:endParaRPr lang="zh-CN" altLang="en-US" sz="2000" b="1" dirty="0">
              <a:latin typeface="High Tower Text" panose="02040502050506030303" pitchFamily="18" charset="0"/>
            </a:endParaRPr>
          </a:p>
        </p:txBody>
      </p:sp>
      <p:sp>
        <p:nvSpPr>
          <p:cNvPr id="9" name="Shape 1">
            <a:extLst>
              <a:ext uri="{FF2B5EF4-FFF2-40B4-BE49-F238E27FC236}">
                <a16:creationId xmlns:a16="http://schemas.microsoft.com/office/drawing/2014/main" id="{2DA7F5FC-B4BC-CF6D-DA5B-ECF81F8301B8}"/>
              </a:ext>
            </a:extLst>
          </p:cNvPr>
          <p:cNvSpPr/>
          <p:nvPr/>
        </p:nvSpPr>
        <p:spPr>
          <a:xfrm>
            <a:off x="1006802"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10" name="Text 2">
            <a:extLst>
              <a:ext uri="{FF2B5EF4-FFF2-40B4-BE49-F238E27FC236}">
                <a16:creationId xmlns:a16="http://schemas.microsoft.com/office/drawing/2014/main" id="{158CFA66-5D33-588F-B0A3-3E43E87004F0}"/>
              </a:ext>
            </a:extLst>
          </p:cNvPr>
          <p:cNvSpPr/>
          <p:nvPr/>
        </p:nvSpPr>
        <p:spPr>
          <a:xfrm>
            <a:off x="1306269" y="1968021"/>
            <a:ext cx="1463040"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Planner
Plan tasks</a:t>
            </a:r>
            <a:endParaRPr lang="en-US" sz="1600" b="1" dirty="0">
              <a:latin typeface="Eras Demi ITC" panose="020B0805030504020804" pitchFamily="34" charset="0"/>
            </a:endParaRPr>
          </a:p>
        </p:txBody>
      </p:sp>
      <p:sp>
        <p:nvSpPr>
          <p:cNvPr id="11" name="Shape 3">
            <a:extLst>
              <a:ext uri="{FF2B5EF4-FFF2-40B4-BE49-F238E27FC236}">
                <a16:creationId xmlns:a16="http://schemas.microsoft.com/office/drawing/2014/main" id="{3CA8472D-6A89-1954-2F59-40F98BA145EF}"/>
              </a:ext>
            </a:extLst>
          </p:cNvPr>
          <p:cNvSpPr/>
          <p:nvPr/>
        </p:nvSpPr>
        <p:spPr>
          <a:xfrm>
            <a:off x="310083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16" name="Text 8">
            <a:extLst>
              <a:ext uri="{FF2B5EF4-FFF2-40B4-BE49-F238E27FC236}">
                <a16:creationId xmlns:a16="http://schemas.microsoft.com/office/drawing/2014/main" id="{AEA16FAB-4F0F-45E6-5C37-FCA73473FA20}"/>
              </a:ext>
            </a:extLst>
          </p:cNvPr>
          <p:cNvSpPr/>
          <p:nvPr/>
        </p:nvSpPr>
        <p:spPr>
          <a:xfrm>
            <a:off x="6758738" y="2004460"/>
            <a:ext cx="1716277"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Visualizer
Generate plots</a:t>
            </a:r>
          </a:p>
        </p:txBody>
      </p:sp>
      <p:sp>
        <p:nvSpPr>
          <p:cNvPr id="19" name="Text 11">
            <a:extLst>
              <a:ext uri="{FF2B5EF4-FFF2-40B4-BE49-F238E27FC236}">
                <a16:creationId xmlns:a16="http://schemas.microsoft.com/office/drawing/2014/main" id="{751FB3CA-D030-4D4A-5E81-F8A3BCB3A273}"/>
              </a:ext>
            </a:extLst>
          </p:cNvPr>
          <p:cNvSpPr/>
          <p:nvPr/>
        </p:nvSpPr>
        <p:spPr>
          <a:xfrm>
            <a:off x="9532026" y="2004460"/>
            <a:ext cx="1683848" cy="725637"/>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Reporter
Compile report</a:t>
            </a:r>
          </a:p>
        </p:txBody>
      </p:sp>
      <p:sp>
        <p:nvSpPr>
          <p:cNvPr id="20" name="Shape 1">
            <a:extLst>
              <a:ext uri="{FF2B5EF4-FFF2-40B4-BE49-F238E27FC236}">
                <a16:creationId xmlns:a16="http://schemas.microsoft.com/office/drawing/2014/main" id="{9042D564-63F1-266C-1EFD-5CEE50DD6B06}"/>
              </a:ext>
            </a:extLst>
          </p:cNvPr>
          <p:cNvSpPr/>
          <p:nvPr/>
        </p:nvSpPr>
        <p:spPr>
          <a:xfrm>
            <a:off x="3788332" y="1814362"/>
            <a:ext cx="2094029" cy="1111717"/>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1" name="Shape 3">
            <a:extLst>
              <a:ext uri="{FF2B5EF4-FFF2-40B4-BE49-F238E27FC236}">
                <a16:creationId xmlns:a16="http://schemas.microsoft.com/office/drawing/2014/main" id="{B5F61B0F-725D-AA32-FF03-F861748949F0}"/>
              </a:ext>
            </a:extLst>
          </p:cNvPr>
          <p:cNvSpPr/>
          <p:nvPr/>
        </p:nvSpPr>
        <p:spPr>
          <a:xfrm>
            <a:off x="588236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23" name="Shape 3">
            <a:extLst>
              <a:ext uri="{FF2B5EF4-FFF2-40B4-BE49-F238E27FC236}">
                <a16:creationId xmlns:a16="http://schemas.microsoft.com/office/drawing/2014/main" id="{9908088A-2E22-FA8D-D1A9-C85D59725D28}"/>
              </a:ext>
            </a:extLst>
          </p:cNvPr>
          <p:cNvSpPr/>
          <p:nvPr/>
        </p:nvSpPr>
        <p:spPr>
          <a:xfrm>
            <a:off x="866389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13" name="Text 5">
            <a:extLst>
              <a:ext uri="{FF2B5EF4-FFF2-40B4-BE49-F238E27FC236}">
                <a16:creationId xmlns:a16="http://schemas.microsoft.com/office/drawing/2014/main" id="{6BB61F64-831B-A925-3219-4F21FBCAD07F}"/>
              </a:ext>
            </a:extLst>
          </p:cNvPr>
          <p:cNvSpPr/>
          <p:nvPr/>
        </p:nvSpPr>
        <p:spPr>
          <a:xfrm>
            <a:off x="3845534" y="2004460"/>
            <a:ext cx="1979624" cy="731520"/>
          </a:xfrm>
          <a:prstGeom prst="rect">
            <a:avLst/>
          </a:prstGeom>
          <a:noFill/>
          <a:ln/>
        </p:spPr>
        <p:txBody>
          <a:bodyPr wrap="square" rtlCol="0" anchor="ctr"/>
          <a:lstStyle/>
          <a:p>
            <a:pPr algn="ctr"/>
            <a:r>
              <a:rPr lang="en-US" sz="1600" b="1" dirty="0">
                <a:solidFill>
                  <a:srgbClr val="030A18"/>
                </a:solidFill>
                <a:latin typeface="Eras Demi ITC" panose="020B0805030504020804" pitchFamily="34" charset="0"/>
              </a:rPr>
              <a:t>Executor</a:t>
            </a:r>
          </a:p>
          <a:p>
            <a:pPr algn="ctr"/>
            <a:r>
              <a:rPr lang="en-US" sz="1600" b="1" dirty="0">
                <a:solidFill>
                  <a:srgbClr val="030A18"/>
                </a:solidFill>
                <a:latin typeface="Eras Demi ITC" panose="020B0805030504020804" pitchFamily="34" charset="0"/>
              </a:rPr>
              <a:t>Train &amp; evaluate</a:t>
            </a:r>
          </a:p>
        </p:txBody>
      </p:sp>
      <p:sp>
        <p:nvSpPr>
          <p:cNvPr id="27" name="文本框 26">
            <a:extLst>
              <a:ext uri="{FF2B5EF4-FFF2-40B4-BE49-F238E27FC236}">
                <a16:creationId xmlns:a16="http://schemas.microsoft.com/office/drawing/2014/main" id="{60C7D304-1655-2BDC-C606-F39588BBCF71}"/>
              </a:ext>
            </a:extLst>
          </p:cNvPr>
          <p:cNvSpPr txBox="1"/>
          <p:nvPr/>
        </p:nvSpPr>
        <p:spPr>
          <a:xfrm>
            <a:off x="885371" y="3794849"/>
            <a:ext cx="10645321" cy="1800493"/>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Planner orchestrates data cleaning, modelling, </a:t>
            </a:r>
            <a:r>
              <a:rPr lang="en-US" altLang="zh-CN" sz="2400" dirty="0" err="1">
                <a:solidFill>
                  <a:srgbClr val="030A18"/>
                </a:solidFill>
                <a:latin typeface="Times New Roman" panose="02020603050405020304" pitchFamily="18" charset="0"/>
                <a:ea typeface="Batang" panose="02030600000101010101" pitchFamily="18" charset="-127"/>
                <a:cs typeface="Times New Roman" panose="02020603050405020304" pitchFamily="18" charset="0"/>
              </a:rPr>
              <a:t>visualisation</a:t>
            </a: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&amp; report tasks.
• Executor trains models and returns metrics &amp; trained artefacts.
• Visualizer draws curves and charts for inclusion in reports.
• Reporter compiles Markdown report and can append LLM insights.</a:t>
            </a:r>
            <a:endParaRPr lang="en-US" altLang="zh-CN" sz="2400" dirty="0">
              <a:latin typeface="Times New Roman" panose="02020603050405020304" pitchFamily="18" charset="0"/>
              <a:ea typeface="Batang" panose="02030600000101010101" pitchFamily="18" charset="-127"/>
              <a:cs typeface="Times New Roman" panose="02020603050405020304" pitchFamily="18" charset="0"/>
            </a:endParaRPr>
          </a:p>
        </p:txBody>
      </p:sp>
      <p:sp>
        <p:nvSpPr>
          <p:cNvPr id="7" name="文本框 6">
            <a:extLst>
              <a:ext uri="{FF2B5EF4-FFF2-40B4-BE49-F238E27FC236}">
                <a16:creationId xmlns:a16="http://schemas.microsoft.com/office/drawing/2014/main" id="{8C723051-E516-2B35-9A47-A48394E82839}"/>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9</a:t>
            </a:r>
            <a:endParaRPr lang="zh-CN" altLang="en-US" b="1" dirty="0"/>
          </a:p>
        </p:txBody>
      </p:sp>
    </p:spTree>
    <p:extLst>
      <p:ext uri="{BB962C8B-B14F-4D97-AF65-F5344CB8AC3E}">
        <p14:creationId xmlns:p14="http://schemas.microsoft.com/office/powerpoint/2010/main" val="3465890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56A3167-407A-7201-82D4-0A1A1B3A94C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252CB4C-7D9B-3098-89D2-778ACF9BA010}"/>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CD852EB8-EFF9-E83A-C647-7E521AE388EE}"/>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Roles &amp; Progress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5D0279FF-BB52-02E0-61BA-1E21E4BC610E}"/>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F993C0-1255-5C7A-57D6-B8500C8204EB}"/>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Roles &amp; Progress</a:t>
            </a:r>
            <a:endParaRPr lang="zh-CN" altLang="en-US" sz="2000" b="1" dirty="0">
              <a:latin typeface="High Tower Text" panose="02040502050506030303" pitchFamily="18" charset="0"/>
            </a:endParaRPr>
          </a:p>
        </p:txBody>
      </p:sp>
      <p:sp>
        <p:nvSpPr>
          <p:cNvPr id="13" name="文本框 12">
            <a:extLst>
              <a:ext uri="{FF2B5EF4-FFF2-40B4-BE49-F238E27FC236}">
                <a16:creationId xmlns:a16="http://schemas.microsoft.com/office/drawing/2014/main" id="{E6ED98DA-BFE9-5DE4-C186-EDD334E4E4DE}"/>
              </a:ext>
            </a:extLst>
          </p:cNvPr>
          <p:cNvSpPr txBox="1"/>
          <p:nvPr/>
        </p:nvSpPr>
        <p:spPr>
          <a:xfrm>
            <a:off x="1298281" y="3407799"/>
            <a:ext cx="10232412" cy="2677656"/>
          </a:xfrm>
          <a:prstGeom prst="rect">
            <a:avLst/>
          </a:prstGeom>
          <a:noFill/>
        </p:spPr>
        <p:txBody>
          <a:bodyPr wrap="square">
            <a:spAutoFit/>
          </a:bodyPr>
          <a:lstStyle/>
          <a:p>
            <a:pPr algn="ctr"/>
            <a:r>
              <a:rPr lang="en-US" altLang="zh-CN" sz="2800" b="1" dirty="0">
                <a:solidFill>
                  <a:srgbClr val="030A18"/>
                </a:solidFill>
                <a:latin typeface="Times New Roman" panose="02020603050405020304" pitchFamily="18" charset="0"/>
                <a:cs typeface="Times New Roman" panose="02020603050405020304" pitchFamily="18" charset="0"/>
              </a:rPr>
              <a:t>progress</a:t>
            </a:r>
          </a:p>
          <a:p>
            <a:pPr marL="457200" indent="-457200">
              <a:buFont typeface="Wingdings" panose="05000000000000000000" pitchFamily="2" charset="2"/>
              <a:buChar char="ü"/>
            </a:pPr>
            <a:r>
              <a:rPr lang="en-US" altLang="zh-CN" sz="2000" dirty="0">
                <a:solidFill>
                  <a:srgbClr val="030A18"/>
                </a:solidFill>
                <a:latin typeface="Times New Roman" panose="02020603050405020304" pitchFamily="18" charset="0"/>
                <a:cs typeface="Times New Roman" panose="02020603050405020304" pitchFamily="18" charset="0"/>
              </a:rPr>
              <a:t>Completed EDA, feature engineering and baseline models for regression and classification
Achieved strong regression performance (R² ≈ 0.95/0.90) and high classification AUC (0.936) but moderate macro F1
Conducted k‑means clustering to reveal two distinct customer segments
Integrated LangGraph agent workflow to automate modelling, </a:t>
            </a:r>
            <a:r>
              <a:rPr lang="en-US" altLang="zh-CN" sz="2000" dirty="0" err="1">
                <a:solidFill>
                  <a:srgbClr val="030A18"/>
                </a:solidFill>
                <a:latin typeface="Times New Roman" panose="02020603050405020304" pitchFamily="18" charset="0"/>
                <a:cs typeface="Times New Roman" panose="02020603050405020304" pitchFamily="18" charset="0"/>
              </a:rPr>
              <a:t>visualisation</a:t>
            </a:r>
            <a:r>
              <a:rPr lang="en-US" altLang="zh-CN" sz="2000" dirty="0">
                <a:solidFill>
                  <a:srgbClr val="030A18"/>
                </a:solidFill>
                <a:latin typeface="Times New Roman" panose="02020603050405020304" pitchFamily="18" charset="0"/>
                <a:cs typeface="Times New Roman" panose="02020603050405020304" pitchFamily="18" charset="0"/>
              </a:rPr>
              <a:t> and reporting
Learned the importance of robust data cleaning, handling imbalance and tuning hyperparameters</a:t>
            </a:r>
            <a:endParaRPr lang="en-US" altLang="zh-CN"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8707B5A0-B11D-D7C2-5343-44852EF15F0A}"/>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10</a:t>
            </a:r>
            <a:endParaRPr lang="zh-CN" altLang="en-US" b="1" dirty="0"/>
          </a:p>
        </p:txBody>
      </p:sp>
      <p:graphicFrame>
        <p:nvGraphicFramePr>
          <p:cNvPr id="7" name="Table 2">
            <a:extLst>
              <a:ext uri="{FF2B5EF4-FFF2-40B4-BE49-F238E27FC236}">
                <a16:creationId xmlns:a16="http://schemas.microsoft.com/office/drawing/2014/main" id="{BEB40D69-3299-A8BD-FE83-A55BF721265D}"/>
              </a:ext>
            </a:extLst>
          </p:cNvPr>
          <p:cNvGraphicFramePr>
            <a:graphicFrameLocks noGrp="1"/>
          </p:cNvGraphicFramePr>
          <p:nvPr>
            <p:extLst>
              <p:ext uri="{D42A27DB-BD31-4B8C-83A1-F6EECF244321}">
                <p14:modId xmlns:p14="http://schemas.microsoft.com/office/powerpoint/2010/main" val="2597191278"/>
              </p:ext>
            </p:extLst>
          </p:nvPr>
        </p:nvGraphicFramePr>
        <p:xfrm>
          <a:off x="1778000" y="874454"/>
          <a:ext cx="8808437" cy="2554546"/>
        </p:xfrm>
        <a:graphic>
          <a:graphicData uri="http://schemas.openxmlformats.org/drawingml/2006/table">
            <a:tbl>
              <a:tblPr firstRow="1" bandRow="1">
                <a:tableStyleId>{5C22544A-7EE6-4342-B048-85BDC9FD1C3A}</a:tableStyleId>
              </a:tblPr>
              <a:tblGrid>
                <a:gridCol w="1785494">
                  <a:extLst>
                    <a:ext uri="{9D8B030D-6E8A-4147-A177-3AD203B41FA5}">
                      <a16:colId xmlns:a16="http://schemas.microsoft.com/office/drawing/2014/main" val="20000"/>
                    </a:ext>
                  </a:extLst>
                </a:gridCol>
                <a:gridCol w="7022943">
                  <a:extLst>
                    <a:ext uri="{9D8B030D-6E8A-4147-A177-3AD203B41FA5}">
                      <a16:colId xmlns:a16="http://schemas.microsoft.com/office/drawing/2014/main" val="20001"/>
                    </a:ext>
                  </a:extLst>
                </a:gridCol>
              </a:tblGrid>
              <a:tr h="1277273">
                <a:tc>
                  <a:txBody>
                    <a:bodyPr/>
                    <a:lstStyle/>
                    <a:p>
                      <a:pPr marL="0" indent="0" algn="ctr">
                        <a:buFont typeface="Arial" panose="020B0604020202020204" pitchFamily="34" charset="0"/>
                        <a:buNone/>
                      </a:pPr>
                      <a:r>
                        <a:rPr sz="2200" b="1" dirty="0">
                          <a:solidFill>
                            <a:srgbClr val="203878"/>
                          </a:solidFill>
                          <a:latin typeface="Times New Roman" panose="02020603050405020304" pitchFamily="18" charset="0"/>
                          <a:cs typeface="Times New Roman" panose="02020603050405020304" pitchFamily="18" charset="0"/>
                        </a:rPr>
                        <a:t>Xu</a:t>
                      </a:r>
                      <a:endParaRPr lang="en-US" sz="2200" b="1" dirty="0">
                        <a:solidFill>
                          <a:srgbClr val="203878"/>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sz="2200" b="1" dirty="0" err="1">
                          <a:solidFill>
                            <a:srgbClr val="203878"/>
                          </a:solidFill>
                          <a:latin typeface="Times New Roman" panose="02020603050405020304" pitchFamily="18" charset="0"/>
                          <a:cs typeface="Times New Roman" panose="02020603050405020304" pitchFamily="18" charset="0"/>
                        </a:rPr>
                        <a:t>Shuangbo</a:t>
                      </a:r>
                      <a:endParaRPr sz="2200" b="1" dirty="0">
                        <a:solidFill>
                          <a:srgbClr val="203878"/>
                        </a:solidFill>
                        <a:latin typeface="Times New Roman" panose="02020603050405020304" pitchFamily="18" charset="0"/>
                        <a:cs typeface="Times New Roman" panose="02020603050405020304" pitchFamily="18" charset="0"/>
                      </a:endParaRPr>
                    </a:p>
                  </a:txBody>
                  <a:tcPr marL="137160" marR="137160" marT="91440" marB="91440" anchor="ctr">
                    <a:solidFill>
                      <a:srgbClr val="F0F2FF"/>
                    </a:solidFill>
                  </a:tcPr>
                </a:tc>
                <a:tc>
                  <a:txBody>
                    <a:bodyPr/>
                    <a:lstStyle/>
                    <a:p>
                      <a:pPr marL="0" indent="0" algn="ctr">
                        <a:lnSpc>
                          <a:spcPct val="150000"/>
                        </a:lnSpc>
                        <a:buFont typeface="Arial" panose="020B0604020202020204" pitchFamily="34" charset="0"/>
                        <a:buNone/>
                      </a:pPr>
                      <a:r>
                        <a:rPr lang="en-US" sz="1600" dirty="0">
                          <a:solidFill>
                            <a:srgbClr val="1E1E1E"/>
                          </a:solidFill>
                          <a:latin typeface="Times New Roman" panose="02020603050405020304" pitchFamily="18" charset="0"/>
                          <a:cs typeface="Times New Roman" panose="02020603050405020304" pitchFamily="18" charset="0"/>
                        </a:rPr>
                        <a:t>Completed the full project, including data processing, modeling, and evaluation</a:t>
                      </a:r>
                    </a:p>
                    <a:p>
                      <a:pPr marL="0" indent="0" algn="ctr">
                        <a:lnSpc>
                          <a:spcPct val="150000"/>
                        </a:lnSpc>
                        <a:buFont typeface="Arial" panose="020B0604020202020204" pitchFamily="34" charset="0"/>
                        <a:buNone/>
                      </a:pPr>
                      <a:r>
                        <a:rPr lang="en-US" sz="1600" dirty="0">
                          <a:solidFill>
                            <a:srgbClr val="1E1E1E"/>
                          </a:solidFill>
                          <a:latin typeface="Times New Roman" panose="02020603050405020304" pitchFamily="18" charset="0"/>
                          <a:cs typeface="Times New Roman" panose="02020603050405020304" pitchFamily="18" charset="0"/>
                        </a:rPr>
                        <a:t>Provided English slide text and explanatory content</a:t>
                      </a:r>
                      <a:endParaRPr sz="1600" dirty="0">
                        <a:solidFill>
                          <a:srgbClr val="1E1E1E"/>
                        </a:solidFill>
                        <a:latin typeface="Times New Roman" panose="02020603050405020304" pitchFamily="18" charset="0"/>
                        <a:cs typeface="Times New Roman" panose="02020603050405020304" pitchFamily="18" charset="0"/>
                      </a:endParaRPr>
                    </a:p>
                  </a:txBody>
                  <a:tcPr marL="137160" marR="137160" marT="91440" marB="91440" anchor="ctr">
                    <a:solidFill>
                      <a:srgbClr val="FAFAFC"/>
                    </a:solidFill>
                  </a:tcPr>
                </a:tc>
                <a:extLst>
                  <a:ext uri="{0D108BD9-81ED-4DB2-BD59-A6C34878D82A}">
                    <a16:rowId xmlns:a16="http://schemas.microsoft.com/office/drawing/2014/main" val="10000"/>
                  </a:ext>
                </a:extLst>
              </a:tr>
              <a:tr h="1277273">
                <a:tc>
                  <a:txBody>
                    <a:bodyPr/>
                    <a:lstStyle/>
                    <a:p>
                      <a:pPr marL="0" indent="0" algn="ctr">
                        <a:buFont typeface="Arial" panose="020B0604020202020204" pitchFamily="34" charset="0"/>
                        <a:buNone/>
                      </a:pPr>
                      <a:r>
                        <a:rPr sz="2200" b="1" dirty="0">
                          <a:solidFill>
                            <a:srgbClr val="203878"/>
                          </a:solidFill>
                          <a:latin typeface="Times New Roman" panose="02020603050405020304" pitchFamily="18" charset="0"/>
                          <a:cs typeface="Times New Roman" panose="02020603050405020304" pitchFamily="18" charset="0"/>
                        </a:rPr>
                        <a:t>Li </a:t>
                      </a:r>
                      <a:endParaRPr lang="en-US" sz="2200" b="1" dirty="0">
                        <a:solidFill>
                          <a:srgbClr val="203878"/>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lang="en-US" sz="2200" b="1" dirty="0" err="1">
                          <a:solidFill>
                            <a:srgbClr val="203878"/>
                          </a:solidFill>
                          <a:latin typeface="Times New Roman" panose="02020603050405020304" pitchFamily="18" charset="0"/>
                          <a:cs typeface="Times New Roman" panose="02020603050405020304" pitchFamily="18" charset="0"/>
                        </a:rPr>
                        <a:t>Shangze</a:t>
                      </a:r>
                      <a:endParaRPr sz="2200" b="1" dirty="0">
                        <a:solidFill>
                          <a:srgbClr val="203878"/>
                        </a:solidFill>
                        <a:latin typeface="Times New Roman" panose="02020603050405020304" pitchFamily="18" charset="0"/>
                        <a:cs typeface="Times New Roman" panose="02020603050405020304" pitchFamily="18" charset="0"/>
                      </a:endParaRPr>
                    </a:p>
                  </a:txBody>
                  <a:tcPr marL="137160" marR="137160" marT="91440" marB="91440" anchor="ctr">
                    <a:solidFill>
                      <a:srgbClr val="F0F2FF"/>
                    </a:solidFill>
                  </a:tcPr>
                </a:tc>
                <a:tc>
                  <a:txBody>
                    <a:bodyPr/>
                    <a:lstStyle/>
                    <a:p>
                      <a:pPr marL="0" indent="0" algn="ctr" defTabSz="914400" rtl="0" eaLnBrk="1" latinLnBrk="0" hangingPunct="1">
                        <a:lnSpc>
                          <a:spcPct val="150000"/>
                        </a:lnSpc>
                        <a:buFont typeface="Arial" panose="020B0604020202020204" pitchFamily="34" charset="0"/>
                        <a:buNone/>
                      </a:pPr>
                      <a:r>
                        <a:rPr lang="en-US" sz="1600" b="1" kern="1200" dirty="0">
                          <a:solidFill>
                            <a:srgbClr val="1E1E1E"/>
                          </a:solidFill>
                          <a:latin typeface="Times New Roman" panose="02020603050405020304" pitchFamily="18" charset="0"/>
                          <a:ea typeface="+mn-ea"/>
                          <a:cs typeface="Times New Roman" panose="02020603050405020304" pitchFamily="18" charset="0"/>
                        </a:rPr>
                        <a:t>Assisted in data collection and dataset </a:t>
                      </a:r>
                      <a:r>
                        <a:rPr lang="en-US" sz="1600" b="1" kern="1200" dirty="0" err="1">
                          <a:solidFill>
                            <a:srgbClr val="1E1E1E"/>
                          </a:solidFill>
                          <a:latin typeface="Times New Roman" panose="02020603050405020304" pitchFamily="18" charset="0"/>
                          <a:ea typeface="+mn-ea"/>
                          <a:cs typeface="Times New Roman" panose="02020603050405020304" pitchFamily="18" charset="0"/>
                        </a:rPr>
                        <a:t>organizationDesigned</a:t>
                      </a:r>
                      <a:r>
                        <a:rPr lang="en-US" sz="1600" b="1" kern="1200" dirty="0">
                          <a:solidFill>
                            <a:srgbClr val="1E1E1E"/>
                          </a:solidFill>
                          <a:latin typeface="Times New Roman" panose="02020603050405020304" pitchFamily="18" charset="0"/>
                          <a:ea typeface="+mn-ea"/>
                          <a:cs typeface="Times New Roman" panose="02020603050405020304" pitchFamily="18" charset="0"/>
                        </a:rPr>
                        <a:t> and prepared the final presentation slides</a:t>
                      </a:r>
                      <a:endParaRPr sz="1600" b="1" kern="1200" dirty="0">
                        <a:solidFill>
                          <a:srgbClr val="1E1E1E"/>
                        </a:solidFill>
                        <a:latin typeface="Times New Roman" panose="02020603050405020304" pitchFamily="18" charset="0"/>
                        <a:ea typeface="+mn-ea"/>
                        <a:cs typeface="Times New Roman" panose="02020603050405020304" pitchFamily="18" charset="0"/>
                      </a:endParaRPr>
                    </a:p>
                  </a:txBody>
                  <a:tcPr marL="137160" marR="137160" marT="91440" marB="91440" anchor="ctr">
                    <a:solidFill>
                      <a:srgbClr val="FAFAFC"/>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5837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E584D35E-7BB9-61FA-BA5A-2830087B16B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B0521D8-5B76-EDCD-C103-214FA0605CFE}"/>
              </a:ext>
            </a:extLst>
          </p:cNvPr>
          <p:cNvSpPr txBox="1"/>
          <p:nvPr/>
        </p:nvSpPr>
        <p:spPr>
          <a:xfrm>
            <a:off x="9321800" y="6359979"/>
            <a:ext cx="2208893" cy="369332"/>
          </a:xfrm>
          <a:prstGeom prst="rect">
            <a:avLst/>
          </a:prstGeom>
          <a:noFill/>
        </p:spPr>
        <p:txBody>
          <a:bodyPr wrap="square" rtlCol="0">
            <a:spAutoFit/>
          </a:bodyPr>
          <a:lstStyle/>
          <a:p>
            <a:r>
              <a:rPr lang="en-US" altLang="zh-CN" dirty="0"/>
              <a:t>Final Project Report</a:t>
            </a:r>
            <a:endParaRPr lang="zh-CN" altLang="en-US" dirty="0"/>
          </a:p>
        </p:txBody>
      </p:sp>
      <p:sp>
        <p:nvSpPr>
          <p:cNvPr id="4" name="文本框 3">
            <a:extLst>
              <a:ext uri="{FF2B5EF4-FFF2-40B4-BE49-F238E27FC236}">
                <a16:creationId xmlns:a16="http://schemas.microsoft.com/office/drawing/2014/main" id="{95133661-AF23-B1EE-3D42-77D411032F29}"/>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Summary</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159B0A8-F7B4-8C92-B7C4-CC6ABF6497D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B21A59-8FD2-0EC6-D10F-48AEDE599D28}"/>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Summary</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8F6A6961-223C-7AA8-771B-1F44707B3447}"/>
              </a:ext>
            </a:extLst>
          </p:cNvPr>
          <p:cNvSpPr txBox="1"/>
          <p:nvPr/>
        </p:nvSpPr>
        <p:spPr>
          <a:xfrm>
            <a:off x="4552769" y="1306286"/>
            <a:ext cx="6374673" cy="3477875"/>
          </a:xfrm>
          <a:prstGeom prst="rect">
            <a:avLst/>
          </a:prstGeom>
          <a:noFill/>
        </p:spPr>
        <p:txBody>
          <a:bodyPr wrap="square">
            <a:spAutoFit/>
          </a:bodyPr>
          <a:lstStyle/>
          <a:p>
            <a:pPr marL="457200" indent="-457200">
              <a:spcAft>
                <a:spcPts val="600"/>
              </a:spcAft>
              <a:buFont typeface="+mj-lt"/>
              <a:buAutoNum type="arabicPeriod"/>
            </a:pPr>
            <a:r>
              <a:rPr lang="en-US" altLang="zh-CN" sz="2000" dirty="0">
                <a:solidFill>
                  <a:srgbClr val="030A18"/>
                </a:solidFill>
                <a:latin typeface="Times New Roman" panose="02020603050405020304" pitchFamily="18" charset="0"/>
                <a:cs typeface="Times New Roman" panose="02020603050405020304" pitchFamily="18" charset="0"/>
              </a:rPr>
              <a:t>Established a reproducible pipeline from EDA through automated reporting.
Regression model delivers highly accurate interest rate predictions.
Classification model shows promise but requires improvements in macro F1.
Clustering reveals two customer segments, enabling targeted strategies.
LangGraph agent workflow increases automation and reproducibility.</a:t>
            </a:r>
            <a:endParaRPr lang="en-US" altLang="zh-CN" sz="2000" dirty="0">
              <a:latin typeface="Times New Roman" panose="02020603050405020304" pitchFamily="18" charset="0"/>
              <a:cs typeface="Times New Roman" panose="02020603050405020304" pitchFamily="18" charset="0"/>
            </a:endParaRPr>
          </a:p>
        </p:txBody>
      </p:sp>
      <p:graphicFrame>
        <p:nvGraphicFramePr>
          <p:cNvPr id="13" name="Table 0">
            <a:extLst>
              <a:ext uri="{FF2B5EF4-FFF2-40B4-BE49-F238E27FC236}">
                <a16:creationId xmlns:a16="http://schemas.microsoft.com/office/drawing/2014/main" id="{F1F28994-68D8-AB4D-1E34-736FBC8517D2}"/>
              </a:ext>
            </a:extLst>
          </p:cNvPr>
          <p:cNvGraphicFramePr>
            <a:graphicFrameLocks noGrp="1"/>
          </p:cNvGraphicFramePr>
          <p:nvPr>
            <p:extLst>
              <p:ext uri="{D42A27DB-BD31-4B8C-83A1-F6EECF244321}">
                <p14:modId xmlns:p14="http://schemas.microsoft.com/office/powerpoint/2010/main" val="407021611"/>
              </p:ext>
            </p:extLst>
          </p:nvPr>
        </p:nvGraphicFramePr>
        <p:xfrm>
          <a:off x="698216" y="1408285"/>
          <a:ext cx="3051208" cy="3273875"/>
        </p:xfrm>
        <a:graphic>
          <a:graphicData uri="http://schemas.openxmlformats.org/drawingml/2006/table">
            <a:tbl>
              <a:tblPr/>
              <a:tblGrid>
                <a:gridCol w="1525604">
                  <a:extLst>
                    <a:ext uri="{9D8B030D-6E8A-4147-A177-3AD203B41FA5}">
                      <a16:colId xmlns:a16="http://schemas.microsoft.com/office/drawing/2014/main" val="20001"/>
                    </a:ext>
                  </a:extLst>
                </a:gridCol>
                <a:gridCol w="1525604">
                  <a:extLst>
                    <a:ext uri="{9D8B030D-6E8A-4147-A177-3AD203B41FA5}">
                      <a16:colId xmlns:a16="http://schemas.microsoft.com/office/drawing/2014/main" val="20002"/>
                    </a:ext>
                  </a:extLst>
                </a:gridCol>
              </a:tblGrid>
              <a:tr h="654775">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Metric</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Value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654775">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0.5738</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654775">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F1 Macro</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0.3831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654775">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F1 Weighted</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0.5513</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654775">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AUC (ovr)</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0.8475</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文本框 15">
            <a:extLst>
              <a:ext uri="{FF2B5EF4-FFF2-40B4-BE49-F238E27FC236}">
                <a16:creationId xmlns:a16="http://schemas.microsoft.com/office/drawing/2014/main" id="{680659AA-9E5F-D8E1-86FA-CB56BB6F7A42}"/>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12</a:t>
            </a:r>
            <a:endParaRPr lang="zh-CN" altLang="en-US" b="1" dirty="0"/>
          </a:p>
        </p:txBody>
      </p:sp>
    </p:spTree>
    <p:extLst>
      <p:ext uri="{BB962C8B-B14F-4D97-AF65-F5344CB8AC3E}">
        <p14:creationId xmlns:p14="http://schemas.microsoft.com/office/powerpoint/2010/main" val="1168561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5A2C-8A02-EAC8-3AA2-1FCA2B5BFF6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246A48E9-CD78-DB8A-0CC1-6BE81BB5225B}"/>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311" y="0"/>
            <a:ext cx="12200311" cy="6858000"/>
          </a:xfrm>
          <a:prstGeom prst="rect">
            <a:avLst/>
          </a:prstGeom>
        </p:spPr>
      </p:pic>
      <p:sp>
        <p:nvSpPr>
          <p:cNvPr id="2" name="标题 1">
            <a:extLst>
              <a:ext uri="{FF2B5EF4-FFF2-40B4-BE49-F238E27FC236}">
                <a16:creationId xmlns:a16="http://schemas.microsoft.com/office/drawing/2014/main" id="{2B34644E-DA64-F22B-4C0B-1E9024A24BD7}"/>
              </a:ext>
            </a:extLst>
          </p:cNvPr>
          <p:cNvSpPr>
            <a:spLocks noGrp="1"/>
          </p:cNvSpPr>
          <p:nvPr>
            <p:ph type="ctrTitle"/>
          </p:nvPr>
        </p:nvSpPr>
        <p:spPr>
          <a:xfrm>
            <a:off x="1524000" y="1763396"/>
            <a:ext cx="9144000" cy="2387600"/>
          </a:xfrm>
        </p:spPr>
        <p:txBody>
          <a:bodyPr>
            <a:normAutofit/>
          </a:bodyPr>
          <a:lstStyle/>
          <a:p>
            <a:r>
              <a:rPr lang="en-US" altLang="zh-CN" sz="11500" dirty="0">
                <a:latin typeface="Times New Roman" panose="02020603050405020304" pitchFamily="18" charset="0"/>
                <a:cs typeface="Times New Roman" panose="02020603050405020304" pitchFamily="18" charset="0"/>
              </a:rPr>
              <a:t>Thanks</a:t>
            </a:r>
            <a:endParaRPr lang="zh-CN" altLang="en-US" sz="115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5BF3CB77-FE46-E770-B22B-220AA282BA60}"/>
              </a:ext>
            </a:extLst>
          </p:cNvPr>
          <p:cNvSpPr>
            <a:spLocks noGrp="1"/>
          </p:cNvSpPr>
          <p:nvPr>
            <p:ph type="subTitle" idx="1"/>
          </p:nvPr>
        </p:nvSpPr>
        <p:spPr>
          <a:xfrm>
            <a:off x="1524000" y="510126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p:txBody>
      </p:sp>
      <p:pic>
        <p:nvPicPr>
          <p:cNvPr id="4" name="图片 3">
            <a:extLst>
              <a:ext uri="{FF2B5EF4-FFF2-40B4-BE49-F238E27FC236}">
                <a16:creationId xmlns:a16="http://schemas.microsoft.com/office/drawing/2014/main" id="{D95E5094-4CFB-7A21-B342-E225891DE1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2C81C59-B02C-159B-24C8-D14758F0DD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30719" y="-197885"/>
            <a:ext cx="1961281" cy="1961281"/>
          </a:xfrm>
          <a:prstGeom prst="rect">
            <a:avLst/>
          </a:prstGeom>
        </p:spPr>
      </p:pic>
    </p:spTree>
    <p:extLst>
      <p:ext uri="{BB962C8B-B14F-4D97-AF65-F5344CB8AC3E}">
        <p14:creationId xmlns:p14="http://schemas.microsoft.com/office/powerpoint/2010/main" val="229065832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1469</TotalTime>
  <Words>2729</Words>
  <Application>Microsoft Office PowerPoint</Application>
  <PresentationFormat>宽屏</PresentationFormat>
  <Paragraphs>193</Paragraphs>
  <Slides>15</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等线 Light</vt:lpstr>
      <vt:lpstr>Eras Demi ITC</vt:lpstr>
      <vt:lpstr>等线</vt:lpstr>
      <vt:lpstr>Wingdings</vt:lpstr>
      <vt:lpstr>Times New Roman</vt:lpstr>
      <vt:lpstr>Arial</vt:lpstr>
      <vt:lpstr>High Tower Text</vt:lpstr>
      <vt:lpstr>Office 主题​​</vt:lpstr>
      <vt:lpstr>Financial Guardian: Financial Risk Prediction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 Lee</dc:creator>
  <cp:lastModifiedBy>Alan Lee</cp:lastModifiedBy>
  <cp:revision>60</cp:revision>
  <dcterms:created xsi:type="dcterms:W3CDTF">2025-09-15T15:34:56Z</dcterms:created>
  <dcterms:modified xsi:type="dcterms:W3CDTF">2025-11-01T02:20:13Z</dcterms:modified>
</cp:coreProperties>
</file>