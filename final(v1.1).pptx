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68" r:id="rId3"/>
    <p:sldId id="269" r:id="rId4"/>
    <p:sldId id="280" r:id="rId5"/>
    <p:sldId id="270" r:id="rId6"/>
    <p:sldId id="271" r:id="rId7"/>
    <p:sldId id="272" r:id="rId8"/>
    <p:sldId id="273" r:id="rId9"/>
    <p:sldId id="274" r:id="rId10"/>
    <p:sldId id="275" r:id="rId11"/>
    <p:sldId id="278" r:id="rId12"/>
    <p:sldId id="276" r:id="rId13"/>
    <p:sldId id="277" r:id="rId14"/>
    <p:sldId id="279" r:id="rId15"/>
    <p:sldId id="267" r:id="rId16"/>
  </p:sldIdLst>
  <p:sldSz cx="12192000" cy="6858000"/>
  <p:notesSz cx="6858000" cy="9144000"/>
  <p:embeddedFontLst>
    <p:embeddedFont>
      <p:font typeface="Eras Demi ITC" panose="020B0805030504020804" pitchFamily="34" charset="0"/>
      <p:regular r:id="rId18"/>
    </p:embeddedFont>
    <p:embeddedFont>
      <p:font typeface="High Tower Text" panose="02040502050506030303" pitchFamily="18" charset="0"/>
      <p:regular r:id="rId19"/>
      <p:italic r:id="rId20"/>
    </p:embeddedFont>
    <p:embeddedFont>
      <p:font typeface="等线" panose="02010600030101010101" pitchFamily="2" charset="-122"/>
      <p:regular r:id="rId21"/>
      <p:bold r:id="rId22"/>
    </p:embeddedFont>
    <p:embeddedFont>
      <p:font typeface="等线 Light" panose="02010600030101010101" pitchFamily="2" charset="-122"/>
      <p:regular r:id="rId23"/>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0" autoAdjust="0"/>
    <p:restoredTop sz="60333" autoAdjust="0"/>
  </p:normalViewPr>
  <p:slideViewPr>
    <p:cSldViewPr snapToGrid="0">
      <p:cViewPr varScale="1">
        <p:scale>
          <a:sx n="55" d="100"/>
          <a:sy n="55" d="100"/>
        </p:scale>
        <p:origin x="1596" y="64"/>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058944-C1A1-4D23-AC30-C6A527D7302F}" type="datetimeFigureOut">
              <a:rPr lang="zh-CN" altLang="en-US" smtClean="0"/>
              <a:t>2025/11/10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BC829C-D09A-43DE-B9B9-5AEB4E9E12A8}" type="slidenum">
              <a:rPr lang="zh-CN" altLang="en-US" smtClean="0"/>
              <a:t>‹#›</a:t>
            </a:fld>
            <a:endParaRPr lang="zh-CN" altLang="en-US"/>
          </a:p>
        </p:txBody>
      </p:sp>
    </p:spTree>
    <p:extLst>
      <p:ext uri="{BB962C8B-B14F-4D97-AF65-F5344CB8AC3E}">
        <p14:creationId xmlns:p14="http://schemas.microsoft.com/office/powerpoint/2010/main" val="10858929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Good morning/ afternoon, everyone.</a:t>
            </a:r>
            <a:br>
              <a:rPr lang="en-US" altLang="zh-CN" dirty="0"/>
            </a:br>
            <a:r>
              <a:rPr lang="en-US" altLang="zh-CN" dirty="0"/>
              <a:t>We are </a:t>
            </a:r>
            <a:r>
              <a:rPr lang="en-US" altLang="zh-CN" b="1" dirty="0"/>
              <a:t>Team Northlake</a:t>
            </a:r>
            <a:r>
              <a:rPr lang="en-US" altLang="zh-CN" dirty="0"/>
              <a:t> from Beijing Institute of Technology.</a:t>
            </a:r>
            <a:br>
              <a:rPr lang="en-US" altLang="zh-CN" dirty="0"/>
            </a:br>
            <a:r>
              <a:rPr lang="en-US" altLang="zh-CN" dirty="0"/>
              <a:t>Today, we’ll present our final project — </a:t>
            </a:r>
            <a:r>
              <a:rPr lang="en-US" altLang="zh-CN" b="1" dirty="0"/>
              <a:t>Financial Guardian: Financial Risk Prediction</a:t>
            </a:r>
            <a:r>
              <a:rPr lang="en-US" altLang="zh-CN" dirty="0"/>
              <a:t>, which focuses on building an intelligent and automated system for credit risk analysis.</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各位老师、同学大家好，</a:t>
            </a:r>
            <a:br>
              <a:rPr lang="zh-CN" altLang="en-US" dirty="0"/>
            </a:br>
            <a:r>
              <a:rPr lang="zh-CN" altLang="en-US" dirty="0"/>
              <a:t>我们是来自北京理工大学的 </a:t>
            </a:r>
            <a:r>
              <a:rPr lang="en-US" altLang="zh-CN" b="1" dirty="0"/>
              <a:t>Northlake </a:t>
            </a:r>
            <a:r>
              <a:rPr lang="zh-CN" altLang="en-US" b="1" dirty="0"/>
              <a:t>团队</a:t>
            </a:r>
            <a:r>
              <a:rPr lang="zh-CN" altLang="en-US" dirty="0"/>
              <a:t>。</a:t>
            </a:r>
            <a:br>
              <a:rPr lang="zh-CN" altLang="en-US" dirty="0"/>
            </a:br>
            <a:r>
              <a:rPr lang="zh-CN" altLang="en-US" dirty="0"/>
              <a:t>今天汇报的项目是 </a:t>
            </a:r>
            <a:r>
              <a:rPr lang="en-US" altLang="zh-CN" b="1" dirty="0"/>
              <a:t>《Financial Guardian</a:t>
            </a:r>
            <a:r>
              <a:rPr lang="zh-CN" altLang="en-US" b="1" dirty="0"/>
              <a:t>：</a:t>
            </a:r>
            <a:r>
              <a:rPr lang="en-US" altLang="zh-CN" b="1" dirty="0"/>
              <a:t>Financial Risk Prediction》</a:t>
            </a:r>
            <a:r>
              <a:rPr lang="zh-CN" altLang="en-US" dirty="0"/>
              <a:t>，主要研究如何构建一个智能化、自动化的信贷风险分析系统。</a:t>
            </a:r>
          </a:p>
        </p:txBody>
      </p:sp>
      <p:sp>
        <p:nvSpPr>
          <p:cNvPr id="4" name="灯片编号占位符 3"/>
          <p:cNvSpPr>
            <a:spLocks noGrp="1"/>
          </p:cNvSpPr>
          <p:nvPr>
            <p:ph type="sldNum" sz="quarter" idx="5"/>
          </p:nvPr>
        </p:nvSpPr>
        <p:spPr/>
        <p:txBody>
          <a:bodyPr/>
          <a:lstStyle/>
          <a:p>
            <a:fld id="{ABBC829C-D09A-43DE-B9B9-5AEB4E9E12A8}" type="slidenum">
              <a:rPr lang="zh-CN" altLang="en-US" smtClean="0"/>
              <a:t>1</a:t>
            </a:fld>
            <a:endParaRPr lang="zh-CN" altLang="en-US"/>
          </a:p>
        </p:txBody>
      </p:sp>
    </p:spTree>
    <p:extLst>
      <p:ext uri="{BB962C8B-B14F-4D97-AF65-F5344CB8AC3E}">
        <p14:creationId xmlns:p14="http://schemas.microsoft.com/office/powerpoint/2010/main" val="2554854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Here’s the outline of our presentation.</a:t>
            </a:r>
            <a:br>
              <a:rPr lang="en-US" altLang="zh-CN" dirty="0"/>
            </a:br>
            <a:r>
              <a:rPr lang="en-US" altLang="zh-CN" dirty="0"/>
              <a:t>We’ll start with a project overview and methods, then move to data analyses including regression, classification, clustering, and risk analysis.</a:t>
            </a:r>
            <a:br>
              <a:rPr lang="en-US" altLang="zh-CN" dirty="0"/>
            </a:br>
            <a:r>
              <a:rPr lang="en-US" altLang="zh-CN" dirty="0"/>
              <a:t>Finally, we’ll introduce the </a:t>
            </a:r>
            <a:r>
              <a:rPr lang="en-US" altLang="zh-CN" dirty="0" err="1"/>
              <a:t>LangGraph</a:t>
            </a:r>
            <a:r>
              <a:rPr lang="en-US" altLang="zh-CN" dirty="0"/>
              <a:t> workflow, team progress, and a short summary.</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这是我们报告的主要内容。</a:t>
            </a:r>
            <a:br>
              <a:rPr lang="zh-CN" altLang="en-US" dirty="0"/>
            </a:br>
            <a:r>
              <a:rPr lang="zh-CN" altLang="en-US" dirty="0"/>
              <a:t>首先介绍项目概况和方法，然后展示回归、分类、聚类和风险分析的结果。</a:t>
            </a:r>
            <a:br>
              <a:rPr lang="zh-CN" altLang="en-US" dirty="0"/>
            </a:br>
            <a:r>
              <a:rPr lang="zh-CN" altLang="en-US" dirty="0"/>
              <a:t>最后讲解 </a:t>
            </a:r>
            <a:r>
              <a:rPr lang="en-US" altLang="zh-CN" dirty="0" err="1"/>
              <a:t>LangGraph</a:t>
            </a:r>
            <a:r>
              <a:rPr lang="en-US" altLang="zh-CN" dirty="0"/>
              <a:t> </a:t>
            </a:r>
            <a:r>
              <a:rPr lang="zh-CN" altLang="en-US" dirty="0"/>
              <a:t>自动化流程、团队分工和总结。</a:t>
            </a:r>
          </a:p>
        </p:txBody>
      </p:sp>
      <p:sp>
        <p:nvSpPr>
          <p:cNvPr id="4" name="灯片编号占位符 3"/>
          <p:cNvSpPr>
            <a:spLocks noGrp="1"/>
          </p:cNvSpPr>
          <p:nvPr>
            <p:ph type="sldNum" sz="quarter" idx="5"/>
          </p:nvPr>
        </p:nvSpPr>
        <p:spPr/>
        <p:txBody>
          <a:bodyPr/>
          <a:lstStyle/>
          <a:p>
            <a:fld id="{ABBC829C-D09A-43DE-B9B9-5AEB4E9E12A8}" type="slidenum">
              <a:rPr lang="zh-CN" altLang="en-US" smtClean="0"/>
              <a:t>2</a:t>
            </a:fld>
            <a:endParaRPr lang="zh-CN" altLang="en-US"/>
          </a:p>
        </p:txBody>
      </p:sp>
    </p:spTree>
    <p:extLst>
      <p:ext uri="{BB962C8B-B14F-4D97-AF65-F5344CB8AC3E}">
        <p14:creationId xmlns:p14="http://schemas.microsoft.com/office/powerpoint/2010/main" val="29921752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 slide shows the structure of our </a:t>
            </a:r>
            <a:r>
              <a:rPr lang="en-US" altLang="zh-CN" b="1" dirty="0" err="1"/>
              <a:t>bigdata_project</a:t>
            </a:r>
            <a:r>
              <a:rPr lang="en-US" altLang="zh-CN" dirty="0"/>
              <a:t> repository.</a:t>
            </a:r>
            <a:br>
              <a:rPr lang="en-US" altLang="zh-CN" dirty="0"/>
            </a:br>
            <a:r>
              <a:rPr lang="en-US" altLang="zh-CN" dirty="0"/>
              <a:t>The </a:t>
            </a:r>
            <a:r>
              <a:rPr lang="en-US" altLang="zh-CN" b="1" dirty="0" err="1"/>
              <a:t>src</a:t>
            </a:r>
            <a:r>
              <a:rPr lang="en-US" altLang="zh-CN" dirty="0"/>
              <a:t> folder contains the core modules for data preprocessing, feature engineering, and model training.</a:t>
            </a:r>
            <a:br>
              <a:rPr lang="en-US" altLang="zh-CN" dirty="0"/>
            </a:br>
            <a:r>
              <a:rPr lang="en-US" altLang="zh-CN" dirty="0"/>
              <a:t>The </a:t>
            </a:r>
            <a:r>
              <a:rPr lang="en-US" altLang="zh-CN" b="1" dirty="0" err="1"/>
              <a:t>agent_flow</a:t>
            </a:r>
            <a:r>
              <a:rPr lang="en-US" altLang="zh-CN" dirty="0"/>
              <a:t> folder implements our </a:t>
            </a:r>
            <a:r>
              <a:rPr lang="en-US" altLang="zh-CN" dirty="0" err="1"/>
              <a:t>LangGraph</a:t>
            </a:r>
            <a:r>
              <a:rPr lang="en-US" altLang="zh-CN" dirty="0"/>
              <a:t> workflow with four agents: Planner, Executor, Visualizer, and Reporter.</a:t>
            </a:r>
            <a:br>
              <a:rPr lang="en-US" altLang="zh-CN" dirty="0"/>
            </a:br>
            <a:r>
              <a:rPr lang="en-US" altLang="zh-CN" dirty="0"/>
              <a:t>All generated metrics and plots are stored in </a:t>
            </a:r>
            <a:r>
              <a:rPr lang="en-US" altLang="zh-CN" b="1" dirty="0"/>
              <a:t>artifacts</a:t>
            </a:r>
            <a:r>
              <a:rPr lang="en-US" altLang="zh-CN" dirty="0"/>
              <a:t>, while </a:t>
            </a:r>
            <a:r>
              <a:rPr lang="en-US" altLang="zh-CN" b="1" dirty="0"/>
              <a:t>reports</a:t>
            </a:r>
            <a:r>
              <a:rPr lang="en-US" altLang="zh-CN" dirty="0"/>
              <a:t> saves the final outputs.</a:t>
            </a:r>
            <a:br>
              <a:rPr lang="en-US" altLang="zh-CN" dirty="0"/>
            </a:br>
            <a:r>
              <a:rPr lang="en-US" altLang="zh-CN" dirty="0"/>
              <a:t>The </a:t>
            </a:r>
            <a:r>
              <a:rPr lang="en-US" altLang="zh-CN" b="1" dirty="0"/>
              <a:t>llm_insights.py</a:t>
            </a:r>
            <a:r>
              <a:rPr lang="en-US" altLang="zh-CN" dirty="0"/>
              <a:t> file connects to the OpenAI API to generate LLM-based analysis and Markdown reports automatically.</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这一页展示的是我们项目在 </a:t>
            </a:r>
            <a:r>
              <a:rPr lang="en-US" altLang="zh-CN" b="1" dirty="0" err="1"/>
              <a:t>bigdata_project</a:t>
            </a:r>
            <a:r>
              <a:rPr lang="en-US" altLang="zh-CN" dirty="0"/>
              <a:t> </a:t>
            </a:r>
            <a:r>
              <a:rPr lang="zh-CN" altLang="en-US" dirty="0"/>
              <a:t>仓库中的结构。</a:t>
            </a:r>
            <a:br>
              <a:rPr lang="zh-CN" altLang="en-US" dirty="0"/>
            </a:br>
            <a:r>
              <a:rPr lang="en-US" altLang="zh-CN" b="1" dirty="0" err="1"/>
              <a:t>src</a:t>
            </a:r>
            <a:r>
              <a:rPr lang="en-US" altLang="zh-CN" dirty="0"/>
              <a:t> </a:t>
            </a:r>
            <a:r>
              <a:rPr lang="zh-CN" altLang="en-US" dirty="0"/>
              <a:t>文件夹包含数据预处理、特征工程和模型训练的核心模块；</a:t>
            </a:r>
            <a:br>
              <a:rPr lang="zh-CN" altLang="en-US" dirty="0"/>
            </a:br>
            <a:r>
              <a:rPr lang="en-US" altLang="zh-CN" b="1" dirty="0" err="1"/>
              <a:t>agent_flow</a:t>
            </a:r>
            <a:r>
              <a:rPr lang="en-US" altLang="zh-CN" dirty="0"/>
              <a:t> </a:t>
            </a:r>
            <a:r>
              <a:rPr lang="zh-CN" altLang="en-US" dirty="0"/>
              <a:t>实现了 </a:t>
            </a:r>
            <a:r>
              <a:rPr lang="en-US" altLang="zh-CN" dirty="0" err="1"/>
              <a:t>LangGraph</a:t>
            </a:r>
            <a:r>
              <a:rPr lang="en-US" altLang="zh-CN" dirty="0"/>
              <a:t> </a:t>
            </a:r>
            <a:r>
              <a:rPr lang="zh-CN" altLang="en-US" dirty="0"/>
              <a:t>多智能体流程，包括规划、执行、可视化和报告四个阶段；</a:t>
            </a:r>
            <a:br>
              <a:rPr lang="zh-CN" altLang="en-US" dirty="0"/>
            </a:br>
            <a:r>
              <a:rPr lang="zh-CN" altLang="en-US" dirty="0"/>
              <a:t>生成的指标和图表保存在 </a:t>
            </a:r>
            <a:r>
              <a:rPr lang="en-US" altLang="zh-CN" b="1" dirty="0"/>
              <a:t>artifacts</a:t>
            </a:r>
            <a:r>
              <a:rPr lang="zh-CN" altLang="en-US" dirty="0"/>
              <a:t>，最终报告存放在 </a:t>
            </a:r>
            <a:r>
              <a:rPr lang="en-US" altLang="zh-CN" b="1" dirty="0"/>
              <a:t>reports</a:t>
            </a:r>
            <a:r>
              <a:rPr lang="zh-CN" altLang="en-US" dirty="0"/>
              <a:t>。</a:t>
            </a:r>
            <a:br>
              <a:rPr lang="zh-CN" altLang="en-US" dirty="0"/>
            </a:br>
            <a:r>
              <a:rPr lang="zh-CN" altLang="en-US" dirty="0"/>
              <a:t>其中 </a:t>
            </a:r>
            <a:r>
              <a:rPr lang="en-US" altLang="zh-CN" b="1" dirty="0"/>
              <a:t>llm_insights.py</a:t>
            </a:r>
            <a:r>
              <a:rPr lang="en-US" altLang="zh-CN" dirty="0"/>
              <a:t> </a:t>
            </a:r>
            <a:r>
              <a:rPr lang="zh-CN" altLang="en-US" dirty="0"/>
              <a:t>调用了 </a:t>
            </a:r>
            <a:r>
              <a:rPr lang="en-US" altLang="zh-CN" dirty="0"/>
              <a:t>OpenAI API</a:t>
            </a:r>
            <a:r>
              <a:rPr lang="zh-CN" altLang="en-US" dirty="0"/>
              <a:t>，用大模型自动生成分析和 </a:t>
            </a:r>
            <a:r>
              <a:rPr lang="en-US" altLang="zh-CN" dirty="0"/>
              <a:t>Markdown </a:t>
            </a:r>
            <a:r>
              <a:rPr lang="zh-CN" altLang="en-US" dirty="0"/>
              <a:t>报告。</a:t>
            </a:r>
          </a:p>
          <a:p>
            <a:endParaRPr lang="en-US" altLang="zh-CN" dirty="0"/>
          </a:p>
        </p:txBody>
      </p:sp>
      <p:sp>
        <p:nvSpPr>
          <p:cNvPr id="4" name="灯片编号占位符 3"/>
          <p:cNvSpPr>
            <a:spLocks noGrp="1"/>
          </p:cNvSpPr>
          <p:nvPr>
            <p:ph type="sldNum" sz="quarter" idx="5"/>
          </p:nvPr>
        </p:nvSpPr>
        <p:spPr/>
        <p:txBody>
          <a:bodyPr/>
          <a:lstStyle/>
          <a:p>
            <a:fld id="{ABBC829C-D09A-43DE-B9B9-5AEB4E9E12A8}" type="slidenum">
              <a:rPr lang="zh-CN" altLang="en-US" smtClean="0"/>
              <a:t>3</a:t>
            </a:fld>
            <a:endParaRPr lang="zh-CN" altLang="en-US"/>
          </a:p>
        </p:txBody>
      </p:sp>
    </p:spTree>
    <p:extLst>
      <p:ext uri="{BB962C8B-B14F-4D97-AF65-F5344CB8AC3E}">
        <p14:creationId xmlns:p14="http://schemas.microsoft.com/office/powerpoint/2010/main" val="33432035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28BBF-30C1-8284-9445-DB9500203B5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1CD1754-9DD6-38F1-EAB1-B9484FA7E60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C12C1FC-ACE2-E1DA-7581-24A03DA210C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Our project uses historical loan data from Alibaba Cloud to predict interest rates, classify credit grades, and find customer segments.</a:t>
            </a:r>
            <a:br>
              <a:rPr lang="en-US" altLang="zh-CN" dirty="0"/>
            </a:br>
            <a:r>
              <a:rPr lang="en-US" altLang="zh-CN" dirty="0"/>
              <a:t>We built a full pipeline for data cleaning, modeling, and automated reporting—aiming for the risk-analysis dashboard shown on the right.</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a:extLst>
              <a:ext uri="{FF2B5EF4-FFF2-40B4-BE49-F238E27FC236}">
                <a16:creationId xmlns:a16="http://schemas.microsoft.com/office/drawing/2014/main" id="{3FDEAC77-CA03-45B1-F9A5-DEA3F146DE50}"/>
              </a:ext>
            </a:extLst>
          </p:cNvPr>
          <p:cNvSpPr>
            <a:spLocks noGrp="1"/>
          </p:cNvSpPr>
          <p:nvPr>
            <p:ph type="sldNum" sz="quarter" idx="5"/>
          </p:nvPr>
        </p:nvSpPr>
        <p:spPr/>
        <p:txBody>
          <a:bodyPr/>
          <a:lstStyle/>
          <a:p>
            <a:fld id="{ABBC829C-D09A-43DE-B9B9-5AEB4E9E12A8}" type="slidenum">
              <a:rPr lang="zh-CN" altLang="en-US" smtClean="0"/>
              <a:t>4</a:t>
            </a:fld>
            <a:endParaRPr lang="zh-CN" altLang="en-US"/>
          </a:p>
        </p:txBody>
      </p:sp>
    </p:spTree>
    <p:extLst>
      <p:ext uri="{BB962C8B-B14F-4D97-AF65-F5344CB8AC3E}">
        <p14:creationId xmlns:p14="http://schemas.microsoft.com/office/powerpoint/2010/main" val="30941238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Our workflow starts with EDA and feature engineering,</a:t>
            </a:r>
            <a:br>
              <a:rPr lang="en-US" altLang="zh-CN" dirty="0"/>
            </a:br>
            <a:r>
              <a:rPr lang="en-US" altLang="zh-CN" dirty="0"/>
              <a:t>then we use gradient boosting for both regression and classification tasks,</a:t>
            </a:r>
            <a:br>
              <a:rPr lang="en-US" altLang="zh-CN" dirty="0"/>
            </a:br>
            <a:r>
              <a:rPr lang="en-US" altLang="zh-CN" dirty="0"/>
              <a:t>followed by clustering to find customer segments.</a:t>
            </a:r>
            <a:br>
              <a:rPr lang="en-US" altLang="zh-CN" dirty="0"/>
            </a:br>
            <a:r>
              <a:rPr lang="en-US" altLang="zh-CN" dirty="0"/>
              <a:t>Finally, all results are turned into automated reports and an online risk dashboard.</a:t>
            </a:r>
            <a:endParaRPr lang="zh-CN" altLang="en-US" dirty="0"/>
          </a:p>
        </p:txBody>
      </p:sp>
      <p:sp>
        <p:nvSpPr>
          <p:cNvPr id="4" name="灯片编号占位符 3"/>
          <p:cNvSpPr>
            <a:spLocks noGrp="1"/>
          </p:cNvSpPr>
          <p:nvPr>
            <p:ph type="sldNum" sz="quarter" idx="5"/>
          </p:nvPr>
        </p:nvSpPr>
        <p:spPr/>
        <p:txBody>
          <a:bodyPr/>
          <a:lstStyle/>
          <a:p>
            <a:fld id="{ABBC829C-D09A-43DE-B9B9-5AEB4E9E12A8}" type="slidenum">
              <a:rPr lang="zh-CN" altLang="en-US" smtClean="0"/>
              <a:t>5</a:t>
            </a:fld>
            <a:endParaRPr lang="zh-CN" altLang="en-US"/>
          </a:p>
        </p:txBody>
      </p:sp>
    </p:spTree>
    <p:extLst>
      <p:ext uri="{BB962C8B-B14F-4D97-AF65-F5344CB8AC3E}">
        <p14:creationId xmlns:p14="http://schemas.microsoft.com/office/powerpoint/2010/main" val="3520145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Here are the regression results for predicting loan interest rates.</a:t>
            </a:r>
            <a:br>
              <a:rPr lang="en-US" altLang="zh-CN" dirty="0"/>
            </a:br>
            <a:r>
              <a:rPr lang="en-US" altLang="zh-CN" dirty="0"/>
              <a:t>We used a histogram-based gradient boosting model, which achieved an R-squared of about 0.95 on validation and 0.90 on the test set, showing strong generalization.</a:t>
            </a:r>
            <a:br>
              <a:rPr lang="en-US" altLang="zh-CN" dirty="0"/>
            </a:br>
            <a:r>
              <a:rPr lang="en-US" altLang="zh-CN" dirty="0"/>
              <a:t>Both MAE and RMSE remain low, meaning the predictions are quite accurate.</a:t>
            </a:r>
            <a:br>
              <a:rPr lang="en-US" altLang="zh-CN" dirty="0"/>
            </a:br>
            <a:r>
              <a:rPr lang="en-US" altLang="zh-CN" dirty="0"/>
              <a:t>As you can see from the scatter plot, most points lie close to the diagonal line, confirming that the model captures the true relationship between features and interest rates effectively.</a:t>
            </a:r>
            <a:endParaRPr lang="zh-CN" altLang="en-US" dirty="0"/>
          </a:p>
        </p:txBody>
      </p:sp>
      <p:sp>
        <p:nvSpPr>
          <p:cNvPr id="4" name="灯片编号占位符 3"/>
          <p:cNvSpPr>
            <a:spLocks noGrp="1"/>
          </p:cNvSpPr>
          <p:nvPr>
            <p:ph type="sldNum" sz="quarter" idx="5"/>
          </p:nvPr>
        </p:nvSpPr>
        <p:spPr/>
        <p:txBody>
          <a:bodyPr/>
          <a:lstStyle/>
          <a:p>
            <a:fld id="{ABBC829C-D09A-43DE-B9B9-5AEB4E9E12A8}" type="slidenum">
              <a:rPr lang="zh-CN" altLang="en-US" smtClean="0"/>
              <a:t>6</a:t>
            </a:fld>
            <a:endParaRPr lang="zh-CN" altLang="en-US"/>
          </a:p>
        </p:txBody>
      </p:sp>
    </p:spTree>
    <p:extLst>
      <p:ext uri="{BB962C8B-B14F-4D97-AF65-F5344CB8AC3E}">
        <p14:creationId xmlns:p14="http://schemas.microsoft.com/office/powerpoint/2010/main" val="24172368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To evaluate the regression model, we analyzed the residuals — the differences between predicted and true interest rates.</a:t>
            </a:r>
            <a:br>
              <a:rPr lang="en-US" altLang="zh-CN" dirty="0"/>
            </a:br>
            <a:r>
              <a:rPr lang="en-US" altLang="zh-CN" dirty="0"/>
              <a:t>Most residuals are centered tightly around zero, showing low bias and stable variance.</a:t>
            </a:r>
            <a:br>
              <a:rPr lang="en-US" altLang="zh-CN" dirty="0"/>
            </a:br>
            <a:r>
              <a:rPr lang="en-US" altLang="zh-CN" dirty="0"/>
              <a:t>The high R² values of about 0.95 on validation and 0.90 on test confirm that the model fits the data well.</a:t>
            </a:r>
            <a:br>
              <a:rPr lang="en-US" altLang="zh-CN" dirty="0"/>
            </a:br>
            <a:r>
              <a:rPr lang="en-US" altLang="zh-CN" dirty="0"/>
              <a:t>There are a few outliers and slight skewness, which could be improved with further hyperparameter tuning.</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ABBC829C-D09A-43DE-B9B9-5AEB4E9E12A8}" type="slidenum">
              <a:rPr lang="zh-CN" altLang="en-US" smtClean="0"/>
              <a:t>7</a:t>
            </a:fld>
            <a:endParaRPr lang="zh-CN" altLang="en-US"/>
          </a:p>
        </p:txBody>
      </p:sp>
    </p:spTree>
    <p:extLst>
      <p:ext uri="{BB962C8B-B14F-4D97-AF65-F5344CB8AC3E}">
        <p14:creationId xmlns:p14="http://schemas.microsoft.com/office/powerpoint/2010/main" val="4249323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For credit-grade classification, we used a histogram-based gradient boosting model.</a:t>
            </a:r>
            <a:br>
              <a:rPr lang="en-US" altLang="zh-CN" dirty="0"/>
            </a:br>
            <a:r>
              <a:rPr lang="en-US" altLang="zh-CN" dirty="0"/>
              <a:t>It achieved about 57% accuracy and an overall AUC of 0.85, showing good discriminative power.</a:t>
            </a:r>
            <a:br>
              <a:rPr lang="en-US" altLang="zh-CN" dirty="0"/>
            </a:br>
            <a:r>
              <a:rPr lang="en-US" altLang="zh-CN" dirty="0"/>
              <a:t>The weighted F1 is higher than the macro F1, which reflects the class imbalance in the dataset.</a:t>
            </a:r>
            <a:br>
              <a:rPr lang="en-US" altLang="zh-CN" dirty="0"/>
            </a:br>
            <a:r>
              <a:rPr lang="en-US" altLang="zh-CN" dirty="0"/>
              <a:t>From the confusion matrix, we can see that most errors occur between adjacent grades such as B and C.</a:t>
            </a:r>
            <a:br>
              <a:rPr lang="en-US" altLang="zh-CN" dirty="0"/>
            </a:br>
            <a:r>
              <a:rPr lang="en-US" altLang="zh-CN" dirty="0"/>
              <a:t>Future improvement could focus on balancing the data or tuning thresholds to raise the macro F1.</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ABBC829C-D09A-43DE-B9B9-5AEB4E9E12A8}" type="slidenum">
              <a:rPr lang="zh-CN" altLang="en-US" smtClean="0"/>
              <a:t>8</a:t>
            </a:fld>
            <a:endParaRPr lang="zh-CN" altLang="en-US"/>
          </a:p>
        </p:txBody>
      </p:sp>
    </p:spTree>
    <p:extLst>
      <p:ext uri="{BB962C8B-B14F-4D97-AF65-F5344CB8AC3E}">
        <p14:creationId xmlns:p14="http://schemas.microsoft.com/office/powerpoint/2010/main" val="23702920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ROC curve shows an AUC of 0.936, which means our classifier distinguishes positive and negative cases very well.</a:t>
            </a:r>
            <a:br>
              <a:rPr lang="en-US" altLang="zh-CN" dirty="0"/>
            </a:br>
            <a:r>
              <a:rPr lang="en-US" altLang="zh-CN" dirty="0"/>
              <a:t>We selected the threshold using Youden’s J statistic to balance sensitivity and specificity.</a:t>
            </a:r>
            <a:br>
              <a:rPr lang="en-US" altLang="zh-CN" dirty="0"/>
            </a:br>
            <a:r>
              <a:rPr lang="en-US" altLang="zh-CN" dirty="0"/>
              <a:t>The precision–recall curve also highlights the trade-off caused by class imbalance.</a:t>
            </a:r>
            <a:br>
              <a:rPr lang="en-US" altLang="zh-CN" dirty="0"/>
            </a:br>
            <a:r>
              <a:rPr lang="en-US" altLang="zh-CN" dirty="0"/>
              <a:t>From these results, we found that high-risk borrowers are often younger, have lower income, larger loans, or poor</a:t>
            </a:r>
          </a:p>
          <a:p>
            <a:r>
              <a:rPr lang="en-US" altLang="zh-CN" dirty="0"/>
              <a:t>ROC </a:t>
            </a:r>
            <a:r>
              <a:rPr lang="zh-CN" altLang="en-US" dirty="0"/>
              <a:t>曲线的 </a:t>
            </a:r>
            <a:r>
              <a:rPr lang="en-US" altLang="zh-CN" dirty="0"/>
              <a:t>AUC </a:t>
            </a:r>
            <a:r>
              <a:rPr lang="zh-CN" altLang="en-US" dirty="0"/>
              <a:t>达到 </a:t>
            </a:r>
            <a:r>
              <a:rPr lang="en-US" altLang="zh-CN" dirty="0"/>
              <a:t>0.936</a:t>
            </a:r>
            <a:r>
              <a:rPr lang="zh-CN" altLang="en-US" dirty="0"/>
              <a:t>，说明模型对违约与非违约样本的区分能力很强。</a:t>
            </a:r>
            <a:br>
              <a:rPr lang="zh-CN" altLang="en-US" dirty="0"/>
            </a:br>
            <a:r>
              <a:rPr lang="zh-CN" altLang="en-US" dirty="0"/>
              <a:t>我们使用 </a:t>
            </a:r>
            <a:r>
              <a:rPr lang="en-US" altLang="zh-CN" dirty="0"/>
              <a:t>Youden’s J </a:t>
            </a:r>
            <a:r>
              <a:rPr lang="zh-CN" altLang="en-US" dirty="0"/>
              <a:t>指标来平衡灵敏度和特异性。</a:t>
            </a:r>
            <a:br>
              <a:rPr lang="zh-CN" altLang="en-US" dirty="0"/>
            </a:br>
            <a:r>
              <a:rPr lang="zh-CN" altLang="en-US" dirty="0"/>
              <a:t>同时，</a:t>
            </a:r>
            <a:r>
              <a:rPr lang="en-US" altLang="zh-CN" dirty="0"/>
              <a:t>PR </a:t>
            </a:r>
            <a:r>
              <a:rPr lang="zh-CN" altLang="en-US" dirty="0"/>
              <a:t>曲线揭示了样本不平衡带来的精确率与召回率权衡。</a:t>
            </a:r>
            <a:br>
              <a:rPr lang="zh-CN" altLang="en-US" dirty="0"/>
            </a:br>
            <a:r>
              <a:rPr lang="zh-CN" altLang="en-US" dirty="0"/>
              <a:t>从这些结果可以看出，高风险借款人通常更年轻、收入较低、贷款额更大，或有不良信用记录</a:t>
            </a:r>
            <a:r>
              <a:rPr lang="en-US" altLang="zh-CN" dirty="0"/>
              <a:t>——</a:t>
            </a:r>
            <a:r>
              <a:rPr lang="zh-CN" altLang="en-US" dirty="0"/>
              <a:t>这些特征都显著提高违约概率。</a:t>
            </a:r>
          </a:p>
        </p:txBody>
      </p:sp>
      <p:sp>
        <p:nvSpPr>
          <p:cNvPr id="4" name="灯片编号占位符 3"/>
          <p:cNvSpPr>
            <a:spLocks noGrp="1"/>
          </p:cNvSpPr>
          <p:nvPr>
            <p:ph type="sldNum" sz="quarter" idx="5"/>
          </p:nvPr>
        </p:nvSpPr>
        <p:spPr/>
        <p:txBody>
          <a:bodyPr/>
          <a:lstStyle/>
          <a:p>
            <a:fld id="{ABBC829C-D09A-43DE-B9B9-5AEB4E9E12A8}" type="slidenum">
              <a:rPr lang="zh-CN" altLang="en-US" smtClean="0"/>
              <a:t>9</a:t>
            </a:fld>
            <a:endParaRPr lang="zh-CN" altLang="en-US"/>
          </a:p>
        </p:txBody>
      </p:sp>
    </p:spTree>
    <p:extLst>
      <p:ext uri="{BB962C8B-B14F-4D97-AF65-F5344CB8AC3E}">
        <p14:creationId xmlns:p14="http://schemas.microsoft.com/office/powerpoint/2010/main" val="31643077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We applied k-means clustering after dimensionality reduction to uncover hidden borrower segments.</a:t>
            </a:r>
            <a:br>
              <a:rPr lang="en-US" altLang="zh-CN" dirty="0"/>
            </a:br>
            <a:r>
              <a:rPr lang="en-US" altLang="zh-CN" dirty="0"/>
              <a:t>The silhouette score peaks at k = 2, suggesting two clear clusters.</a:t>
            </a:r>
            <a:br>
              <a:rPr lang="en-US" altLang="zh-CN" dirty="0"/>
            </a:br>
            <a:r>
              <a:rPr lang="en-US" altLang="zh-CN" dirty="0"/>
              <a:t>Cluster 0 represents borrowers with smaller loans and moderate incomes, while Cluster 1 includes those with larger loans and higher incomes.</a:t>
            </a:r>
            <a:br>
              <a:rPr lang="en-US" altLang="zh-CN" dirty="0"/>
            </a:br>
            <a:r>
              <a:rPr lang="en-US" altLang="zh-CN" dirty="0"/>
              <a:t>This segmentation helps design targeted credit strategies and personalized financial products for different customer groups.</a:t>
            </a:r>
          </a:p>
          <a:p>
            <a:r>
              <a:rPr lang="zh-CN" altLang="en-US" dirty="0"/>
              <a:t>我们在降维后使用了 </a:t>
            </a:r>
            <a:r>
              <a:rPr lang="en-US" altLang="zh-CN" dirty="0"/>
              <a:t>k-means </a:t>
            </a:r>
            <a:r>
              <a:rPr lang="zh-CN" altLang="en-US" dirty="0"/>
              <a:t>聚类来发现潜在的借款人群体。</a:t>
            </a:r>
            <a:br>
              <a:rPr lang="zh-CN" altLang="en-US" dirty="0"/>
            </a:br>
            <a:r>
              <a:rPr lang="zh-CN" altLang="en-US" dirty="0"/>
              <a:t>轮廓系数在 </a:t>
            </a:r>
            <a:r>
              <a:rPr lang="en-US" altLang="zh-CN" dirty="0"/>
              <a:t>k = 2 </a:t>
            </a:r>
            <a:r>
              <a:rPr lang="zh-CN" altLang="en-US" dirty="0"/>
              <a:t>时达到峰值，说明存在两个较明显的聚类。</a:t>
            </a:r>
            <a:br>
              <a:rPr lang="zh-CN" altLang="en-US" dirty="0"/>
            </a:br>
            <a:r>
              <a:rPr lang="zh-CN" altLang="en-US" dirty="0"/>
              <a:t>第一类用户贷款金额较小、收入适中；第二类贷款较大、收入更高。</a:t>
            </a:r>
            <a:br>
              <a:rPr lang="zh-CN" altLang="en-US" dirty="0"/>
            </a:br>
            <a:r>
              <a:rPr lang="zh-CN" altLang="en-US" dirty="0"/>
              <a:t>这种客户分群有助于制定更有针对性的信贷策略和个性化金融产品。</a:t>
            </a:r>
            <a:br>
              <a:rPr lang="en-US" altLang="zh-CN" sz="1200" kern="1200" dirty="0">
                <a:solidFill>
                  <a:schemeClr val="tx1"/>
                </a:solidFill>
                <a:effectLst/>
                <a:latin typeface="+mn-lt"/>
                <a:ea typeface="+mn-ea"/>
                <a:cs typeface="+mn-cs"/>
              </a:rPr>
            </a:b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ABBC829C-D09A-43DE-B9B9-5AEB4E9E12A8}" type="slidenum">
              <a:rPr lang="zh-CN" altLang="en-US" smtClean="0"/>
              <a:t>10</a:t>
            </a:fld>
            <a:endParaRPr lang="zh-CN" altLang="en-US"/>
          </a:p>
        </p:txBody>
      </p:sp>
    </p:spTree>
    <p:extLst>
      <p:ext uri="{BB962C8B-B14F-4D97-AF65-F5344CB8AC3E}">
        <p14:creationId xmlns:p14="http://schemas.microsoft.com/office/powerpoint/2010/main" val="5482240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This page shows our </a:t>
            </a:r>
            <a:r>
              <a:rPr lang="en-US" altLang="zh-CN" b="1" dirty="0"/>
              <a:t>Risk Analysis Dashboard</a:t>
            </a:r>
            <a:r>
              <a:rPr lang="en-US" altLang="zh-CN" dirty="0"/>
              <a:t>, which turns model outputs into an intuitive web tool.</a:t>
            </a:r>
            <a:br>
              <a:rPr lang="en-US" altLang="zh-CN" dirty="0"/>
            </a:br>
            <a:r>
              <a:rPr lang="en-US" altLang="zh-CN" dirty="0"/>
              <a:t>On the right, we can see the </a:t>
            </a:r>
            <a:r>
              <a:rPr lang="en-US" altLang="zh-CN" b="1" dirty="0"/>
              <a:t>distribution</a:t>
            </a:r>
            <a:r>
              <a:rPr lang="en-US" altLang="zh-CN" dirty="0"/>
              <a:t> of low, medium, and high-risk users, and the </a:t>
            </a:r>
            <a:r>
              <a:rPr lang="en-US" altLang="zh-CN" b="1" dirty="0"/>
              <a:t>trend curve</a:t>
            </a:r>
            <a:r>
              <a:rPr lang="en-US" altLang="zh-CN" dirty="0"/>
              <a:t> that tracks how overall risk changes over time.</a:t>
            </a:r>
            <a:br>
              <a:rPr lang="en-US" altLang="zh-CN" dirty="0"/>
            </a:br>
            <a:r>
              <a:rPr lang="en-US" altLang="zh-CN" dirty="0"/>
              <a:t>Below is a </a:t>
            </a:r>
            <a:r>
              <a:rPr lang="en-US" altLang="zh-CN" b="1" dirty="0"/>
              <a:t>ranking table</a:t>
            </a:r>
            <a:r>
              <a:rPr lang="en-US" altLang="zh-CN" dirty="0"/>
              <a:t> where each user’s risk score and the main influencing factors are displayed.</a:t>
            </a:r>
            <a:br>
              <a:rPr lang="en-US" altLang="zh-CN" dirty="0"/>
            </a:br>
            <a:r>
              <a:rPr lang="en-US" altLang="zh-CN" dirty="0"/>
              <a:t>On the left, users can </a:t>
            </a:r>
            <a:r>
              <a:rPr lang="en-US" altLang="zh-CN" b="1" dirty="0"/>
              <a:t>filter by risk level</a:t>
            </a:r>
            <a:r>
              <a:rPr lang="en-US" altLang="zh-CN" dirty="0"/>
              <a:t>, adjust score thresholds, or </a:t>
            </a:r>
            <a:r>
              <a:rPr lang="en-US" altLang="zh-CN" b="1" dirty="0"/>
              <a:t>search by user ID</a:t>
            </a:r>
            <a:r>
              <a:rPr lang="en-US" altLang="zh-CN" dirty="0"/>
              <a:t> for detailed analysis.</a:t>
            </a:r>
            <a:br>
              <a:rPr lang="en-US" altLang="zh-CN" dirty="0"/>
            </a:br>
            <a:r>
              <a:rPr lang="en-US" altLang="zh-CN" dirty="0"/>
              <a:t>This dashboard is online and interactive, helping decision-makers spot risk patterns quickly.</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这一页展示的是我们的</a:t>
            </a:r>
            <a:r>
              <a:rPr lang="zh-CN" altLang="en-US" b="1" dirty="0"/>
              <a:t>风险分析仪表盘</a:t>
            </a:r>
            <a:r>
              <a:rPr lang="zh-CN" altLang="en-US" dirty="0"/>
              <a:t>。</a:t>
            </a:r>
            <a:br>
              <a:rPr lang="zh-CN" altLang="en-US" dirty="0"/>
            </a:br>
            <a:r>
              <a:rPr lang="zh-CN" altLang="en-US" dirty="0"/>
              <a:t>它可以直观地展示不同用户的风险等级，并跟踪整体风险随时间的变化趋势。</a:t>
            </a:r>
            <a:br>
              <a:rPr lang="zh-CN" altLang="en-US" dirty="0"/>
            </a:br>
            <a:r>
              <a:rPr lang="zh-CN" altLang="en-US" dirty="0"/>
              <a:t>排名表会显示每个用户的风险分数以及主要影响因素。</a:t>
            </a:r>
            <a:br>
              <a:rPr lang="zh-CN" altLang="en-US" dirty="0"/>
            </a:br>
            <a:r>
              <a:rPr lang="zh-CN" altLang="en-US" dirty="0"/>
              <a:t>左侧提供交互功能，可以按照风险等级筛选、调整阈值，或搜索具体用户。</a:t>
            </a:r>
            <a:br>
              <a:rPr lang="zh-CN" altLang="en-US" dirty="0"/>
            </a:br>
            <a:r>
              <a:rPr lang="zh-CN" altLang="en-US" dirty="0"/>
              <a:t>整个系统是在线可交互的，可用于实时风险监测与决策支持。</a:t>
            </a:r>
          </a:p>
        </p:txBody>
      </p:sp>
      <p:sp>
        <p:nvSpPr>
          <p:cNvPr id="4" name="灯片编号占位符 3"/>
          <p:cNvSpPr>
            <a:spLocks noGrp="1"/>
          </p:cNvSpPr>
          <p:nvPr>
            <p:ph type="sldNum" sz="quarter" idx="5"/>
          </p:nvPr>
        </p:nvSpPr>
        <p:spPr/>
        <p:txBody>
          <a:bodyPr/>
          <a:lstStyle/>
          <a:p>
            <a:fld id="{ABBC829C-D09A-43DE-B9B9-5AEB4E9E12A8}" type="slidenum">
              <a:rPr lang="zh-CN" altLang="en-US" smtClean="0"/>
              <a:t>11</a:t>
            </a:fld>
            <a:endParaRPr lang="zh-CN" altLang="en-US"/>
          </a:p>
        </p:txBody>
      </p:sp>
    </p:spTree>
    <p:extLst>
      <p:ext uri="{BB962C8B-B14F-4D97-AF65-F5344CB8AC3E}">
        <p14:creationId xmlns:p14="http://schemas.microsoft.com/office/powerpoint/2010/main" val="23068083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This slide shows our </a:t>
            </a:r>
            <a:r>
              <a:rPr lang="en-US" altLang="zh-CN" b="1" dirty="0" err="1"/>
              <a:t>LangGraph</a:t>
            </a:r>
            <a:r>
              <a:rPr lang="en-US" altLang="zh-CN" b="1" dirty="0"/>
              <a:t>-based agent workflow</a:t>
            </a:r>
            <a:r>
              <a:rPr lang="en-US" altLang="zh-CN" dirty="0"/>
              <a:t>, which is not just automated but also </a:t>
            </a:r>
            <a:r>
              <a:rPr lang="en-US" altLang="zh-CN" b="1" dirty="0"/>
              <a:t>modular and reusable</a:t>
            </a:r>
            <a:r>
              <a:rPr lang="en-US" altLang="zh-CN" dirty="0"/>
              <a:t>.</a:t>
            </a:r>
            <a:br>
              <a:rPr lang="en-US" altLang="zh-CN" dirty="0"/>
            </a:br>
            <a:r>
              <a:rPr lang="en-US" altLang="zh-CN" dirty="0"/>
              <a:t>Each component — Planner, Executor, Visualizer, and Reporter — works independently and can be reused across different data projects.</a:t>
            </a:r>
            <a:br>
              <a:rPr lang="en-US" altLang="zh-CN" dirty="0"/>
            </a:br>
            <a:r>
              <a:rPr lang="en-US" altLang="zh-CN" dirty="0"/>
              <a:t>This design makes the workflow easy to adapt for future pipelines, such as credit scoring or recommendation analysis.</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这一页展示的是我们基于 </a:t>
            </a:r>
            <a:r>
              <a:rPr lang="en-US" altLang="zh-CN" b="1" dirty="0" err="1"/>
              <a:t>LangGraph</a:t>
            </a:r>
            <a:r>
              <a:rPr lang="zh-CN" altLang="en-US" dirty="0"/>
              <a:t> 的智能体工作流。</a:t>
            </a:r>
            <a:br>
              <a:rPr lang="zh-CN" altLang="en-US" dirty="0"/>
            </a:br>
            <a:r>
              <a:rPr lang="zh-CN" altLang="en-US" dirty="0"/>
              <a:t>它不仅实现了自动化，还具备</a:t>
            </a:r>
            <a:r>
              <a:rPr lang="zh-CN" altLang="en-US" b="1" dirty="0"/>
              <a:t>模块化和可复用性</a:t>
            </a:r>
            <a:r>
              <a:rPr lang="zh-CN" altLang="en-US" dirty="0"/>
              <a:t>。</a:t>
            </a:r>
            <a:br>
              <a:rPr lang="zh-CN" altLang="en-US" dirty="0"/>
            </a:br>
            <a:r>
              <a:rPr lang="zh-CN" altLang="en-US" dirty="0"/>
              <a:t>每个模块（规划、执行、可视化、报告）都能独立运行，可在其他数据项目中直接复用。</a:t>
            </a:r>
            <a:br>
              <a:rPr lang="zh-CN" altLang="en-US" dirty="0"/>
            </a:br>
            <a:r>
              <a:rPr lang="zh-CN" altLang="en-US" dirty="0"/>
              <a:t>这样的设计让整个流程更容易迁移和扩展，比如风险评估或推荐分析。</a:t>
            </a:r>
          </a:p>
        </p:txBody>
      </p:sp>
      <p:sp>
        <p:nvSpPr>
          <p:cNvPr id="4" name="灯片编号占位符 3"/>
          <p:cNvSpPr>
            <a:spLocks noGrp="1"/>
          </p:cNvSpPr>
          <p:nvPr>
            <p:ph type="sldNum" sz="quarter" idx="5"/>
          </p:nvPr>
        </p:nvSpPr>
        <p:spPr/>
        <p:txBody>
          <a:bodyPr/>
          <a:lstStyle/>
          <a:p>
            <a:fld id="{ABBC829C-D09A-43DE-B9B9-5AEB4E9E12A8}" type="slidenum">
              <a:rPr lang="zh-CN" altLang="en-US" smtClean="0"/>
              <a:t>12</a:t>
            </a:fld>
            <a:endParaRPr lang="zh-CN" altLang="en-US"/>
          </a:p>
        </p:txBody>
      </p:sp>
    </p:spTree>
    <p:extLst>
      <p:ext uri="{BB962C8B-B14F-4D97-AF65-F5344CB8AC3E}">
        <p14:creationId xmlns:p14="http://schemas.microsoft.com/office/powerpoint/2010/main" val="14752893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Our project was developed collaboratively through GitHub.</a:t>
            </a:r>
            <a:br>
              <a:rPr lang="en-US" altLang="zh-CN" dirty="0"/>
            </a:br>
            <a:r>
              <a:rPr lang="en-US" altLang="zh-CN" dirty="0" err="1"/>
              <a:t>Xu</a:t>
            </a:r>
            <a:r>
              <a:rPr lang="en-US" altLang="zh-CN" b="1" dirty="0" err="1"/>
              <a:t>Shuangbo</a:t>
            </a:r>
            <a:r>
              <a:rPr lang="en-US" altLang="zh-CN" dirty="0"/>
              <a:t> designed the overall framework, wrote the core code, and completed the design report.</a:t>
            </a:r>
            <a:br>
              <a:rPr lang="en-US" altLang="zh-CN" dirty="0"/>
            </a:br>
            <a:r>
              <a:rPr lang="en-US" altLang="zh-CN" dirty="0" err="1"/>
              <a:t>Li</a:t>
            </a:r>
            <a:r>
              <a:rPr lang="en-US" altLang="zh-CN" b="1" dirty="0" err="1"/>
              <a:t>Shangze</a:t>
            </a:r>
            <a:r>
              <a:rPr lang="en-US" altLang="zh-CN" dirty="0"/>
              <a:t> collected and organized the dataset, helped debug and test the workflow, and created the final presentation slides.</a:t>
            </a:r>
            <a:br>
              <a:rPr lang="en-US" altLang="zh-CN" dirty="0"/>
            </a:br>
            <a:r>
              <a:rPr lang="en-US" altLang="zh-CN" dirty="0"/>
              <a:t>Using GitHub allowed us to share code, track issues, and merge changes efficiently — it made our teamwork smoother and more professional.</a:t>
            </a:r>
            <a:br>
              <a:rPr lang="en-US" altLang="zh-CN" sz="1200" kern="1200" dirty="0">
                <a:solidFill>
                  <a:schemeClr val="tx1"/>
                </a:solidFill>
                <a:effectLst/>
                <a:latin typeface="+mn-lt"/>
                <a:ea typeface="+mn-ea"/>
                <a:cs typeface="+mn-cs"/>
              </a:rPr>
            </a:br>
            <a:endParaRPr lang="zh-CN"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我们整个项目是在 </a:t>
            </a:r>
            <a:r>
              <a:rPr lang="en-US" altLang="zh-CN" b="1" dirty="0"/>
              <a:t>GitHub</a:t>
            </a:r>
            <a:r>
              <a:rPr lang="zh-CN" altLang="en-US" dirty="0"/>
              <a:t> 上协同完成的。</a:t>
            </a:r>
            <a:br>
              <a:rPr lang="zh-CN" altLang="en-US" dirty="0"/>
            </a:br>
            <a:r>
              <a:rPr lang="en-US" altLang="zh-CN" b="1" dirty="0" err="1"/>
              <a:t>Shuangbo</a:t>
            </a:r>
            <a:r>
              <a:rPr lang="zh-CN" altLang="en-US" dirty="0"/>
              <a:t> 负责整体设计思路、核心代码实现，以及报告撰写；</a:t>
            </a:r>
            <a:br>
              <a:rPr lang="zh-CN" altLang="en-US" dirty="0"/>
            </a:br>
            <a:r>
              <a:rPr lang="en-US" altLang="zh-CN" b="1" dirty="0" err="1"/>
              <a:t>Shangze</a:t>
            </a:r>
            <a:r>
              <a:rPr lang="zh-CN" altLang="en-US" dirty="0"/>
              <a:t> 负责数据收集与整理，调试与试运行，并完成最终展示</a:t>
            </a:r>
            <a:r>
              <a:rPr lang="en-US" altLang="zh-CN" dirty="0"/>
              <a:t>PPT</a:t>
            </a:r>
            <a:r>
              <a:rPr lang="zh-CN" altLang="en-US" dirty="0"/>
              <a:t>。</a:t>
            </a:r>
            <a:br>
              <a:rPr lang="zh-CN" altLang="en-US" dirty="0"/>
            </a:br>
            <a:r>
              <a:rPr lang="zh-CN" altLang="en-US" dirty="0"/>
              <a:t>借助 </a:t>
            </a:r>
            <a:r>
              <a:rPr lang="en-US" altLang="zh-CN" dirty="0"/>
              <a:t>GitHub</a:t>
            </a:r>
            <a:r>
              <a:rPr lang="zh-CN" altLang="en-US" dirty="0"/>
              <a:t>，我们能够同步代码、跟踪进度并合并修改，大大提高了协作效率。</a:t>
            </a:r>
            <a:br>
              <a:rPr lang="en-US" altLang="zh-CN" sz="1200" kern="1200" dirty="0">
                <a:solidFill>
                  <a:schemeClr val="tx1"/>
                </a:solidFill>
                <a:effectLst/>
                <a:latin typeface="+mn-lt"/>
                <a:ea typeface="+mn-ea"/>
                <a:cs typeface="+mn-cs"/>
              </a:rPr>
            </a:b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ABBC829C-D09A-43DE-B9B9-5AEB4E9E12A8}" type="slidenum">
              <a:rPr lang="zh-CN" altLang="en-US" smtClean="0"/>
              <a:t>13</a:t>
            </a:fld>
            <a:endParaRPr lang="zh-CN" altLang="en-US"/>
          </a:p>
        </p:txBody>
      </p:sp>
    </p:spTree>
    <p:extLst>
      <p:ext uri="{BB962C8B-B14F-4D97-AF65-F5344CB8AC3E}">
        <p14:creationId xmlns:p14="http://schemas.microsoft.com/office/powerpoint/2010/main" val="17158459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To summarize, we built a reproducible end-to-end pipeline that automates everything from data analysis to reporting.</a:t>
            </a:r>
            <a:br>
              <a:rPr lang="en-US" altLang="zh-CN" dirty="0"/>
            </a:br>
            <a:r>
              <a:rPr lang="en-US" altLang="zh-CN" dirty="0"/>
              <a:t>The regression model achieved high accuracy in predicting interest rates, and the classification model reached an AUC of 0.85.</a:t>
            </a:r>
            <a:br>
              <a:rPr lang="en-US" altLang="zh-CN" dirty="0"/>
            </a:br>
            <a:r>
              <a:rPr lang="en-US" altLang="zh-CN" dirty="0"/>
              <a:t>Clustering revealed two major customer groups, supporting targeted credit strategies.</a:t>
            </a:r>
            <a:br>
              <a:rPr lang="en-US" altLang="zh-CN" dirty="0"/>
            </a:br>
            <a:r>
              <a:rPr lang="en-US" altLang="zh-CN" dirty="0"/>
              <a:t>Our </a:t>
            </a:r>
            <a:r>
              <a:rPr lang="en-US" altLang="zh-CN" dirty="0" err="1"/>
              <a:t>LangGraph</a:t>
            </a:r>
            <a:r>
              <a:rPr lang="en-US" altLang="zh-CN" dirty="0"/>
              <a:t> agent workflow and LLM-powered reporter automated training, visualization, and report writing using the OpenAI API.</a:t>
            </a:r>
            <a:br>
              <a:rPr lang="en-US" altLang="zh-CN" dirty="0"/>
            </a:br>
            <a:r>
              <a:rPr lang="en-US" altLang="zh-CN" dirty="0"/>
              <a:t>Finally, the online dashboard makes risk assessment more transparent and interactive.</a:t>
            </a:r>
            <a:br>
              <a:rPr lang="en-US" altLang="zh-CN" sz="1200" kern="1200" dirty="0">
                <a:solidFill>
                  <a:schemeClr val="tx1"/>
                </a:solidFill>
                <a:effectLst/>
                <a:latin typeface="+mn-lt"/>
                <a:ea typeface="+mn-ea"/>
                <a:cs typeface="+mn-cs"/>
              </a:rPr>
            </a:br>
            <a:r>
              <a:rPr lang="en-US" altLang="zh-CN" sz="1200" kern="1200" dirty="0">
                <a:solidFill>
                  <a:schemeClr val="tx1"/>
                </a:solidFill>
                <a:effectLst/>
                <a:latin typeface="+mn-lt"/>
                <a:ea typeface="+mn-ea"/>
                <a:cs typeface="+mn-cs"/>
              </a:rPr>
              <a:t>Q&amp;A / Backup</a:t>
            </a:r>
            <a:br>
              <a:rPr lang="en-US" altLang="zh-CN" sz="1200" kern="1200" dirty="0">
                <a:solidFill>
                  <a:schemeClr val="tx1"/>
                </a:solidFill>
                <a:effectLst/>
                <a:latin typeface="+mn-lt"/>
                <a:ea typeface="+mn-ea"/>
                <a:cs typeface="+mn-cs"/>
              </a:rPr>
            </a:br>
            <a:r>
              <a:rPr lang="en-US" altLang="zh-CN" sz="1200" kern="1200" dirty="0">
                <a:solidFill>
                  <a:schemeClr val="tx1"/>
                </a:solidFill>
                <a:effectLst/>
                <a:latin typeface="+mn-lt"/>
                <a:ea typeface="+mn-ea"/>
                <a:cs typeface="+mn-cs"/>
              </a:rPr>
              <a:t>That concludes the prepared material.  Here we have a summary table of the classification metrics for quick reference.  Please feel free to ask any questions you have about our models, the metrics we reported, the clustering analysis or the agent workflow.  We are happy to discuss our methodology, dive deeper into specific results or elaborate on the business insights drawn from the analysis.  Your feedback will be invaluable as we refine our approach for the final submission.</a:t>
            </a:r>
            <a:endParaRPr lang="zh-CN" altLang="zh-CN" sz="1200" kern="1200" dirty="0">
              <a:solidFill>
                <a:schemeClr val="tx1"/>
              </a:solidFill>
              <a:effectLst/>
              <a:latin typeface="+mn-lt"/>
              <a:ea typeface="+mn-ea"/>
              <a:cs typeface="+mn-cs"/>
            </a:endParaRPr>
          </a:p>
          <a:p>
            <a:r>
              <a:rPr lang="zh-CN" altLang="en-US" dirty="0"/>
              <a:t>总结来说，我们构建了一个可复现的端到端流程，实现了从数据分析到报告生成的全自动化。</a:t>
            </a:r>
            <a:br>
              <a:rPr lang="zh-CN" altLang="en-US" dirty="0"/>
            </a:br>
            <a:r>
              <a:rPr lang="zh-CN" altLang="en-US" dirty="0"/>
              <a:t>回归模型在利率预测上表现出很高的准确度，分类模型的 </a:t>
            </a:r>
            <a:r>
              <a:rPr lang="en-US" altLang="zh-CN" dirty="0"/>
              <a:t>AUC </a:t>
            </a:r>
            <a:r>
              <a:rPr lang="zh-CN" altLang="en-US" dirty="0"/>
              <a:t>达到 </a:t>
            </a:r>
            <a:r>
              <a:rPr lang="en-US" altLang="zh-CN" dirty="0"/>
              <a:t>0.85</a:t>
            </a:r>
            <a:r>
              <a:rPr lang="zh-CN" altLang="en-US" dirty="0"/>
              <a:t>。</a:t>
            </a:r>
            <a:br>
              <a:rPr lang="zh-CN" altLang="en-US" dirty="0"/>
            </a:br>
            <a:r>
              <a:rPr lang="zh-CN" altLang="en-US" dirty="0"/>
              <a:t>聚类分析识别了两类主要客户群体，为精准信贷策略提供了支持。</a:t>
            </a:r>
            <a:br>
              <a:rPr lang="zh-CN" altLang="en-US" dirty="0"/>
            </a:br>
            <a:r>
              <a:rPr lang="zh-CN" altLang="en-US" dirty="0"/>
              <a:t>通过 </a:t>
            </a:r>
            <a:r>
              <a:rPr lang="en-US" altLang="zh-CN" dirty="0" err="1"/>
              <a:t>LangGraph</a:t>
            </a:r>
            <a:r>
              <a:rPr lang="en-US" altLang="zh-CN" dirty="0"/>
              <a:t> </a:t>
            </a:r>
            <a:r>
              <a:rPr lang="zh-CN" altLang="en-US" dirty="0"/>
              <a:t>智能体流程和调用 </a:t>
            </a:r>
            <a:r>
              <a:rPr lang="en-US" altLang="zh-CN" dirty="0"/>
              <a:t>OpenAI API </a:t>
            </a:r>
            <a:r>
              <a:rPr lang="zh-CN" altLang="en-US" dirty="0"/>
              <a:t>的 </a:t>
            </a:r>
            <a:r>
              <a:rPr lang="en-US" altLang="zh-CN" dirty="0"/>
              <a:t>LLM </a:t>
            </a:r>
            <a:r>
              <a:rPr lang="zh-CN" altLang="en-US" dirty="0"/>
              <a:t>报告生成，我们实现了模型训练、可视化与报告撰写的自动化。</a:t>
            </a:r>
            <a:br>
              <a:rPr lang="zh-CN" altLang="en-US" dirty="0"/>
            </a:br>
            <a:r>
              <a:rPr lang="zh-CN" altLang="en-US" dirty="0"/>
              <a:t>最后，在线仪表盘让风险评估更加透明和可交互。</a:t>
            </a:r>
          </a:p>
        </p:txBody>
      </p:sp>
      <p:sp>
        <p:nvSpPr>
          <p:cNvPr id="4" name="灯片编号占位符 3"/>
          <p:cNvSpPr>
            <a:spLocks noGrp="1"/>
          </p:cNvSpPr>
          <p:nvPr>
            <p:ph type="sldNum" sz="quarter" idx="5"/>
          </p:nvPr>
        </p:nvSpPr>
        <p:spPr/>
        <p:txBody>
          <a:bodyPr/>
          <a:lstStyle/>
          <a:p>
            <a:fld id="{ABBC829C-D09A-43DE-B9B9-5AEB4E9E12A8}" type="slidenum">
              <a:rPr lang="zh-CN" altLang="en-US" smtClean="0"/>
              <a:t>14</a:t>
            </a:fld>
            <a:endParaRPr lang="zh-CN" altLang="en-US"/>
          </a:p>
        </p:txBody>
      </p:sp>
    </p:spTree>
    <p:extLst>
      <p:ext uri="{BB962C8B-B14F-4D97-AF65-F5344CB8AC3E}">
        <p14:creationId xmlns:p14="http://schemas.microsoft.com/office/powerpoint/2010/main" val="1590972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9469C7-7593-DBF3-F3A0-023A3CB8ED6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329B886-E660-6FAD-A0FC-98AF891FC4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FBDB5B7-B935-0F2A-CE46-495AAA569C1C}"/>
              </a:ext>
            </a:extLst>
          </p:cNvPr>
          <p:cNvSpPr>
            <a:spLocks noGrp="1"/>
          </p:cNvSpPr>
          <p:nvPr>
            <p:ph type="dt" sz="half" idx="10"/>
          </p:nvPr>
        </p:nvSpPr>
        <p:spPr/>
        <p:txBody>
          <a:bodyPr/>
          <a:lstStyle/>
          <a:p>
            <a:fld id="{24AA53DC-87C5-4BEF-A2BB-A0A5F6D86BC2}" type="datetimeFigureOut">
              <a:rPr lang="zh-CN" altLang="en-US" smtClean="0"/>
              <a:t>2025/11/10</a:t>
            </a:fld>
            <a:endParaRPr lang="zh-CN" altLang="en-US"/>
          </a:p>
        </p:txBody>
      </p:sp>
      <p:sp>
        <p:nvSpPr>
          <p:cNvPr id="5" name="页脚占位符 4">
            <a:extLst>
              <a:ext uri="{FF2B5EF4-FFF2-40B4-BE49-F238E27FC236}">
                <a16:creationId xmlns:a16="http://schemas.microsoft.com/office/drawing/2014/main" id="{617C78D9-3A5A-519D-BF6E-0BE2063AF4E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1B7D860-92EE-81C6-CDD9-CF389F55DC75}"/>
              </a:ext>
            </a:extLst>
          </p:cNvPr>
          <p:cNvSpPr>
            <a:spLocks noGrp="1"/>
          </p:cNvSpPr>
          <p:nvPr>
            <p:ph type="sldNum" sz="quarter" idx="12"/>
          </p:nvPr>
        </p:nvSpPr>
        <p:spPr/>
        <p:txBody>
          <a:bodyPr/>
          <a:lstStyle/>
          <a:p>
            <a:fld id="{0350CBD5-D5A3-49CE-91B2-C42A65511701}" type="slidenum">
              <a:rPr lang="zh-CN" altLang="en-US" smtClean="0"/>
              <a:t>‹#›</a:t>
            </a:fld>
            <a:endParaRPr lang="zh-CN" altLang="en-US"/>
          </a:p>
        </p:txBody>
      </p:sp>
    </p:spTree>
    <p:extLst>
      <p:ext uri="{BB962C8B-B14F-4D97-AF65-F5344CB8AC3E}">
        <p14:creationId xmlns:p14="http://schemas.microsoft.com/office/powerpoint/2010/main" val="1013163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1CE663-DF40-994E-CBF7-3AB60F1C4D8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5058717-6128-F9BD-7F9B-90B66360D73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80510E3-29C7-8C23-09BB-CDC91CC1E05F}"/>
              </a:ext>
            </a:extLst>
          </p:cNvPr>
          <p:cNvSpPr>
            <a:spLocks noGrp="1"/>
          </p:cNvSpPr>
          <p:nvPr>
            <p:ph type="dt" sz="half" idx="10"/>
          </p:nvPr>
        </p:nvSpPr>
        <p:spPr/>
        <p:txBody>
          <a:bodyPr/>
          <a:lstStyle/>
          <a:p>
            <a:fld id="{24AA53DC-87C5-4BEF-A2BB-A0A5F6D86BC2}" type="datetimeFigureOut">
              <a:rPr lang="zh-CN" altLang="en-US" smtClean="0"/>
              <a:t>2025/11/10</a:t>
            </a:fld>
            <a:endParaRPr lang="zh-CN" altLang="en-US"/>
          </a:p>
        </p:txBody>
      </p:sp>
      <p:sp>
        <p:nvSpPr>
          <p:cNvPr id="5" name="页脚占位符 4">
            <a:extLst>
              <a:ext uri="{FF2B5EF4-FFF2-40B4-BE49-F238E27FC236}">
                <a16:creationId xmlns:a16="http://schemas.microsoft.com/office/drawing/2014/main" id="{6857CA7B-427C-A91C-1C02-BC31E75258C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EBF562D-2822-B847-6BF4-FE07588F02AD}"/>
              </a:ext>
            </a:extLst>
          </p:cNvPr>
          <p:cNvSpPr>
            <a:spLocks noGrp="1"/>
          </p:cNvSpPr>
          <p:nvPr>
            <p:ph type="sldNum" sz="quarter" idx="12"/>
          </p:nvPr>
        </p:nvSpPr>
        <p:spPr/>
        <p:txBody>
          <a:bodyPr/>
          <a:lstStyle/>
          <a:p>
            <a:fld id="{0350CBD5-D5A3-49CE-91B2-C42A65511701}" type="slidenum">
              <a:rPr lang="zh-CN" altLang="en-US" smtClean="0"/>
              <a:t>‹#›</a:t>
            </a:fld>
            <a:endParaRPr lang="zh-CN" altLang="en-US"/>
          </a:p>
        </p:txBody>
      </p:sp>
    </p:spTree>
    <p:extLst>
      <p:ext uri="{BB962C8B-B14F-4D97-AF65-F5344CB8AC3E}">
        <p14:creationId xmlns:p14="http://schemas.microsoft.com/office/powerpoint/2010/main" val="68930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7465E-4834-9AB2-6F1A-E1A874CE44A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EA5A437B-9280-91E2-C003-8B49E5596C7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0BADEC1-AEA3-2ED6-5749-84E5DB17EFB1}"/>
              </a:ext>
            </a:extLst>
          </p:cNvPr>
          <p:cNvSpPr>
            <a:spLocks noGrp="1"/>
          </p:cNvSpPr>
          <p:nvPr>
            <p:ph type="dt" sz="half" idx="10"/>
          </p:nvPr>
        </p:nvSpPr>
        <p:spPr/>
        <p:txBody>
          <a:bodyPr/>
          <a:lstStyle/>
          <a:p>
            <a:fld id="{24AA53DC-87C5-4BEF-A2BB-A0A5F6D86BC2}" type="datetimeFigureOut">
              <a:rPr lang="zh-CN" altLang="en-US" smtClean="0"/>
              <a:t>2025/11/10</a:t>
            </a:fld>
            <a:endParaRPr lang="zh-CN" altLang="en-US"/>
          </a:p>
        </p:txBody>
      </p:sp>
      <p:sp>
        <p:nvSpPr>
          <p:cNvPr id="5" name="页脚占位符 4">
            <a:extLst>
              <a:ext uri="{FF2B5EF4-FFF2-40B4-BE49-F238E27FC236}">
                <a16:creationId xmlns:a16="http://schemas.microsoft.com/office/drawing/2014/main" id="{D2086BC6-1EEF-87AD-03FB-5B8922825C7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9AAEAE8-351E-C1AD-9B8F-1DA203D47516}"/>
              </a:ext>
            </a:extLst>
          </p:cNvPr>
          <p:cNvSpPr>
            <a:spLocks noGrp="1"/>
          </p:cNvSpPr>
          <p:nvPr>
            <p:ph type="sldNum" sz="quarter" idx="12"/>
          </p:nvPr>
        </p:nvSpPr>
        <p:spPr/>
        <p:txBody>
          <a:bodyPr/>
          <a:lstStyle/>
          <a:p>
            <a:fld id="{0350CBD5-D5A3-49CE-91B2-C42A65511701}" type="slidenum">
              <a:rPr lang="zh-CN" altLang="en-US" smtClean="0"/>
              <a:t>‹#›</a:t>
            </a:fld>
            <a:endParaRPr lang="zh-CN" altLang="en-US"/>
          </a:p>
        </p:txBody>
      </p:sp>
    </p:spTree>
    <p:extLst>
      <p:ext uri="{BB962C8B-B14F-4D97-AF65-F5344CB8AC3E}">
        <p14:creationId xmlns:p14="http://schemas.microsoft.com/office/powerpoint/2010/main" val="31484506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C84F41-996C-D8A9-B280-AAA020D8615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1BB2D23-F343-7EDD-540E-7680CC3EEA9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86BACA9-6126-3D51-CFCC-D9D014D0C48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3062266-4BA2-29D5-C38A-AAB801CA9A72}"/>
              </a:ext>
            </a:extLst>
          </p:cNvPr>
          <p:cNvSpPr>
            <a:spLocks noGrp="1"/>
          </p:cNvSpPr>
          <p:nvPr>
            <p:ph type="dt" sz="half" idx="10"/>
          </p:nvPr>
        </p:nvSpPr>
        <p:spPr/>
        <p:txBody>
          <a:bodyPr/>
          <a:lstStyle/>
          <a:p>
            <a:fld id="{24AA53DC-87C5-4BEF-A2BB-A0A5F6D86BC2}" type="datetimeFigureOut">
              <a:rPr lang="zh-CN" altLang="en-US" smtClean="0"/>
              <a:t>2025/11/10</a:t>
            </a:fld>
            <a:endParaRPr lang="zh-CN" altLang="en-US"/>
          </a:p>
        </p:txBody>
      </p:sp>
      <p:sp>
        <p:nvSpPr>
          <p:cNvPr id="6" name="页脚占位符 5">
            <a:extLst>
              <a:ext uri="{FF2B5EF4-FFF2-40B4-BE49-F238E27FC236}">
                <a16:creationId xmlns:a16="http://schemas.microsoft.com/office/drawing/2014/main" id="{70DBFB8B-04E7-042B-B0D7-579A7931316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96647E4-C096-E185-5D91-DEBACF73D9D7}"/>
              </a:ext>
            </a:extLst>
          </p:cNvPr>
          <p:cNvSpPr>
            <a:spLocks noGrp="1"/>
          </p:cNvSpPr>
          <p:nvPr>
            <p:ph type="sldNum" sz="quarter" idx="12"/>
          </p:nvPr>
        </p:nvSpPr>
        <p:spPr/>
        <p:txBody>
          <a:bodyPr/>
          <a:lstStyle/>
          <a:p>
            <a:fld id="{0350CBD5-D5A3-49CE-91B2-C42A65511701}" type="slidenum">
              <a:rPr lang="zh-CN" altLang="en-US" smtClean="0"/>
              <a:t>‹#›</a:t>
            </a:fld>
            <a:endParaRPr lang="zh-CN" altLang="en-US"/>
          </a:p>
        </p:txBody>
      </p:sp>
    </p:spTree>
    <p:extLst>
      <p:ext uri="{BB962C8B-B14F-4D97-AF65-F5344CB8AC3E}">
        <p14:creationId xmlns:p14="http://schemas.microsoft.com/office/powerpoint/2010/main" val="11887103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155991-98BE-4450-0DE7-FD4D18B86AC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FD5388D-455B-DE9A-18D8-C29FFEE504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9512DFB-BE1E-EB0C-361C-37CE47B3DDF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1CA5785-5569-B7F9-F2AA-C702CC103A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54ADB32-FDDB-7D15-F6B6-864052657322}"/>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9DE6DBC-2A3A-D2FD-BB49-A692BB7315D9}"/>
              </a:ext>
            </a:extLst>
          </p:cNvPr>
          <p:cNvSpPr>
            <a:spLocks noGrp="1"/>
          </p:cNvSpPr>
          <p:nvPr>
            <p:ph type="dt" sz="half" idx="10"/>
          </p:nvPr>
        </p:nvSpPr>
        <p:spPr/>
        <p:txBody>
          <a:bodyPr/>
          <a:lstStyle/>
          <a:p>
            <a:fld id="{24AA53DC-87C5-4BEF-A2BB-A0A5F6D86BC2}" type="datetimeFigureOut">
              <a:rPr lang="zh-CN" altLang="en-US" smtClean="0"/>
              <a:t>2025/11/10</a:t>
            </a:fld>
            <a:endParaRPr lang="zh-CN" altLang="en-US"/>
          </a:p>
        </p:txBody>
      </p:sp>
      <p:sp>
        <p:nvSpPr>
          <p:cNvPr id="8" name="页脚占位符 7">
            <a:extLst>
              <a:ext uri="{FF2B5EF4-FFF2-40B4-BE49-F238E27FC236}">
                <a16:creationId xmlns:a16="http://schemas.microsoft.com/office/drawing/2014/main" id="{385956D9-A43E-3B8F-8A52-F632956DEDAC}"/>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AC70CD5C-A7CB-4AA0-E1D4-9FE32363C69A}"/>
              </a:ext>
            </a:extLst>
          </p:cNvPr>
          <p:cNvSpPr>
            <a:spLocks noGrp="1"/>
          </p:cNvSpPr>
          <p:nvPr>
            <p:ph type="sldNum" sz="quarter" idx="12"/>
          </p:nvPr>
        </p:nvSpPr>
        <p:spPr/>
        <p:txBody>
          <a:bodyPr/>
          <a:lstStyle/>
          <a:p>
            <a:fld id="{0350CBD5-D5A3-49CE-91B2-C42A65511701}" type="slidenum">
              <a:rPr lang="zh-CN" altLang="en-US" smtClean="0"/>
              <a:t>‹#›</a:t>
            </a:fld>
            <a:endParaRPr lang="zh-CN" altLang="en-US"/>
          </a:p>
        </p:txBody>
      </p:sp>
    </p:spTree>
    <p:extLst>
      <p:ext uri="{BB962C8B-B14F-4D97-AF65-F5344CB8AC3E}">
        <p14:creationId xmlns:p14="http://schemas.microsoft.com/office/powerpoint/2010/main" val="24694968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7F861E-AD45-21E4-60B5-86A9F225135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9006E9A-A69C-8100-E3E0-96E7294036F1}"/>
              </a:ext>
            </a:extLst>
          </p:cNvPr>
          <p:cNvSpPr>
            <a:spLocks noGrp="1"/>
          </p:cNvSpPr>
          <p:nvPr>
            <p:ph type="dt" sz="half" idx="10"/>
          </p:nvPr>
        </p:nvSpPr>
        <p:spPr/>
        <p:txBody>
          <a:bodyPr/>
          <a:lstStyle/>
          <a:p>
            <a:fld id="{24AA53DC-87C5-4BEF-A2BB-A0A5F6D86BC2}" type="datetimeFigureOut">
              <a:rPr lang="zh-CN" altLang="en-US" smtClean="0"/>
              <a:t>2025/11/10</a:t>
            </a:fld>
            <a:endParaRPr lang="zh-CN" altLang="en-US"/>
          </a:p>
        </p:txBody>
      </p:sp>
      <p:sp>
        <p:nvSpPr>
          <p:cNvPr id="4" name="页脚占位符 3">
            <a:extLst>
              <a:ext uri="{FF2B5EF4-FFF2-40B4-BE49-F238E27FC236}">
                <a16:creationId xmlns:a16="http://schemas.microsoft.com/office/drawing/2014/main" id="{A67C4B2D-5549-7EA3-EE86-E0545B9F891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918D20D-1404-758A-557C-9614345D7D42}"/>
              </a:ext>
            </a:extLst>
          </p:cNvPr>
          <p:cNvSpPr>
            <a:spLocks noGrp="1"/>
          </p:cNvSpPr>
          <p:nvPr>
            <p:ph type="sldNum" sz="quarter" idx="12"/>
          </p:nvPr>
        </p:nvSpPr>
        <p:spPr/>
        <p:txBody>
          <a:bodyPr/>
          <a:lstStyle/>
          <a:p>
            <a:fld id="{0350CBD5-D5A3-49CE-91B2-C42A65511701}" type="slidenum">
              <a:rPr lang="zh-CN" altLang="en-US" smtClean="0"/>
              <a:t>‹#›</a:t>
            </a:fld>
            <a:endParaRPr lang="zh-CN" altLang="en-US"/>
          </a:p>
        </p:txBody>
      </p:sp>
    </p:spTree>
    <p:extLst>
      <p:ext uri="{BB962C8B-B14F-4D97-AF65-F5344CB8AC3E}">
        <p14:creationId xmlns:p14="http://schemas.microsoft.com/office/powerpoint/2010/main" val="1667744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6F81AAF-509F-C434-FB98-B9154D60B3D2}"/>
              </a:ext>
            </a:extLst>
          </p:cNvPr>
          <p:cNvSpPr>
            <a:spLocks noGrp="1"/>
          </p:cNvSpPr>
          <p:nvPr>
            <p:ph type="dt" sz="half" idx="10"/>
          </p:nvPr>
        </p:nvSpPr>
        <p:spPr/>
        <p:txBody>
          <a:bodyPr/>
          <a:lstStyle/>
          <a:p>
            <a:fld id="{24AA53DC-87C5-4BEF-A2BB-A0A5F6D86BC2}" type="datetimeFigureOut">
              <a:rPr lang="zh-CN" altLang="en-US" smtClean="0"/>
              <a:t>2025/11/10</a:t>
            </a:fld>
            <a:endParaRPr lang="zh-CN" altLang="en-US"/>
          </a:p>
        </p:txBody>
      </p:sp>
      <p:sp>
        <p:nvSpPr>
          <p:cNvPr id="3" name="页脚占位符 2">
            <a:extLst>
              <a:ext uri="{FF2B5EF4-FFF2-40B4-BE49-F238E27FC236}">
                <a16:creationId xmlns:a16="http://schemas.microsoft.com/office/drawing/2014/main" id="{D01AF0D6-991E-0CA4-05E0-F632F765F83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CF8AF06-87B6-1650-D3EF-3F8C9D8C17EC}"/>
              </a:ext>
            </a:extLst>
          </p:cNvPr>
          <p:cNvSpPr>
            <a:spLocks noGrp="1"/>
          </p:cNvSpPr>
          <p:nvPr>
            <p:ph type="sldNum" sz="quarter" idx="12"/>
          </p:nvPr>
        </p:nvSpPr>
        <p:spPr/>
        <p:txBody>
          <a:bodyPr/>
          <a:lstStyle/>
          <a:p>
            <a:fld id="{0350CBD5-D5A3-49CE-91B2-C42A65511701}" type="slidenum">
              <a:rPr lang="zh-CN" altLang="en-US" smtClean="0"/>
              <a:t>‹#›</a:t>
            </a:fld>
            <a:endParaRPr lang="zh-CN" altLang="en-US"/>
          </a:p>
        </p:txBody>
      </p:sp>
    </p:spTree>
    <p:extLst>
      <p:ext uri="{BB962C8B-B14F-4D97-AF65-F5344CB8AC3E}">
        <p14:creationId xmlns:p14="http://schemas.microsoft.com/office/powerpoint/2010/main" val="2815298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034748-88FD-96F4-C7E1-856F24AB7BC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0503071-7180-F55A-389B-5647025ED4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9F1A52E-5A79-68C4-3082-3ABDEECFCA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AA2CCD1-585C-1960-3017-6B690E76FB6E}"/>
              </a:ext>
            </a:extLst>
          </p:cNvPr>
          <p:cNvSpPr>
            <a:spLocks noGrp="1"/>
          </p:cNvSpPr>
          <p:nvPr>
            <p:ph type="dt" sz="half" idx="10"/>
          </p:nvPr>
        </p:nvSpPr>
        <p:spPr/>
        <p:txBody>
          <a:bodyPr/>
          <a:lstStyle/>
          <a:p>
            <a:fld id="{24AA53DC-87C5-4BEF-A2BB-A0A5F6D86BC2}" type="datetimeFigureOut">
              <a:rPr lang="zh-CN" altLang="en-US" smtClean="0"/>
              <a:t>2025/11/10</a:t>
            </a:fld>
            <a:endParaRPr lang="zh-CN" altLang="en-US"/>
          </a:p>
        </p:txBody>
      </p:sp>
      <p:sp>
        <p:nvSpPr>
          <p:cNvPr id="6" name="页脚占位符 5">
            <a:extLst>
              <a:ext uri="{FF2B5EF4-FFF2-40B4-BE49-F238E27FC236}">
                <a16:creationId xmlns:a16="http://schemas.microsoft.com/office/drawing/2014/main" id="{47A127A7-78A9-B786-1035-C248A08FBE3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7517844-BD11-D75D-C185-5B3E67045046}"/>
              </a:ext>
            </a:extLst>
          </p:cNvPr>
          <p:cNvSpPr>
            <a:spLocks noGrp="1"/>
          </p:cNvSpPr>
          <p:nvPr>
            <p:ph type="sldNum" sz="quarter" idx="12"/>
          </p:nvPr>
        </p:nvSpPr>
        <p:spPr/>
        <p:txBody>
          <a:bodyPr/>
          <a:lstStyle/>
          <a:p>
            <a:fld id="{0350CBD5-D5A3-49CE-91B2-C42A65511701}" type="slidenum">
              <a:rPr lang="zh-CN" altLang="en-US" smtClean="0"/>
              <a:t>‹#›</a:t>
            </a:fld>
            <a:endParaRPr lang="zh-CN" altLang="en-US"/>
          </a:p>
        </p:txBody>
      </p:sp>
    </p:spTree>
    <p:extLst>
      <p:ext uri="{BB962C8B-B14F-4D97-AF65-F5344CB8AC3E}">
        <p14:creationId xmlns:p14="http://schemas.microsoft.com/office/powerpoint/2010/main" val="18127624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B90A90-3F89-A470-5324-9E18216DC31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852F391-E543-DF09-7E59-C5F32891D7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3DFD44A-9F83-4D02-0683-A8C41AF9C2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642E759-B849-5E91-DD6C-FE55E622C484}"/>
              </a:ext>
            </a:extLst>
          </p:cNvPr>
          <p:cNvSpPr>
            <a:spLocks noGrp="1"/>
          </p:cNvSpPr>
          <p:nvPr>
            <p:ph type="dt" sz="half" idx="10"/>
          </p:nvPr>
        </p:nvSpPr>
        <p:spPr/>
        <p:txBody>
          <a:bodyPr/>
          <a:lstStyle/>
          <a:p>
            <a:fld id="{24AA53DC-87C5-4BEF-A2BB-A0A5F6D86BC2}" type="datetimeFigureOut">
              <a:rPr lang="zh-CN" altLang="en-US" smtClean="0"/>
              <a:t>2025/11/10</a:t>
            </a:fld>
            <a:endParaRPr lang="zh-CN" altLang="en-US"/>
          </a:p>
        </p:txBody>
      </p:sp>
      <p:sp>
        <p:nvSpPr>
          <p:cNvPr id="6" name="页脚占位符 5">
            <a:extLst>
              <a:ext uri="{FF2B5EF4-FFF2-40B4-BE49-F238E27FC236}">
                <a16:creationId xmlns:a16="http://schemas.microsoft.com/office/drawing/2014/main" id="{C57D36E4-4813-948F-5244-C93B8238EFA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E5E5534-2187-EE89-B7A8-23C4F1DD85B5}"/>
              </a:ext>
            </a:extLst>
          </p:cNvPr>
          <p:cNvSpPr>
            <a:spLocks noGrp="1"/>
          </p:cNvSpPr>
          <p:nvPr>
            <p:ph type="sldNum" sz="quarter" idx="12"/>
          </p:nvPr>
        </p:nvSpPr>
        <p:spPr/>
        <p:txBody>
          <a:bodyPr/>
          <a:lstStyle/>
          <a:p>
            <a:fld id="{0350CBD5-D5A3-49CE-91B2-C42A65511701}" type="slidenum">
              <a:rPr lang="zh-CN" altLang="en-US" smtClean="0"/>
              <a:t>‹#›</a:t>
            </a:fld>
            <a:endParaRPr lang="zh-CN" altLang="en-US"/>
          </a:p>
        </p:txBody>
      </p:sp>
    </p:spTree>
    <p:extLst>
      <p:ext uri="{BB962C8B-B14F-4D97-AF65-F5344CB8AC3E}">
        <p14:creationId xmlns:p14="http://schemas.microsoft.com/office/powerpoint/2010/main" val="2742371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16C91A-66FF-4353-2404-87CB0776A0F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E25D544-0A2B-DC7B-09D9-D4D595EBE21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52812B2-A70E-CA4F-91F7-4EE6A9725124}"/>
              </a:ext>
            </a:extLst>
          </p:cNvPr>
          <p:cNvSpPr>
            <a:spLocks noGrp="1"/>
          </p:cNvSpPr>
          <p:nvPr>
            <p:ph type="dt" sz="half" idx="10"/>
          </p:nvPr>
        </p:nvSpPr>
        <p:spPr/>
        <p:txBody>
          <a:bodyPr/>
          <a:lstStyle/>
          <a:p>
            <a:fld id="{24AA53DC-87C5-4BEF-A2BB-A0A5F6D86BC2}" type="datetimeFigureOut">
              <a:rPr lang="zh-CN" altLang="en-US" smtClean="0"/>
              <a:t>2025/11/10</a:t>
            </a:fld>
            <a:endParaRPr lang="zh-CN" altLang="en-US"/>
          </a:p>
        </p:txBody>
      </p:sp>
      <p:sp>
        <p:nvSpPr>
          <p:cNvPr id="5" name="页脚占位符 4">
            <a:extLst>
              <a:ext uri="{FF2B5EF4-FFF2-40B4-BE49-F238E27FC236}">
                <a16:creationId xmlns:a16="http://schemas.microsoft.com/office/drawing/2014/main" id="{8AE77F0C-C982-B34B-582C-CD4303C2F06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0653264-91F1-8FE5-BF5B-AEE16862E9D7}"/>
              </a:ext>
            </a:extLst>
          </p:cNvPr>
          <p:cNvSpPr>
            <a:spLocks noGrp="1"/>
          </p:cNvSpPr>
          <p:nvPr>
            <p:ph type="sldNum" sz="quarter" idx="12"/>
          </p:nvPr>
        </p:nvSpPr>
        <p:spPr/>
        <p:txBody>
          <a:bodyPr/>
          <a:lstStyle/>
          <a:p>
            <a:fld id="{0350CBD5-D5A3-49CE-91B2-C42A65511701}" type="slidenum">
              <a:rPr lang="zh-CN" altLang="en-US" smtClean="0"/>
              <a:t>‹#›</a:t>
            </a:fld>
            <a:endParaRPr lang="zh-CN" altLang="en-US"/>
          </a:p>
        </p:txBody>
      </p:sp>
    </p:spTree>
    <p:extLst>
      <p:ext uri="{BB962C8B-B14F-4D97-AF65-F5344CB8AC3E}">
        <p14:creationId xmlns:p14="http://schemas.microsoft.com/office/powerpoint/2010/main" val="3665129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228A163-563B-A9AF-1FED-4F4E1CDF2B7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B03BB3E-7603-A8AB-AF31-3E8656EBB0B4}"/>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4D9204F-38A8-0E06-F2A6-E60D15019C2D}"/>
              </a:ext>
            </a:extLst>
          </p:cNvPr>
          <p:cNvSpPr>
            <a:spLocks noGrp="1"/>
          </p:cNvSpPr>
          <p:nvPr>
            <p:ph type="dt" sz="half" idx="10"/>
          </p:nvPr>
        </p:nvSpPr>
        <p:spPr/>
        <p:txBody>
          <a:bodyPr/>
          <a:lstStyle/>
          <a:p>
            <a:fld id="{24AA53DC-87C5-4BEF-A2BB-A0A5F6D86BC2}" type="datetimeFigureOut">
              <a:rPr lang="zh-CN" altLang="en-US" smtClean="0"/>
              <a:t>2025/11/10</a:t>
            </a:fld>
            <a:endParaRPr lang="zh-CN" altLang="en-US"/>
          </a:p>
        </p:txBody>
      </p:sp>
      <p:sp>
        <p:nvSpPr>
          <p:cNvPr id="5" name="页脚占位符 4">
            <a:extLst>
              <a:ext uri="{FF2B5EF4-FFF2-40B4-BE49-F238E27FC236}">
                <a16:creationId xmlns:a16="http://schemas.microsoft.com/office/drawing/2014/main" id="{8BF26585-28AE-4873-7840-0F9EAD78048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A2E60EF-4907-BF74-9280-C93C88735466}"/>
              </a:ext>
            </a:extLst>
          </p:cNvPr>
          <p:cNvSpPr>
            <a:spLocks noGrp="1"/>
          </p:cNvSpPr>
          <p:nvPr>
            <p:ph type="sldNum" sz="quarter" idx="12"/>
          </p:nvPr>
        </p:nvSpPr>
        <p:spPr/>
        <p:txBody>
          <a:bodyPr/>
          <a:lstStyle/>
          <a:p>
            <a:fld id="{0350CBD5-D5A3-49CE-91B2-C42A65511701}" type="slidenum">
              <a:rPr lang="zh-CN" altLang="en-US" smtClean="0"/>
              <a:t>‹#›</a:t>
            </a:fld>
            <a:endParaRPr lang="zh-CN" altLang="en-US"/>
          </a:p>
        </p:txBody>
      </p:sp>
    </p:spTree>
    <p:extLst>
      <p:ext uri="{BB962C8B-B14F-4D97-AF65-F5344CB8AC3E}">
        <p14:creationId xmlns:p14="http://schemas.microsoft.com/office/powerpoint/2010/main" val="3575295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D445379-CD7C-0731-BAD3-EDDA9DA966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603CE6BE-32CD-7735-A7CE-78934C50EA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DF49D5D-FE9D-2F59-3317-DEEAA059AC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AA53DC-87C5-4BEF-A2BB-A0A5F6D86BC2}" type="datetimeFigureOut">
              <a:rPr lang="zh-CN" altLang="en-US" smtClean="0"/>
              <a:t>2025/11/10</a:t>
            </a:fld>
            <a:endParaRPr lang="zh-CN" altLang="en-US"/>
          </a:p>
        </p:txBody>
      </p:sp>
      <p:sp>
        <p:nvSpPr>
          <p:cNvPr id="5" name="页脚占位符 4">
            <a:extLst>
              <a:ext uri="{FF2B5EF4-FFF2-40B4-BE49-F238E27FC236}">
                <a16:creationId xmlns:a16="http://schemas.microsoft.com/office/drawing/2014/main" id="{05D07B80-27FE-6402-30C5-627AC0E491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E2E3DC9-A62D-5E14-B340-EF8C4C4FB0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50CBD5-D5A3-49CE-91B2-C42A65511701}" type="slidenum">
              <a:rPr lang="zh-CN" altLang="en-US" smtClean="0"/>
              <a:t>‹#›</a:t>
            </a:fld>
            <a:endParaRPr lang="zh-CN" altLang="en-US"/>
          </a:p>
        </p:txBody>
      </p:sp>
    </p:spTree>
    <p:extLst>
      <p:ext uri="{BB962C8B-B14F-4D97-AF65-F5344CB8AC3E}">
        <p14:creationId xmlns:p14="http://schemas.microsoft.com/office/powerpoint/2010/main" val="5653989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8.xml"/><Relationship Id="rId12" Type="http://schemas.openxmlformats.org/officeDocument/2006/relationships/slide" Target="slide14.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slide" Target="slide6.xml"/><Relationship Id="rId11" Type="http://schemas.openxmlformats.org/officeDocument/2006/relationships/slide" Target="slide13.xml"/><Relationship Id="rId5" Type="http://schemas.openxmlformats.org/officeDocument/2006/relationships/slide" Target="slide7.xml"/><Relationship Id="rId10" Type="http://schemas.openxmlformats.org/officeDocument/2006/relationships/slide" Target="slide12.xml"/><Relationship Id="rId4" Type="http://schemas.openxmlformats.org/officeDocument/2006/relationships/slide" Target="slide5.xml"/><Relationship Id="rId9" Type="http://schemas.openxmlformats.org/officeDocument/2006/relationships/slide" Target="slide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6BB05261-FB93-5C9D-5A84-1194480C1544}"/>
              </a:ext>
            </a:extLst>
          </p:cNvPr>
          <p:cNvPicPr>
            <a:picLocks noChangeAspect="1"/>
          </p:cNvPicPr>
          <p:nvPr/>
        </p:nvPicPr>
        <p:blipFill>
          <a:blip r:embed="rId3" cstate="email">
            <a:alphaModFix amt="70000"/>
            <a:extLst>
              <a:ext uri="{BEBA8EAE-BF5A-486C-A8C5-ECC9F3942E4B}">
                <a14:imgProps xmlns:a14="http://schemas.microsoft.com/office/drawing/2010/main">
                  <a14:imgLayer r:embed="rId4">
                    <a14:imgEffect>
                      <a14:saturation sat="33000"/>
                    </a14:imgEffect>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0" y="0"/>
            <a:ext cx="12200311" cy="6858000"/>
          </a:xfrm>
          <a:prstGeom prst="rect">
            <a:avLst/>
          </a:prstGeom>
        </p:spPr>
      </p:pic>
      <p:sp>
        <p:nvSpPr>
          <p:cNvPr id="2" name="标题 1">
            <a:extLst>
              <a:ext uri="{FF2B5EF4-FFF2-40B4-BE49-F238E27FC236}">
                <a16:creationId xmlns:a16="http://schemas.microsoft.com/office/drawing/2014/main" id="{FEDE2102-AC69-4704-18AF-78634A564F5D}"/>
              </a:ext>
            </a:extLst>
          </p:cNvPr>
          <p:cNvSpPr>
            <a:spLocks noGrp="1"/>
          </p:cNvSpPr>
          <p:nvPr>
            <p:ph type="ctrTitle"/>
          </p:nvPr>
        </p:nvSpPr>
        <p:spPr/>
        <p:txBody>
          <a:bodyPr/>
          <a:lstStyle/>
          <a:p>
            <a:r>
              <a:rPr lang="en-US" altLang="zh-CN" dirty="0">
                <a:latin typeface="Times New Roman" panose="02020603050405020304" pitchFamily="18" charset="0"/>
                <a:cs typeface="Times New Roman" panose="02020603050405020304" pitchFamily="18" charset="0"/>
              </a:rPr>
              <a:t>Financial Guardian: Financial Risk Prediction</a:t>
            </a:r>
            <a:endParaRPr lang="zh-CN" altLang="en-US" dirty="0">
              <a:latin typeface="Times New Roman" panose="02020603050405020304" pitchFamily="18" charset="0"/>
              <a:cs typeface="Times New Roman" panose="02020603050405020304" pitchFamily="18" charset="0"/>
            </a:endParaRPr>
          </a:p>
        </p:txBody>
      </p:sp>
      <p:sp>
        <p:nvSpPr>
          <p:cNvPr id="3" name="副标题 2">
            <a:extLst>
              <a:ext uri="{FF2B5EF4-FFF2-40B4-BE49-F238E27FC236}">
                <a16:creationId xmlns:a16="http://schemas.microsoft.com/office/drawing/2014/main" id="{46AC0701-B425-EB04-DCF3-F94C72EBC0B8}"/>
              </a:ext>
            </a:extLst>
          </p:cNvPr>
          <p:cNvSpPr>
            <a:spLocks noGrp="1"/>
          </p:cNvSpPr>
          <p:nvPr>
            <p:ph type="subTitle" idx="1"/>
          </p:nvPr>
        </p:nvSpPr>
        <p:spPr>
          <a:xfrm>
            <a:off x="1524000" y="4443179"/>
            <a:ext cx="9144000" cy="1655762"/>
          </a:xfrm>
        </p:spPr>
        <p:txBody>
          <a:bodyPr>
            <a:normAutofit/>
          </a:bodyPr>
          <a:lstStyle/>
          <a:p>
            <a:r>
              <a:rPr lang="en-US" altLang="zh-CN" dirty="0"/>
              <a:t>Team: </a:t>
            </a:r>
            <a:r>
              <a:rPr lang="en-US" altLang="zh-CN" dirty="0">
                <a:latin typeface="Times New Roman" panose="02020603050405020304" pitchFamily="18" charset="0"/>
                <a:cs typeface="Times New Roman" panose="02020603050405020304" pitchFamily="18" charset="0"/>
              </a:rPr>
              <a:t>Northlake</a:t>
            </a:r>
          </a:p>
          <a:p>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22E4EDFC-78AA-73B8-AE53-71B35225515A}"/>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391626" y="140236"/>
            <a:ext cx="1078744" cy="1077225"/>
          </a:xfrm>
          <a:prstGeom prst="rect">
            <a:avLst/>
          </a:prstGeom>
        </p:spPr>
      </p:pic>
      <p:pic>
        <p:nvPicPr>
          <p:cNvPr id="6" name="图片 5">
            <a:extLst>
              <a:ext uri="{FF2B5EF4-FFF2-40B4-BE49-F238E27FC236}">
                <a16:creationId xmlns:a16="http://schemas.microsoft.com/office/drawing/2014/main" id="{E91B2480-5CA5-7264-0E33-FCCCA7992514}"/>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0230719" y="-197885"/>
            <a:ext cx="1961281" cy="1961281"/>
          </a:xfrm>
          <a:prstGeom prst="rect">
            <a:avLst/>
          </a:prstGeom>
        </p:spPr>
      </p:pic>
      <p:sp>
        <p:nvSpPr>
          <p:cNvPr id="5" name="标题 1">
            <a:extLst>
              <a:ext uri="{FF2B5EF4-FFF2-40B4-BE49-F238E27FC236}">
                <a16:creationId xmlns:a16="http://schemas.microsoft.com/office/drawing/2014/main" id="{2C91FE3B-BE0B-6F0F-02E7-5F1A79A9E40C}"/>
              </a:ext>
            </a:extLst>
          </p:cNvPr>
          <p:cNvSpPr txBox="1">
            <a:spLocks/>
          </p:cNvSpPr>
          <p:nvPr/>
        </p:nvSpPr>
        <p:spPr>
          <a:xfrm>
            <a:off x="3000030" y="1668463"/>
            <a:ext cx="9144000" cy="2387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2800" dirty="0">
                <a:latin typeface="Times New Roman" panose="02020603050405020304" pitchFamily="18" charset="0"/>
                <a:cs typeface="Times New Roman" panose="02020603050405020304" pitchFamily="18" charset="0"/>
              </a:rPr>
              <a:t>——Final Project Report· 2025–2026 Autumn Semester</a:t>
            </a:r>
            <a:endParaRPr lang="zh-CN"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61820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单圆角 1">
            <a:extLst>
              <a:ext uri="{FF2B5EF4-FFF2-40B4-BE49-F238E27FC236}">
                <a16:creationId xmlns:a16="http://schemas.microsoft.com/office/drawing/2014/main" id="{47EAAD89-1AED-5DFB-411A-0A1CBC199557}"/>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E2620DE5-5E36-59D7-B151-B6210B8CE6C2}"/>
              </a:ext>
            </a:extLst>
          </p:cNvPr>
          <p:cNvSpPr txBox="1"/>
          <p:nvPr/>
        </p:nvSpPr>
        <p:spPr>
          <a:xfrm>
            <a:off x="9321800" y="6359979"/>
            <a:ext cx="2208893" cy="369332"/>
          </a:xfrm>
          <a:prstGeom prst="rect">
            <a:avLst/>
          </a:prstGeom>
          <a:noFill/>
        </p:spPr>
        <p:txBody>
          <a:bodyPr wrap="square" rtlCol="0">
            <a:spAutoFit/>
          </a:bodyPr>
          <a:lstStyle/>
          <a:p>
            <a:r>
              <a:rPr lang="en-US" altLang="zh-CN" dirty="0">
                <a:latin typeface="+mn-ea"/>
                <a:cs typeface="Times New Roman" panose="02020603050405020304" pitchFamily="18" charset="0"/>
              </a:rPr>
              <a:t>Final Project Report</a:t>
            </a:r>
            <a:endParaRPr lang="zh-CN" altLang="en-US" dirty="0">
              <a:latin typeface="+mn-ea"/>
            </a:endParaRPr>
          </a:p>
        </p:txBody>
      </p:sp>
      <p:sp>
        <p:nvSpPr>
          <p:cNvPr id="5" name="矩形: 圆顶角 4">
            <a:extLst>
              <a:ext uri="{FF2B5EF4-FFF2-40B4-BE49-F238E27FC236}">
                <a16:creationId xmlns:a16="http://schemas.microsoft.com/office/drawing/2014/main" id="{A0A1718B-B00A-5572-3F9B-CCFDFB9EF821}"/>
              </a:ext>
            </a:extLst>
          </p:cNvPr>
          <p:cNvSpPr/>
          <p:nvPr/>
        </p:nvSpPr>
        <p:spPr>
          <a:xfrm rot="10800000">
            <a:off x="416966" y="17270"/>
            <a:ext cx="3613708"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44CF5D88-CD54-A62E-FF50-034DEAFA477F}"/>
              </a:ext>
            </a:extLst>
          </p:cNvPr>
          <p:cNvSpPr txBox="1"/>
          <p:nvPr/>
        </p:nvSpPr>
        <p:spPr>
          <a:xfrm>
            <a:off x="640079" y="22206"/>
            <a:ext cx="3167482" cy="584775"/>
          </a:xfrm>
          <a:prstGeom prst="rect">
            <a:avLst/>
          </a:prstGeom>
          <a:noFill/>
        </p:spPr>
        <p:txBody>
          <a:bodyPr wrap="square" rtlCol="0">
            <a:spAutoFit/>
          </a:bodyPr>
          <a:lstStyle/>
          <a:p>
            <a:pPr algn="ctr"/>
            <a:r>
              <a:rPr lang="en-US" altLang="zh-CN" sz="3200" b="1" dirty="0">
                <a:latin typeface="High Tower Text" panose="02040502050506030303" pitchFamily="18" charset="0"/>
                <a:cs typeface="Times New Roman" panose="02020603050405020304" pitchFamily="18" charset="0"/>
              </a:rPr>
              <a:t>Agenda</a:t>
            </a:r>
            <a:endParaRPr lang="zh-CN" altLang="en-US" sz="2000" b="1" dirty="0">
              <a:latin typeface="High Tower Text" panose="02040502050506030303" pitchFamily="18" charset="0"/>
            </a:endParaRPr>
          </a:p>
        </p:txBody>
      </p:sp>
      <p:sp>
        <p:nvSpPr>
          <p:cNvPr id="10" name="文本框 9">
            <a:extLst>
              <a:ext uri="{FF2B5EF4-FFF2-40B4-BE49-F238E27FC236}">
                <a16:creationId xmlns:a16="http://schemas.microsoft.com/office/drawing/2014/main" id="{8F693D7F-7FE6-2158-0950-610CE8F75D17}"/>
              </a:ext>
            </a:extLst>
          </p:cNvPr>
          <p:cNvSpPr txBox="1"/>
          <p:nvPr/>
        </p:nvSpPr>
        <p:spPr>
          <a:xfrm>
            <a:off x="2942924" y="6332815"/>
            <a:ext cx="6155356" cy="369332"/>
          </a:xfrm>
          <a:prstGeom prst="rect">
            <a:avLst/>
          </a:prstGeom>
          <a:noFill/>
        </p:spPr>
        <p:txBody>
          <a:bodyPr wrap="square">
            <a:spAutoFit/>
          </a:bodyPr>
          <a:lstStyle/>
          <a:p>
            <a:pPr algn="ctr"/>
            <a:r>
              <a:rPr lang="en-US" altLang="zh-CN" b="1" dirty="0"/>
              <a:t>Page 0</a:t>
            </a:r>
            <a:endParaRPr lang="zh-CN" altLang="en-US" b="1" dirty="0"/>
          </a:p>
        </p:txBody>
      </p:sp>
      <p:sp>
        <p:nvSpPr>
          <p:cNvPr id="4" name="Rounded Rectangle 1">
            <a:extLst>
              <a:ext uri="{FF2B5EF4-FFF2-40B4-BE49-F238E27FC236}">
                <a16:creationId xmlns:a16="http://schemas.microsoft.com/office/drawing/2014/main" id="{A780DC84-B58D-7CD7-EFC2-78C100B2441B}"/>
              </a:ext>
            </a:extLst>
          </p:cNvPr>
          <p:cNvSpPr/>
          <p:nvPr/>
        </p:nvSpPr>
        <p:spPr>
          <a:xfrm>
            <a:off x="1193772" y="813657"/>
            <a:ext cx="4135176" cy="1255525"/>
          </a:xfrm>
          <a:prstGeom prst="roundRect">
            <a:avLst/>
          </a:prstGeom>
          <a:ln w="76200"/>
        </p:spPr>
        <p:style>
          <a:lnRef idx="2">
            <a:schemeClr val="accent2"/>
          </a:lnRef>
          <a:fillRef idx="1">
            <a:schemeClr val="lt1"/>
          </a:fillRef>
          <a:effectRef idx="0">
            <a:schemeClr val="accent2"/>
          </a:effectRef>
          <a:fontRef idx="minor">
            <a:schemeClr val="dk1"/>
          </a:fontRef>
        </p:style>
        <p:txBody>
          <a:bodyPr rtlCol="0" anchor="ctr"/>
          <a:lstStyle/>
          <a:p>
            <a:pPr algn="ctr">
              <a:defRPr sz="4400" b="1">
                <a:solidFill>
                  <a:srgbClr val="0059B3"/>
                </a:solidFill>
                <a:latin typeface="Arial"/>
              </a:defRPr>
            </a:pPr>
            <a:r>
              <a:rPr lang="en-US" altLang="zh-CN" sz="4000" b="1" dirty="0">
                <a:ln w="22225">
                  <a:solidFill>
                    <a:schemeClr val="accent2"/>
                  </a:solidFill>
                  <a:prstDash val="solid"/>
                </a:ln>
                <a:solidFill>
                  <a:schemeClr val="accent2">
                    <a:lumMod val="40000"/>
                    <a:lumOff val="60000"/>
                  </a:schemeClr>
                </a:solidFill>
              </a:rPr>
              <a:t>1. INTRO</a:t>
            </a:r>
            <a:endParaRPr lang="en-US" altLang="zh-CN" sz="4000" dirty="0"/>
          </a:p>
          <a:p>
            <a:pPr marR="0" lvl="0" algn="ctr" defTabSz="914400" rtl="0" eaLnBrk="1" fontAlgn="auto" latinLnBrk="0" hangingPunct="1">
              <a:lnSpc>
                <a:spcPct val="150000"/>
              </a:lnSpc>
              <a:spcBef>
                <a:spcPts val="0"/>
              </a:spcBef>
              <a:spcAft>
                <a:spcPts val="0"/>
              </a:spcAft>
              <a:buClrTx/>
              <a:buSzTx/>
              <a:tabLst/>
              <a:defRPr/>
            </a:pPr>
            <a:r>
              <a:rPr lang="en-US" altLang="zh-CN" sz="2400" dirty="0">
                <a:solidFill>
                  <a:schemeClr val="tx1"/>
                </a:solidFill>
                <a:latin typeface="Times New Roman" panose="02020603050405020304" pitchFamily="18" charset="0"/>
                <a:ea typeface="等线" panose="02010600030101010101" pitchFamily="2" charset="-122"/>
                <a:cs typeface="Times New Roman" panose="02020603050405020304" pitchFamily="18" charset="0"/>
                <a:hlinkClick r:id="rId3" action="ppaction://hlinksldjump">
                  <a:extLst>
                    <a:ext uri="{A12FA001-AC4F-418D-AE19-62706E023703}">
                      <ahyp:hlinkClr xmlns:ahyp="http://schemas.microsoft.com/office/drawing/2018/hyperlinkcolor" val="tx"/>
                    </a:ext>
                  </a:extLst>
                </a:hlinkClick>
              </a:rPr>
              <a:t>Project overview</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8" name="Rounded Rectangle 1">
            <a:extLst>
              <a:ext uri="{FF2B5EF4-FFF2-40B4-BE49-F238E27FC236}">
                <a16:creationId xmlns:a16="http://schemas.microsoft.com/office/drawing/2014/main" id="{4C57F486-9257-3942-3E24-DFA63E8DC6CF}"/>
              </a:ext>
            </a:extLst>
          </p:cNvPr>
          <p:cNvSpPr/>
          <p:nvPr/>
        </p:nvSpPr>
        <p:spPr>
          <a:xfrm>
            <a:off x="1160026" y="2298746"/>
            <a:ext cx="4168922" cy="1421855"/>
          </a:xfrm>
          <a:prstGeom prst="roundRect">
            <a:avLst/>
          </a:prstGeom>
          <a:ln w="76200"/>
        </p:spPr>
        <p:style>
          <a:lnRef idx="2">
            <a:schemeClr val="accent2"/>
          </a:lnRef>
          <a:fillRef idx="1">
            <a:schemeClr val="lt1"/>
          </a:fillRef>
          <a:effectRef idx="0">
            <a:schemeClr val="accent2"/>
          </a:effectRef>
          <a:fontRef idx="minor">
            <a:schemeClr val="dk1"/>
          </a:fontRef>
        </p:style>
        <p:txBody>
          <a:bodyPr rtlCol="0" anchor="ctr"/>
          <a:lstStyle/>
          <a:p>
            <a:pPr algn="ctr">
              <a:defRPr sz="4400" b="1">
                <a:solidFill>
                  <a:srgbClr val="0059B3"/>
                </a:solidFill>
                <a:latin typeface="Arial"/>
              </a:defRPr>
            </a:pPr>
            <a:r>
              <a:rPr lang="en-US" altLang="zh-CN" sz="4000" b="1" dirty="0">
                <a:ln w="22225">
                  <a:solidFill>
                    <a:schemeClr val="accent2"/>
                  </a:solidFill>
                  <a:prstDash val="solid"/>
                </a:ln>
                <a:solidFill>
                  <a:schemeClr val="accent2">
                    <a:lumMod val="40000"/>
                    <a:lumOff val="60000"/>
                  </a:schemeClr>
                </a:solidFill>
              </a:rPr>
              <a:t>2. METHODS</a:t>
            </a:r>
          </a:p>
          <a:p>
            <a:pPr algn="ctr">
              <a:lnSpc>
                <a:spcPct val="150000"/>
              </a:lnSpc>
            </a:pPr>
            <a:r>
              <a:rPr lang="en-US" altLang="zh-CN" sz="2400" dirty="0">
                <a:solidFill>
                  <a:schemeClr val="tx1"/>
                </a:solidFill>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val="tx"/>
                    </a:ext>
                  </a:extLst>
                </a:hlinkClick>
              </a:rPr>
              <a:t>Methodology &amp; pipeline</a:t>
            </a:r>
            <a:endParaRPr lang="en-US" altLang="zh-CN" sz="2400" dirty="0">
              <a:solidFill>
                <a:schemeClr val="tx1"/>
              </a:solidFill>
              <a:latin typeface="Times New Roman" panose="02020603050405020304" pitchFamily="18" charset="0"/>
              <a:cs typeface="Times New Roman" panose="02020603050405020304" pitchFamily="18" charset="0"/>
            </a:endParaRPr>
          </a:p>
        </p:txBody>
      </p:sp>
      <p:sp>
        <p:nvSpPr>
          <p:cNvPr id="9" name="Rounded Rectangle 1">
            <a:extLst>
              <a:ext uri="{FF2B5EF4-FFF2-40B4-BE49-F238E27FC236}">
                <a16:creationId xmlns:a16="http://schemas.microsoft.com/office/drawing/2014/main" id="{FF9E2BAA-309A-E37A-D7BB-99FD0FF400C6}"/>
              </a:ext>
            </a:extLst>
          </p:cNvPr>
          <p:cNvSpPr/>
          <p:nvPr/>
        </p:nvSpPr>
        <p:spPr>
          <a:xfrm>
            <a:off x="254000" y="3950166"/>
            <a:ext cx="6014720" cy="2020121"/>
          </a:xfrm>
          <a:prstGeom prst="roundRect">
            <a:avLst/>
          </a:prstGeom>
          <a:ln w="76200"/>
        </p:spPr>
        <p:style>
          <a:lnRef idx="2">
            <a:schemeClr val="accent2"/>
          </a:lnRef>
          <a:fillRef idx="1">
            <a:schemeClr val="lt1"/>
          </a:fillRef>
          <a:effectRef idx="0">
            <a:schemeClr val="accent2"/>
          </a:effectRef>
          <a:fontRef idx="minor">
            <a:schemeClr val="dk1"/>
          </a:fontRef>
        </p:style>
        <p:txBody>
          <a:bodyPr rtlCol="0" anchor="ctr"/>
          <a:lstStyle/>
          <a:p>
            <a:pPr algn="ctr">
              <a:defRPr sz="4400" b="1">
                <a:solidFill>
                  <a:srgbClr val="0059B3"/>
                </a:solidFill>
                <a:latin typeface="Arial"/>
              </a:defRPr>
            </a:pPr>
            <a:r>
              <a:rPr lang="en-US" altLang="zh-CN" b="1" dirty="0">
                <a:ln w="22225">
                  <a:solidFill>
                    <a:schemeClr val="accent2"/>
                  </a:solidFill>
                  <a:prstDash val="solid"/>
                </a:ln>
                <a:solidFill>
                  <a:schemeClr val="accent2">
                    <a:lumMod val="40000"/>
                    <a:lumOff val="60000"/>
                  </a:schemeClr>
                </a:solidFill>
              </a:rPr>
              <a:t>3. ANALYSES</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等线" panose="02010600030101010101" pitchFamily="2" charset="-122"/>
              <a:cs typeface="Times New Roman" panose="02020603050405020304" pitchFamily="18" charset="0"/>
              <a:hlinkClick r:id="rId5" action="ppaction://hlinksldjump">
                <a:extLst>
                  <a:ext uri="{A12FA001-AC4F-418D-AE19-62706E023703}">
                    <ahyp:hlinkClr xmlns:ahyp="http://schemas.microsoft.com/office/drawing/2018/hyperlinkcolor" val="tx"/>
                  </a:ext>
                </a:extLst>
              </a:hlinkClick>
            </a:endParaRPr>
          </a:p>
          <a:p>
            <a:pPr algn="ctr">
              <a:lnSpc>
                <a:spcPct val="150000"/>
              </a:lnSpc>
              <a:defRPr/>
            </a:pPr>
            <a:r>
              <a:rPr lang="en-US" altLang="zh-CN" sz="2400" dirty="0">
                <a:solidFill>
                  <a:schemeClr val="tx1"/>
                </a:solidFill>
                <a:latin typeface="Times New Roman" panose="02020603050405020304" pitchFamily="18" charset="0"/>
                <a:cs typeface="Times New Roman" panose="02020603050405020304" pitchFamily="18" charset="0"/>
                <a:hlinkClick r:id="rId6" action="ppaction://hlinksldjump">
                  <a:extLst>
                    <a:ext uri="{A12FA001-AC4F-418D-AE19-62706E023703}">
                      <ahyp:hlinkClr xmlns:ahyp="http://schemas.microsoft.com/office/drawing/2018/hyperlinkcolor" val="tx"/>
                    </a:ext>
                  </a:extLst>
                </a:hlinkClick>
              </a:rPr>
              <a:t>Regression analysis</a:t>
            </a:r>
            <a:r>
              <a:rPr lang="en-US" altLang="zh-CN" sz="2400" dirty="0">
                <a:solidFill>
                  <a:schemeClr val="tx1"/>
                </a:solidFill>
                <a:latin typeface="Times New Roman" panose="02020603050405020304" pitchFamily="18" charset="0"/>
                <a:cs typeface="Times New Roman" panose="02020603050405020304" pitchFamily="18" charset="0"/>
              </a:rPr>
              <a:t>	</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等线" panose="02010600030101010101" pitchFamily="2" charset="-122"/>
                <a:cs typeface="Times New Roman" panose="02020603050405020304" pitchFamily="18" charset="0"/>
                <a:hlinkClick r:id="rId7" action="ppaction://hlinksldjump">
                  <a:extLst>
                    <a:ext uri="{A12FA001-AC4F-418D-AE19-62706E023703}">
                      <ahyp:hlinkClr xmlns:ahyp="http://schemas.microsoft.com/office/drawing/2018/hyperlinkcolor" val="tx"/>
                    </a:ext>
                  </a:extLst>
                </a:hlinkClick>
              </a:rPr>
              <a:t>Classification analysis</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p>
            <a:pPr marR="0" lvl="0" algn="ctr" defTabSz="914400" rtl="0" eaLnBrk="1" fontAlgn="auto" latinLnBrk="0" hangingPunct="1">
              <a:lnSpc>
                <a:spcPct val="150000"/>
              </a:lnSpc>
              <a:spcBef>
                <a:spcPts val="0"/>
              </a:spcBef>
              <a:spcAft>
                <a:spcPts val="0"/>
              </a:spcAft>
              <a:buClrTx/>
              <a:buSzTx/>
              <a:tabLst/>
              <a:defRPr/>
            </a:pP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等线" panose="02010600030101010101" pitchFamily="2" charset="-122"/>
                <a:cs typeface="Times New Roman" panose="02020603050405020304" pitchFamily="18" charset="0"/>
                <a:hlinkClick r:id="rId8" action="ppaction://hlinksldjump">
                  <a:extLst>
                    <a:ext uri="{A12FA001-AC4F-418D-AE19-62706E023703}">
                      <ahyp:hlinkClr xmlns:ahyp="http://schemas.microsoft.com/office/drawing/2018/hyperlinkcolor" val="tx"/>
                    </a:ext>
                  </a:extLst>
                </a:hlinkClick>
              </a:rPr>
              <a:t>Clustering analysis</a:t>
            </a:r>
            <a:r>
              <a:rPr lang="en-US" altLang="zh-CN" sz="2400" dirty="0">
                <a:solidFill>
                  <a:schemeClr val="tx1"/>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sz="2400" dirty="0">
                <a:solidFill>
                  <a:schemeClr val="tx1"/>
                </a:solidFill>
                <a:latin typeface="Times New Roman" panose="02020603050405020304" pitchFamily="18" charset="0"/>
                <a:ea typeface="等线" panose="02010600030101010101" pitchFamily="2" charset="-122"/>
                <a:cs typeface="Times New Roman" panose="02020603050405020304" pitchFamily="18" charset="0"/>
                <a:hlinkClick r:id="rId9" action="ppaction://hlinksldjump">
                  <a:extLst>
                    <a:ext uri="{A12FA001-AC4F-418D-AE19-62706E023703}">
                      <ahyp:hlinkClr xmlns:ahyp="http://schemas.microsoft.com/office/drawing/2018/hyperlinkcolor" val="tx"/>
                    </a:ext>
                  </a:extLst>
                </a:hlinkClick>
              </a:rPr>
              <a:t>Risk analysis</a:t>
            </a:r>
            <a:endParaRPr kumimoji="0" lang="en-US" altLang="zh-CN" sz="2400" i="0" u="none" strike="noStrike" kern="1200" cap="none" spc="0" normalizeH="0" baseline="0" noProof="0" dirty="0">
              <a:ln>
                <a:noFill/>
              </a:ln>
              <a:solidFill>
                <a:schemeClr val="tx1"/>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1" name="Rounded Rectangle 1">
            <a:extLst>
              <a:ext uri="{FF2B5EF4-FFF2-40B4-BE49-F238E27FC236}">
                <a16:creationId xmlns:a16="http://schemas.microsoft.com/office/drawing/2014/main" id="{DD49B599-5073-4891-AEBC-EA8A95ED7F1F}"/>
              </a:ext>
            </a:extLst>
          </p:cNvPr>
          <p:cNvSpPr/>
          <p:nvPr/>
        </p:nvSpPr>
        <p:spPr>
          <a:xfrm>
            <a:off x="6739161" y="741894"/>
            <a:ext cx="4411908" cy="1327288"/>
          </a:xfrm>
          <a:prstGeom prst="roundRect">
            <a:avLst/>
          </a:prstGeom>
          <a:ln w="76200"/>
        </p:spPr>
        <p:style>
          <a:lnRef idx="2">
            <a:schemeClr val="accent2"/>
          </a:lnRef>
          <a:fillRef idx="1">
            <a:schemeClr val="lt1"/>
          </a:fillRef>
          <a:effectRef idx="0">
            <a:schemeClr val="accent2"/>
          </a:effectRef>
          <a:fontRef idx="minor">
            <a:schemeClr val="dk1"/>
          </a:fontRef>
        </p:style>
        <p:txBody>
          <a:bodyPr rtlCol="0" anchor="ctr"/>
          <a:lstStyle/>
          <a:p>
            <a:pPr algn="ctr">
              <a:defRPr sz="4400" b="1">
                <a:solidFill>
                  <a:srgbClr val="0059B3"/>
                </a:solidFill>
                <a:latin typeface="Arial"/>
              </a:defRPr>
            </a:pPr>
            <a:r>
              <a:rPr lang="en-US" altLang="zh-CN" sz="3600" b="1" dirty="0">
                <a:ln w="22225">
                  <a:solidFill>
                    <a:schemeClr val="accent2"/>
                  </a:solidFill>
                  <a:prstDash val="solid"/>
                </a:ln>
                <a:solidFill>
                  <a:schemeClr val="accent2">
                    <a:lumMod val="40000"/>
                    <a:lumOff val="60000"/>
                  </a:schemeClr>
                </a:solidFill>
              </a:rPr>
              <a:t>4. AUTOMATION</a:t>
            </a:r>
          </a:p>
          <a:p>
            <a:pPr marR="0" lvl="0" algn="ctr" defTabSz="914400" rtl="0" eaLnBrk="1" fontAlgn="auto" latinLnBrk="0" hangingPunct="1">
              <a:lnSpc>
                <a:spcPct val="150000"/>
              </a:lnSpc>
              <a:spcBef>
                <a:spcPts val="0"/>
              </a:spcBef>
              <a:spcAft>
                <a:spcPts val="0"/>
              </a:spcAft>
              <a:buClrTx/>
              <a:buSzTx/>
              <a:tabLst/>
              <a:defRPr/>
            </a:pP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等线" panose="02010600030101010101" pitchFamily="2" charset="-122"/>
                <a:cs typeface="Times New Roman" panose="02020603050405020304" pitchFamily="18" charset="0"/>
                <a:hlinkClick r:id="rId10" action="ppaction://hlinksldjump">
                  <a:extLst>
                    <a:ext uri="{A12FA001-AC4F-418D-AE19-62706E023703}">
                      <ahyp:hlinkClr xmlns:ahyp="http://schemas.microsoft.com/office/drawing/2018/hyperlinkcolor" val="tx"/>
                    </a:ext>
                  </a:extLst>
                </a:hlinkClick>
              </a:rPr>
              <a:t>Agent workflow (</a:t>
            </a:r>
            <a:r>
              <a:rPr kumimoji="0" lang="en-US" altLang="zh-CN" sz="2400" b="0" i="0" u="none" strike="noStrike" kern="1200" cap="none" spc="0" normalizeH="0" baseline="0" noProof="0" dirty="0" err="1">
                <a:ln>
                  <a:noFill/>
                </a:ln>
                <a:solidFill>
                  <a:schemeClr val="tx1"/>
                </a:solidFill>
                <a:effectLst/>
                <a:uLnTx/>
                <a:uFillTx/>
                <a:latin typeface="Times New Roman" panose="02020603050405020304" pitchFamily="18" charset="0"/>
                <a:ea typeface="等线" panose="02010600030101010101" pitchFamily="2" charset="-122"/>
                <a:cs typeface="Times New Roman" panose="02020603050405020304" pitchFamily="18" charset="0"/>
                <a:hlinkClick r:id="rId10" action="ppaction://hlinksldjump">
                  <a:extLst>
                    <a:ext uri="{A12FA001-AC4F-418D-AE19-62706E023703}">
                      <ahyp:hlinkClr xmlns:ahyp="http://schemas.microsoft.com/office/drawing/2018/hyperlinkcolor" val="tx"/>
                    </a:ext>
                  </a:extLst>
                </a:hlinkClick>
              </a:rPr>
              <a:t>LangGraph</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等线" panose="02010600030101010101" pitchFamily="2" charset="-122"/>
                <a:cs typeface="Times New Roman" panose="02020603050405020304" pitchFamily="18" charset="0"/>
                <a:hlinkClick r:id="rId10" action="ppaction://hlinksldjump">
                  <a:extLst>
                    <a:ext uri="{A12FA001-AC4F-418D-AE19-62706E023703}">
                      <ahyp:hlinkClr xmlns:ahyp="http://schemas.microsoft.com/office/drawing/2018/hyperlinkcolor" val="tx"/>
                    </a:ext>
                  </a:extLst>
                </a:hlinkClick>
              </a:rPr>
              <a:t>)</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2" name="Rounded Rectangle 1">
            <a:extLst>
              <a:ext uri="{FF2B5EF4-FFF2-40B4-BE49-F238E27FC236}">
                <a16:creationId xmlns:a16="http://schemas.microsoft.com/office/drawing/2014/main" id="{FE2316BA-A1C4-55B0-0706-80829C08B31B}"/>
              </a:ext>
            </a:extLst>
          </p:cNvPr>
          <p:cNvSpPr/>
          <p:nvPr/>
        </p:nvSpPr>
        <p:spPr>
          <a:xfrm>
            <a:off x="6739161" y="2356838"/>
            <a:ext cx="4411908" cy="1327289"/>
          </a:xfrm>
          <a:prstGeom prst="roundRect">
            <a:avLst/>
          </a:prstGeom>
          <a:ln w="76200"/>
        </p:spPr>
        <p:style>
          <a:lnRef idx="2">
            <a:schemeClr val="accent2"/>
          </a:lnRef>
          <a:fillRef idx="1">
            <a:schemeClr val="lt1"/>
          </a:fillRef>
          <a:effectRef idx="0">
            <a:schemeClr val="accent2"/>
          </a:effectRef>
          <a:fontRef idx="minor">
            <a:schemeClr val="dk1"/>
          </a:fontRef>
        </p:style>
        <p:txBody>
          <a:bodyPr rtlCol="0" anchor="ctr"/>
          <a:lstStyle/>
          <a:p>
            <a:pPr algn="ctr">
              <a:defRPr sz="4400" b="1">
                <a:solidFill>
                  <a:srgbClr val="0059B3"/>
                </a:solidFill>
                <a:latin typeface="Arial"/>
              </a:defRPr>
            </a:pPr>
            <a:r>
              <a:rPr lang="en-US" altLang="zh-CN" sz="3600" b="1" dirty="0">
                <a:ln w="22225">
                  <a:solidFill>
                    <a:schemeClr val="accent2"/>
                  </a:solidFill>
                  <a:prstDash val="solid"/>
                </a:ln>
                <a:solidFill>
                  <a:schemeClr val="accent2">
                    <a:lumMod val="40000"/>
                    <a:lumOff val="60000"/>
                  </a:schemeClr>
                </a:solidFill>
              </a:rPr>
              <a:t>5. PROGRESS</a:t>
            </a:r>
          </a:p>
          <a:p>
            <a:pPr algn="ctr">
              <a:lnSpc>
                <a:spcPct val="150000"/>
              </a:lnSpc>
              <a:defRPr/>
            </a:pPr>
            <a:r>
              <a:rPr lang="en-US" altLang="zh-CN" sz="2400" dirty="0">
                <a:solidFill>
                  <a:schemeClr val="tx1"/>
                </a:solidFill>
                <a:latin typeface="Times New Roman" panose="02020603050405020304" pitchFamily="18" charset="0"/>
                <a:cs typeface="Times New Roman" panose="02020603050405020304" pitchFamily="18" charset="0"/>
                <a:hlinkClick r:id="rId11" action="ppaction://hlinksldjump">
                  <a:extLst>
                    <a:ext uri="{A12FA001-AC4F-418D-AE19-62706E023703}">
                      <ahyp:hlinkClr xmlns:ahyp="http://schemas.microsoft.com/office/drawing/2018/hyperlinkcolor" val="tx"/>
                    </a:ext>
                  </a:extLst>
                </a:hlinkClick>
              </a:rPr>
              <a:t>Roles &amp; progress</a:t>
            </a:r>
            <a:endParaRPr lang="en-US" altLang="zh-CN" sz="2400" dirty="0">
              <a:solidFill>
                <a:schemeClr val="tx1"/>
              </a:solidFill>
              <a:latin typeface="Times New Roman" panose="02020603050405020304" pitchFamily="18" charset="0"/>
              <a:cs typeface="Times New Roman" panose="02020603050405020304" pitchFamily="18" charset="0"/>
            </a:endParaRPr>
          </a:p>
        </p:txBody>
      </p:sp>
      <p:sp>
        <p:nvSpPr>
          <p:cNvPr id="14" name="Rounded Rectangle 1">
            <a:extLst>
              <a:ext uri="{FF2B5EF4-FFF2-40B4-BE49-F238E27FC236}">
                <a16:creationId xmlns:a16="http://schemas.microsoft.com/office/drawing/2014/main" id="{84E78FE3-EB5B-9997-1429-FF312C57BEC9}"/>
              </a:ext>
            </a:extLst>
          </p:cNvPr>
          <p:cNvSpPr/>
          <p:nvPr/>
        </p:nvSpPr>
        <p:spPr>
          <a:xfrm>
            <a:off x="6562497" y="4326265"/>
            <a:ext cx="4765236" cy="1327288"/>
          </a:xfrm>
          <a:prstGeom prst="roundRect">
            <a:avLst/>
          </a:prstGeom>
          <a:ln w="76200"/>
        </p:spPr>
        <p:style>
          <a:lnRef idx="2">
            <a:schemeClr val="accent2"/>
          </a:lnRef>
          <a:fillRef idx="1">
            <a:schemeClr val="lt1"/>
          </a:fillRef>
          <a:effectRef idx="0">
            <a:schemeClr val="accent2"/>
          </a:effectRef>
          <a:fontRef idx="minor">
            <a:schemeClr val="dk1"/>
          </a:fontRef>
        </p:style>
        <p:txBody>
          <a:bodyPr rtlCol="0" anchor="ctr"/>
          <a:lstStyle/>
          <a:p>
            <a:pPr algn="ctr">
              <a:defRPr sz="4400" b="1">
                <a:solidFill>
                  <a:srgbClr val="0059B3"/>
                </a:solidFill>
                <a:latin typeface="Arial"/>
              </a:defRPr>
            </a:pPr>
            <a:r>
              <a:rPr lang="en-US" altLang="zh-CN" sz="3400" b="1" dirty="0">
                <a:ln w="22225">
                  <a:solidFill>
                    <a:schemeClr val="accent2"/>
                  </a:solidFill>
                  <a:prstDash val="solid"/>
                </a:ln>
                <a:solidFill>
                  <a:schemeClr val="accent2">
                    <a:lumMod val="40000"/>
                    <a:lumOff val="60000"/>
                  </a:schemeClr>
                </a:solidFill>
              </a:rPr>
              <a:t>6. </a:t>
            </a:r>
            <a:r>
              <a:rPr lang="en-US" altLang="zh-CN" sz="3200" b="1" dirty="0">
                <a:ln w="22225">
                  <a:solidFill>
                    <a:schemeClr val="accent2"/>
                  </a:solidFill>
                  <a:prstDash val="solid"/>
                </a:ln>
                <a:solidFill>
                  <a:schemeClr val="accent2">
                    <a:lumMod val="40000"/>
                    <a:lumOff val="60000"/>
                  </a:schemeClr>
                </a:solidFill>
              </a:rPr>
              <a:t>TEAM</a:t>
            </a:r>
            <a:r>
              <a:rPr lang="en-US" altLang="zh-CN" sz="3400" b="1" dirty="0">
                <a:ln w="22225">
                  <a:solidFill>
                    <a:schemeClr val="accent2"/>
                  </a:solidFill>
                  <a:prstDash val="solid"/>
                </a:ln>
                <a:solidFill>
                  <a:schemeClr val="accent2">
                    <a:lumMod val="40000"/>
                    <a:lumOff val="60000"/>
                  </a:schemeClr>
                </a:solidFill>
              </a:rPr>
              <a:t>&amp;SUMMARY</a:t>
            </a:r>
          </a:p>
          <a:p>
            <a:pPr algn="ctr">
              <a:lnSpc>
                <a:spcPct val="150000"/>
              </a:lnSpc>
            </a:pPr>
            <a:r>
              <a:rPr lang="en-US" altLang="zh-CN" sz="2400" dirty="0">
                <a:solidFill>
                  <a:schemeClr val="tx1"/>
                </a:solidFill>
                <a:latin typeface="Times New Roman" panose="02020603050405020304" pitchFamily="18" charset="0"/>
                <a:cs typeface="Times New Roman" panose="02020603050405020304" pitchFamily="18" charset="0"/>
                <a:hlinkClick r:id="rId12" action="ppaction://hlinksldjump">
                  <a:extLst>
                    <a:ext uri="{A12FA001-AC4F-418D-AE19-62706E023703}">
                      <ahyp:hlinkClr xmlns:ahyp="http://schemas.microsoft.com/office/drawing/2018/hyperlinkcolor" val="tx"/>
                    </a:ext>
                  </a:extLst>
                </a:hlinkClick>
              </a:rPr>
              <a:t>Summary</a:t>
            </a:r>
            <a:endParaRPr lang="en-US" altLang="zh-CN"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1192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单圆角 1">
            <a:extLst>
              <a:ext uri="{FF2B5EF4-FFF2-40B4-BE49-F238E27FC236}">
                <a16:creationId xmlns:a16="http://schemas.microsoft.com/office/drawing/2014/main" id="{F72420F6-1A44-2F35-298C-4A88B8EAF757}"/>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A654B091-20FB-E39D-2DD9-C3655A873F06}"/>
              </a:ext>
            </a:extLst>
          </p:cNvPr>
          <p:cNvSpPr txBox="1"/>
          <p:nvPr/>
        </p:nvSpPr>
        <p:spPr>
          <a:xfrm>
            <a:off x="240846" y="6359979"/>
            <a:ext cx="2917372"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Project Overview</a:t>
            </a:r>
            <a:endParaRPr lang="zh-CN" altLang="en-US" dirty="0">
              <a:effectLst>
                <a:outerShdw blurRad="38100" dist="38100" dir="2700000" algn="tl">
                  <a:srgbClr val="000000">
                    <a:alpha val="43137"/>
                  </a:srgbClr>
                </a:outerShdw>
              </a:effectLst>
            </a:endParaRPr>
          </a:p>
        </p:txBody>
      </p:sp>
      <p:sp>
        <p:nvSpPr>
          <p:cNvPr id="5" name="矩形: 圆顶角 4">
            <a:extLst>
              <a:ext uri="{FF2B5EF4-FFF2-40B4-BE49-F238E27FC236}">
                <a16:creationId xmlns:a16="http://schemas.microsoft.com/office/drawing/2014/main" id="{A027D026-7612-AE9E-E728-B62539A61FE0}"/>
              </a:ext>
            </a:extLst>
          </p:cNvPr>
          <p:cNvSpPr/>
          <p:nvPr/>
        </p:nvSpPr>
        <p:spPr>
          <a:xfrm rot="10800000">
            <a:off x="416966" y="17270"/>
            <a:ext cx="3613708"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E02EE6F8-579F-B6BA-39C3-F311FB8DAF14}"/>
              </a:ext>
            </a:extLst>
          </p:cNvPr>
          <p:cNvSpPr txBox="1"/>
          <p:nvPr/>
        </p:nvSpPr>
        <p:spPr>
          <a:xfrm>
            <a:off x="596900" y="22206"/>
            <a:ext cx="3210661" cy="584775"/>
          </a:xfrm>
          <a:prstGeom prst="rect">
            <a:avLst/>
          </a:prstGeom>
          <a:noFill/>
        </p:spPr>
        <p:txBody>
          <a:bodyPr wrap="square" rtlCol="0">
            <a:spAutoFit/>
          </a:bodyPr>
          <a:lstStyle/>
          <a:p>
            <a:pPr algn="ctr"/>
            <a:r>
              <a:rPr lang="en-US" altLang="zh-CN" sz="3200" b="1" dirty="0">
                <a:latin typeface="High Tower Text" panose="02040502050506030303" pitchFamily="18" charset="0"/>
                <a:cs typeface="Times New Roman" panose="02020603050405020304" pitchFamily="18" charset="0"/>
              </a:rPr>
              <a:t>Project Overview</a:t>
            </a:r>
            <a:endParaRPr lang="zh-CN" altLang="en-US" sz="2000" b="1" dirty="0">
              <a:latin typeface="High Tower Text" panose="02040502050506030303" pitchFamily="18" charset="0"/>
            </a:endParaRPr>
          </a:p>
        </p:txBody>
      </p:sp>
      <p:sp>
        <p:nvSpPr>
          <p:cNvPr id="10" name="文本框 9">
            <a:extLst>
              <a:ext uri="{FF2B5EF4-FFF2-40B4-BE49-F238E27FC236}">
                <a16:creationId xmlns:a16="http://schemas.microsoft.com/office/drawing/2014/main" id="{2E0DC7ED-AAF6-8779-F363-136462F02613}"/>
              </a:ext>
            </a:extLst>
          </p:cNvPr>
          <p:cNvSpPr txBox="1"/>
          <p:nvPr/>
        </p:nvSpPr>
        <p:spPr>
          <a:xfrm>
            <a:off x="2942924" y="6332815"/>
            <a:ext cx="6155356" cy="369332"/>
          </a:xfrm>
          <a:prstGeom prst="rect">
            <a:avLst/>
          </a:prstGeom>
          <a:noFill/>
        </p:spPr>
        <p:txBody>
          <a:bodyPr wrap="square">
            <a:spAutoFit/>
          </a:bodyPr>
          <a:lstStyle/>
          <a:p>
            <a:pPr algn="ctr"/>
            <a:r>
              <a:rPr lang="en-US" altLang="zh-CN" b="1" dirty="0"/>
              <a:t>Page 1</a:t>
            </a:r>
            <a:endParaRPr lang="zh-CN" altLang="en-US" b="1" dirty="0"/>
          </a:p>
        </p:txBody>
      </p:sp>
      <p:sp>
        <p:nvSpPr>
          <p:cNvPr id="11" name="TextBox 2">
            <a:extLst>
              <a:ext uri="{FF2B5EF4-FFF2-40B4-BE49-F238E27FC236}">
                <a16:creationId xmlns:a16="http://schemas.microsoft.com/office/drawing/2014/main" id="{6BF0EECC-2C82-3A01-0248-47F127DDE236}"/>
              </a:ext>
            </a:extLst>
          </p:cNvPr>
          <p:cNvSpPr txBox="1"/>
          <p:nvPr/>
        </p:nvSpPr>
        <p:spPr>
          <a:xfrm>
            <a:off x="332510" y="1228397"/>
            <a:ext cx="3973484" cy="4401205"/>
          </a:xfrm>
          <a:prstGeom prst="rect">
            <a:avLst/>
          </a:prstGeom>
          <a:noFill/>
        </p:spPr>
        <p:txBody>
          <a:bodyPr wrap="square">
            <a:spAutoFit/>
          </a:bodyPr>
          <a:lstStyle/>
          <a:p>
            <a:r>
              <a:rPr sz="2800" dirty="0" err="1">
                <a:latin typeface="Times New Roman" panose="02020603050405020304" pitchFamily="18" charset="0"/>
                <a:cs typeface="Times New Roman" panose="02020603050405020304" pitchFamily="18" charset="0"/>
              </a:rPr>
              <a:t>bigdata_project</a:t>
            </a:r>
            <a:r>
              <a:rPr sz="2800" dirty="0">
                <a:latin typeface="Times New Roman" panose="02020603050405020304" pitchFamily="18" charset="0"/>
                <a:cs typeface="Times New Roman" panose="02020603050405020304" pitchFamily="18" charset="0"/>
              </a:rPr>
              <a:t>
├─ </a:t>
            </a:r>
            <a:r>
              <a:rPr sz="2800" dirty="0" err="1">
                <a:solidFill>
                  <a:srgbClr val="0070C0"/>
                </a:solidFill>
                <a:latin typeface="Times New Roman" panose="02020603050405020304" pitchFamily="18" charset="0"/>
                <a:cs typeface="Times New Roman" panose="02020603050405020304" pitchFamily="18" charset="0"/>
              </a:rPr>
              <a:t>src</a:t>
            </a:r>
            <a:r>
              <a:rPr sz="2800" dirty="0">
                <a:solidFill>
                  <a:srgbClr val="0070C0"/>
                </a:solidFill>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
├─ </a:t>
            </a:r>
            <a:r>
              <a:rPr sz="2800" dirty="0" err="1">
                <a:solidFill>
                  <a:srgbClr val="0070C0"/>
                </a:solidFill>
                <a:latin typeface="Times New Roman" panose="02020603050405020304" pitchFamily="18" charset="0"/>
                <a:cs typeface="Times New Roman" panose="02020603050405020304" pitchFamily="18" charset="0"/>
              </a:rPr>
              <a:t>agent_flow</a:t>
            </a:r>
            <a:r>
              <a:rPr sz="2800" dirty="0">
                <a:solidFill>
                  <a:srgbClr val="0070C0"/>
                </a:solidFill>
                <a:latin typeface="Times New Roman" panose="02020603050405020304" pitchFamily="18" charset="0"/>
                <a:cs typeface="Times New Roman" panose="02020603050405020304" pitchFamily="18" charset="0"/>
              </a:rPr>
              <a:t>/</a:t>
            </a:r>
            <a:r>
              <a:rPr sz="2800" dirty="0">
                <a:latin typeface="Times New Roman" panose="02020603050405020304" pitchFamily="18" charset="0"/>
                <a:cs typeface="Times New Roman" panose="02020603050405020304" pitchFamily="18" charset="0"/>
              </a:rPr>
              <a:t>
├─ </a:t>
            </a:r>
            <a:r>
              <a:rPr sz="2800" dirty="0">
                <a:solidFill>
                  <a:srgbClr val="0070C0"/>
                </a:solidFill>
                <a:latin typeface="Times New Roman" panose="02020603050405020304" pitchFamily="18" charset="0"/>
                <a:cs typeface="Times New Roman" panose="02020603050405020304" pitchFamily="18" charset="0"/>
              </a:rPr>
              <a:t>artifacts/</a:t>
            </a:r>
            <a:r>
              <a:rPr sz="2800" dirty="0">
                <a:latin typeface="Times New Roman" panose="02020603050405020304" pitchFamily="18" charset="0"/>
                <a:cs typeface="Times New Roman" panose="02020603050405020304" pitchFamily="18" charset="0"/>
              </a:rPr>
              <a:t>
├─ </a:t>
            </a:r>
            <a:r>
              <a:rPr sz="2800" dirty="0">
                <a:solidFill>
                  <a:srgbClr val="0070C0"/>
                </a:solidFill>
                <a:latin typeface="Times New Roman" panose="02020603050405020304" pitchFamily="18" charset="0"/>
                <a:cs typeface="Times New Roman" panose="02020603050405020304" pitchFamily="18" charset="0"/>
              </a:rPr>
              <a:t>reports/</a:t>
            </a:r>
            <a:r>
              <a:rPr sz="2800" dirty="0">
                <a:latin typeface="Times New Roman" panose="02020603050405020304" pitchFamily="18" charset="0"/>
                <a:cs typeface="Times New Roman" panose="02020603050405020304" pitchFamily="18" charset="0"/>
              </a:rPr>
              <a:t>
├─ </a:t>
            </a:r>
            <a:r>
              <a:rPr sz="2800" dirty="0">
                <a:solidFill>
                  <a:srgbClr val="0070C0"/>
                </a:solidFill>
                <a:latin typeface="Times New Roman" panose="02020603050405020304" pitchFamily="18" charset="0"/>
                <a:cs typeface="Times New Roman" panose="02020603050405020304" pitchFamily="18" charset="0"/>
              </a:rPr>
              <a:t>data/</a:t>
            </a:r>
            <a:r>
              <a:rPr sz="2800" dirty="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main.py </a:t>
            </a:r>
            <a:endParaRPr lang="en-US" sz="2800" dirty="0">
              <a:latin typeface="Times New Roman" panose="02020603050405020304" pitchFamily="18" charset="0"/>
              <a:cs typeface="Times New Roman" panose="02020603050405020304" pitchFamily="18" charset="0"/>
            </a:endParaRPr>
          </a:p>
          <a:p>
            <a:r>
              <a:rPr lang="zh-CN" altLang="en-US" sz="2800" dirty="0">
                <a:latin typeface="Times New Roman" panose="02020603050405020304" pitchFamily="18" charset="0"/>
                <a:cs typeface="Times New Roman" panose="02020603050405020304" pitchFamily="18" charset="0"/>
              </a:rPr>
              <a:t>├─ </a:t>
            </a:r>
            <a:r>
              <a:rPr sz="2800" dirty="0">
                <a:solidFill>
                  <a:srgbClr val="FF0000"/>
                </a:solidFill>
                <a:latin typeface="Times New Roman" panose="02020603050405020304" pitchFamily="18" charset="0"/>
                <a:cs typeface="Times New Roman" panose="02020603050405020304" pitchFamily="18" charset="0"/>
              </a:rPr>
              <a:t>llm_insights.</a:t>
            </a:r>
            <a:r>
              <a:rPr lang="en-US" sz="2800" dirty="0">
                <a:solidFill>
                  <a:srgbClr val="FF0000"/>
                </a:solidFill>
                <a:latin typeface="Times New Roman" panose="02020603050405020304" pitchFamily="18" charset="0"/>
                <a:cs typeface="Times New Roman" panose="02020603050405020304" pitchFamily="18" charset="0"/>
              </a:rPr>
              <a:t>py</a:t>
            </a:r>
          </a:p>
          <a:p>
            <a:r>
              <a:rPr lang="zh-CN" altLang="en-US" sz="280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requirements.txt </a:t>
            </a:r>
            <a:endParaRPr lang="en-US" sz="2800" dirty="0">
              <a:latin typeface="Times New Roman" panose="02020603050405020304" pitchFamily="18" charset="0"/>
              <a:cs typeface="Times New Roman" panose="02020603050405020304" pitchFamily="18" charset="0"/>
            </a:endParaRPr>
          </a:p>
          <a:p>
            <a:r>
              <a:rPr lang="zh-CN" altLang="en-US" sz="280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README.md</a:t>
            </a:r>
          </a:p>
        </p:txBody>
      </p:sp>
      <p:sp>
        <p:nvSpPr>
          <p:cNvPr id="12" name="Rounded Rectangle 3">
            <a:extLst>
              <a:ext uri="{FF2B5EF4-FFF2-40B4-BE49-F238E27FC236}">
                <a16:creationId xmlns:a16="http://schemas.microsoft.com/office/drawing/2014/main" id="{E902BFB3-8236-FEAC-1D9A-CA84895D3F78}"/>
              </a:ext>
            </a:extLst>
          </p:cNvPr>
          <p:cNvSpPr/>
          <p:nvPr/>
        </p:nvSpPr>
        <p:spPr>
          <a:xfrm>
            <a:off x="4361976" y="1280550"/>
            <a:ext cx="3517392" cy="1985918"/>
          </a:xfrm>
          <a:prstGeom prst="roundRect">
            <a:avLst>
              <a:gd name="adj" fmla="val 0"/>
            </a:avLst>
          </a:prstGeom>
          <a:solidFill>
            <a:srgbClr val="F7F8FC"/>
          </a:solidFill>
          <a:ln w="12700">
            <a:solidFill>
              <a:srgbClr val="D2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dirty="0" err="1">
                <a:solidFill>
                  <a:schemeClr val="tx1"/>
                </a:solidFill>
                <a:latin typeface="Times New Roman" panose="02020603050405020304" pitchFamily="18" charset="0"/>
                <a:cs typeface="Times New Roman" panose="02020603050405020304" pitchFamily="18" charset="0"/>
              </a:rPr>
              <a:t>src</a:t>
            </a:r>
            <a:r>
              <a:rPr sz="2400" b="1" dirty="0">
                <a:solidFill>
                  <a:schemeClr val="tx1"/>
                </a:solidFill>
                <a:latin typeface="Times New Roman" panose="02020603050405020304" pitchFamily="18" charset="0"/>
                <a:cs typeface="Times New Roman" panose="02020603050405020304" pitchFamily="18" charset="0"/>
              </a:rPr>
              <a:t>/</a:t>
            </a:r>
          </a:p>
          <a:p>
            <a:pPr lvl="1" algn="ctr"/>
            <a:r>
              <a:rPr lang="en-US" sz="1600" dirty="0">
                <a:solidFill>
                  <a:schemeClr val="tx1"/>
                </a:solidFill>
                <a:latin typeface="Times New Roman" panose="02020603050405020304" pitchFamily="18" charset="0"/>
                <a:cs typeface="Times New Roman" panose="02020603050405020304" pitchFamily="18" charset="0"/>
              </a:rPr>
              <a:t>Core modules for data preprocessing, feature engineering, and model training.(Builds and evaluates regression/classification pipelines.)</a:t>
            </a:r>
            <a:endParaRPr sz="1600" dirty="0">
              <a:solidFill>
                <a:schemeClr val="tx1"/>
              </a:solidFill>
              <a:latin typeface="Times New Roman" panose="02020603050405020304" pitchFamily="18" charset="0"/>
              <a:cs typeface="Times New Roman" panose="02020603050405020304" pitchFamily="18" charset="0"/>
            </a:endParaRPr>
          </a:p>
        </p:txBody>
      </p:sp>
      <p:sp>
        <p:nvSpPr>
          <p:cNvPr id="13" name="Rounded Rectangle 4">
            <a:extLst>
              <a:ext uri="{FF2B5EF4-FFF2-40B4-BE49-F238E27FC236}">
                <a16:creationId xmlns:a16="http://schemas.microsoft.com/office/drawing/2014/main" id="{DA1149D1-A410-773E-E490-5944474240CF}"/>
              </a:ext>
            </a:extLst>
          </p:cNvPr>
          <p:cNvSpPr/>
          <p:nvPr/>
        </p:nvSpPr>
        <p:spPr>
          <a:xfrm>
            <a:off x="8080536" y="1280550"/>
            <a:ext cx="3517392" cy="1985918"/>
          </a:xfrm>
          <a:prstGeom prst="roundRect">
            <a:avLst>
              <a:gd name="adj" fmla="val 0"/>
            </a:avLst>
          </a:prstGeom>
          <a:solidFill>
            <a:srgbClr val="F7F8FC"/>
          </a:solidFill>
          <a:ln w="12700">
            <a:solidFill>
              <a:srgbClr val="D2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dirty="0" err="1">
                <a:solidFill>
                  <a:schemeClr val="tx1"/>
                </a:solidFill>
                <a:latin typeface="Times New Roman" panose="02020603050405020304" pitchFamily="18" charset="0"/>
                <a:cs typeface="Times New Roman" panose="02020603050405020304" pitchFamily="18" charset="0"/>
              </a:rPr>
              <a:t>agent_flow</a:t>
            </a:r>
            <a:r>
              <a:rPr sz="2400" b="1" dirty="0">
                <a:solidFill>
                  <a:schemeClr val="tx1"/>
                </a:solidFill>
                <a:latin typeface="Times New Roman" panose="02020603050405020304" pitchFamily="18" charset="0"/>
                <a:cs typeface="Times New Roman" panose="02020603050405020304" pitchFamily="18" charset="0"/>
              </a:rPr>
              <a:t>/</a:t>
            </a:r>
          </a:p>
          <a:p>
            <a:pPr lvl="1" algn="ctr"/>
            <a:r>
              <a:rPr lang="en-US" sz="1600" dirty="0">
                <a:solidFill>
                  <a:schemeClr val="tx1"/>
                </a:solidFill>
                <a:latin typeface="Times New Roman" panose="02020603050405020304" pitchFamily="18" charset="0"/>
                <a:cs typeface="Times New Roman" panose="02020603050405020304" pitchFamily="18" charset="0"/>
              </a:rPr>
              <a:t>Multi-agent workflow for automated orchestration and reporting.(Planner → Executor → Visualizer → Reporter.)</a:t>
            </a:r>
            <a:endParaRPr sz="1600" dirty="0">
              <a:solidFill>
                <a:schemeClr val="tx1"/>
              </a:solidFill>
              <a:latin typeface="Times New Roman" panose="02020603050405020304" pitchFamily="18" charset="0"/>
              <a:cs typeface="Times New Roman" panose="02020603050405020304" pitchFamily="18" charset="0"/>
            </a:endParaRPr>
          </a:p>
        </p:txBody>
      </p:sp>
      <p:sp>
        <p:nvSpPr>
          <p:cNvPr id="14" name="Rounded Rectangle 5">
            <a:extLst>
              <a:ext uri="{FF2B5EF4-FFF2-40B4-BE49-F238E27FC236}">
                <a16:creationId xmlns:a16="http://schemas.microsoft.com/office/drawing/2014/main" id="{C92C8DA8-4041-B141-1F98-1B2FE756753D}"/>
              </a:ext>
            </a:extLst>
          </p:cNvPr>
          <p:cNvSpPr/>
          <p:nvPr/>
        </p:nvSpPr>
        <p:spPr>
          <a:xfrm>
            <a:off x="4361976" y="3386191"/>
            <a:ext cx="3517392" cy="1985918"/>
          </a:xfrm>
          <a:prstGeom prst="roundRect">
            <a:avLst>
              <a:gd name="adj" fmla="val 0"/>
            </a:avLst>
          </a:prstGeom>
          <a:solidFill>
            <a:srgbClr val="F7F8FC"/>
          </a:solidFill>
          <a:ln w="12700">
            <a:solidFill>
              <a:srgbClr val="D2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dirty="0">
                <a:solidFill>
                  <a:schemeClr val="tx1"/>
                </a:solidFill>
                <a:latin typeface="Times New Roman" panose="02020603050405020304" pitchFamily="18" charset="0"/>
                <a:cs typeface="Times New Roman" panose="02020603050405020304" pitchFamily="18" charset="0"/>
              </a:rPr>
              <a:t>artifacts/</a:t>
            </a:r>
          </a:p>
          <a:p>
            <a:pPr lvl="1" algn="ctr"/>
            <a:r>
              <a:rPr lang="en-US" sz="1600" dirty="0">
                <a:solidFill>
                  <a:schemeClr val="tx1"/>
                </a:solidFill>
                <a:latin typeface="Times New Roman" panose="02020603050405020304" pitchFamily="18" charset="0"/>
                <a:cs typeface="Times New Roman" panose="02020603050405020304" pitchFamily="18" charset="0"/>
              </a:rPr>
              <a:t>Stores all generated outputs — metrics, plots, and evaluation results.(Visual evidence for model performance.)</a:t>
            </a:r>
            <a:endParaRPr sz="1600" dirty="0">
              <a:solidFill>
                <a:schemeClr val="tx1"/>
              </a:solidFill>
              <a:latin typeface="Times New Roman" panose="02020603050405020304" pitchFamily="18" charset="0"/>
              <a:cs typeface="Times New Roman" panose="02020603050405020304" pitchFamily="18" charset="0"/>
            </a:endParaRPr>
          </a:p>
        </p:txBody>
      </p:sp>
      <p:sp>
        <p:nvSpPr>
          <p:cNvPr id="17" name="Rounded Rectangle 8">
            <a:extLst>
              <a:ext uri="{FF2B5EF4-FFF2-40B4-BE49-F238E27FC236}">
                <a16:creationId xmlns:a16="http://schemas.microsoft.com/office/drawing/2014/main" id="{3B32260E-AA7C-76DD-6977-4557B40D727C}"/>
              </a:ext>
            </a:extLst>
          </p:cNvPr>
          <p:cNvSpPr/>
          <p:nvPr/>
        </p:nvSpPr>
        <p:spPr>
          <a:xfrm>
            <a:off x="8013301" y="3386191"/>
            <a:ext cx="3517392" cy="1985918"/>
          </a:xfrm>
          <a:prstGeom prst="roundRect">
            <a:avLst>
              <a:gd name="adj" fmla="val 0"/>
            </a:avLst>
          </a:prstGeom>
          <a:solidFill>
            <a:srgbClr val="F7F8FC"/>
          </a:solidFill>
          <a:ln w="12700">
            <a:solidFill>
              <a:srgbClr val="D2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dirty="0" err="1">
                <a:solidFill>
                  <a:schemeClr val="tx1"/>
                </a:solidFill>
                <a:latin typeface="Times New Roman" panose="02020603050405020304" pitchFamily="18" charset="0"/>
                <a:cs typeface="Times New Roman" panose="02020603050405020304" pitchFamily="18" charset="0"/>
              </a:rPr>
              <a:t>Entrypoints</a:t>
            </a:r>
            <a:endParaRPr sz="2400" b="1" dirty="0">
              <a:solidFill>
                <a:schemeClr val="tx1"/>
              </a:solidFill>
              <a:latin typeface="Times New Roman" panose="02020603050405020304" pitchFamily="18" charset="0"/>
              <a:cs typeface="Times New Roman" panose="02020603050405020304" pitchFamily="18" charset="0"/>
            </a:endParaRPr>
          </a:p>
          <a:p>
            <a:pPr lvl="1" algn="ctr"/>
            <a:r>
              <a:rPr lang="en-US" sz="1600" dirty="0">
                <a:solidFill>
                  <a:schemeClr val="tx1"/>
                </a:solidFill>
                <a:latin typeface="Times New Roman" panose="02020603050405020304" pitchFamily="18" charset="0"/>
                <a:cs typeface="Times New Roman" panose="02020603050405020304" pitchFamily="18" charset="0"/>
              </a:rPr>
              <a:t>Scripts to run and reproduce the project.</a:t>
            </a:r>
            <a:br>
              <a:rPr lang="en-US" sz="1600" dirty="0">
                <a:solidFill>
                  <a:schemeClr val="tx1"/>
                </a:solidFill>
                <a:latin typeface="Times New Roman" panose="02020603050405020304" pitchFamily="18" charset="0"/>
                <a:cs typeface="Times New Roman" panose="02020603050405020304" pitchFamily="18" charset="0"/>
              </a:rPr>
            </a:br>
            <a:r>
              <a:rPr lang="en-US" sz="1600" dirty="0">
                <a:solidFill>
                  <a:schemeClr val="tx1"/>
                </a:solidFill>
                <a:latin typeface="Times New Roman" panose="02020603050405020304" pitchFamily="18" charset="0"/>
                <a:cs typeface="Times New Roman" panose="02020603050405020304" pitchFamily="18" charset="0"/>
              </a:rPr>
              <a:t>(main.py, llm_insights.py,  requirements.txt, README.md)</a:t>
            </a:r>
            <a:endParaRPr sz="1600" dirty="0">
              <a:solidFill>
                <a:schemeClr val="tx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84B07B42-4325-8E8F-3563-B178B8CA5AFA}"/>
              </a:ext>
            </a:extLst>
          </p:cNvPr>
          <p:cNvSpPr txBox="1"/>
          <p:nvPr/>
        </p:nvSpPr>
        <p:spPr>
          <a:xfrm>
            <a:off x="9321800" y="6359979"/>
            <a:ext cx="2208893" cy="369332"/>
          </a:xfrm>
          <a:prstGeom prst="rect">
            <a:avLst/>
          </a:prstGeom>
          <a:noFill/>
        </p:spPr>
        <p:txBody>
          <a:bodyPr wrap="square" rtlCol="0">
            <a:spAutoFit/>
          </a:bodyPr>
          <a:lstStyle/>
          <a:p>
            <a:r>
              <a:rPr lang="en-US" altLang="zh-CN" dirty="0"/>
              <a:t>Final Project Report</a:t>
            </a:r>
            <a:endParaRPr lang="zh-CN" altLang="en-US" dirty="0"/>
          </a:p>
        </p:txBody>
      </p:sp>
    </p:spTree>
    <p:extLst>
      <p:ext uri="{BB962C8B-B14F-4D97-AF65-F5344CB8AC3E}">
        <p14:creationId xmlns:p14="http://schemas.microsoft.com/office/powerpoint/2010/main" val="3969068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E25F9-32E8-77E4-D101-04F795C652F6}"/>
            </a:ext>
          </a:extLst>
        </p:cNvPr>
        <p:cNvGrpSpPr/>
        <p:nvPr/>
      </p:nvGrpSpPr>
      <p:grpSpPr>
        <a:xfrm>
          <a:off x="0" y="0"/>
          <a:ext cx="0" cy="0"/>
          <a:chOff x="0" y="0"/>
          <a:chExt cx="0" cy="0"/>
        </a:xfrm>
      </p:grpSpPr>
      <p:sp>
        <p:nvSpPr>
          <p:cNvPr id="2" name="矩形: 单圆角 1">
            <a:extLst>
              <a:ext uri="{FF2B5EF4-FFF2-40B4-BE49-F238E27FC236}">
                <a16:creationId xmlns:a16="http://schemas.microsoft.com/office/drawing/2014/main" id="{563B67D9-1C14-0AE6-3D9D-C31B09B2AA3A}"/>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FDA5C6FE-BB67-57C5-7EE7-E04BC6FB67C7}"/>
              </a:ext>
            </a:extLst>
          </p:cNvPr>
          <p:cNvSpPr txBox="1"/>
          <p:nvPr/>
        </p:nvSpPr>
        <p:spPr>
          <a:xfrm>
            <a:off x="9321800" y="6359979"/>
            <a:ext cx="2208893" cy="369332"/>
          </a:xfrm>
          <a:prstGeom prst="rect">
            <a:avLst/>
          </a:prstGeom>
          <a:noFill/>
        </p:spPr>
        <p:txBody>
          <a:bodyPr wrap="square" rtlCol="0">
            <a:spAutoFit/>
          </a:bodyPr>
          <a:lstStyle/>
          <a:p>
            <a:r>
              <a:rPr lang="en-US" altLang="zh-CN" dirty="0"/>
              <a:t>Final Project Report</a:t>
            </a:r>
            <a:endParaRPr lang="zh-CN" altLang="en-US" dirty="0"/>
          </a:p>
        </p:txBody>
      </p:sp>
      <p:sp>
        <p:nvSpPr>
          <p:cNvPr id="4" name="文本框 3">
            <a:extLst>
              <a:ext uri="{FF2B5EF4-FFF2-40B4-BE49-F238E27FC236}">
                <a16:creationId xmlns:a16="http://schemas.microsoft.com/office/drawing/2014/main" id="{8D116247-3E18-A16D-C584-E01A3C685C67}"/>
              </a:ext>
            </a:extLst>
          </p:cNvPr>
          <p:cNvSpPr txBox="1"/>
          <p:nvPr/>
        </p:nvSpPr>
        <p:spPr>
          <a:xfrm>
            <a:off x="240846" y="6359979"/>
            <a:ext cx="2917372"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Project Overview</a:t>
            </a:r>
            <a:endParaRPr lang="zh-CN" altLang="en-US" dirty="0">
              <a:effectLst>
                <a:outerShdw blurRad="38100" dist="38100" dir="2700000" algn="tl">
                  <a:srgbClr val="000000">
                    <a:alpha val="43137"/>
                  </a:srgbClr>
                </a:outerShdw>
              </a:effectLst>
            </a:endParaRPr>
          </a:p>
        </p:txBody>
      </p:sp>
      <p:sp>
        <p:nvSpPr>
          <p:cNvPr id="5" name="矩形: 圆顶角 4">
            <a:extLst>
              <a:ext uri="{FF2B5EF4-FFF2-40B4-BE49-F238E27FC236}">
                <a16:creationId xmlns:a16="http://schemas.microsoft.com/office/drawing/2014/main" id="{B6A1468C-79FD-9F9F-739D-E4D649313295}"/>
              </a:ext>
            </a:extLst>
          </p:cNvPr>
          <p:cNvSpPr/>
          <p:nvPr/>
        </p:nvSpPr>
        <p:spPr>
          <a:xfrm rot="10800000">
            <a:off x="416966" y="17270"/>
            <a:ext cx="3613708"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5608D5D4-87D3-AE4A-1053-979C58F06A93}"/>
              </a:ext>
            </a:extLst>
          </p:cNvPr>
          <p:cNvSpPr txBox="1"/>
          <p:nvPr/>
        </p:nvSpPr>
        <p:spPr>
          <a:xfrm>
            <a:off x="596900" y="22206"/>
            <a:ext cx="3210661" cy="584775"/>
          </a:xfrm>
          <a:prstGeom prst="rect">
            <a:avLst/>
          </a:prstGeom>
          <a:noFill/>
        </p:spPr>
        <p:txBody>
          <a:bodyPr wrap="square" rtlCol="0">
            <a:spAutoFit/>
          </a:bodyPr>
          <a:lstStyle/>
          <a:p>
            <a:pPr algn="ctr"/>
            <a:r>
              <a:rPr lang="en-US" altLang="zh-CN" sz="3200" b="1" dirty="0">
                <a:latin typeface="High Tower Text" panose="02040502050506030303" pitchFamily="18" charset="0"/>
                <a:cs typeface="Times New Roman" panose="02020603050405020304" pitchFamily="18" charset="0"/>
              </a:rPr>
              <a:t>Project Overview</a:t>
            </a:r>
            <a:endParaRPr lang="zh-CN" altLang="en-US" sz="2000" b="1" dirty="0">
              <a:latin typeface="High Tower Text" panose="02040502050506030303" pitchFamily="18" charset="0"/>
            </a:endParaRPr>
          </a:p>
        </p:txBody>
      </p:sp>
      <p:sp>
        <p:nvSpPr>
          <p:cNvPr id="8" name="文本框 7">
            <a:extLst>
              <a:ext uri="{FF2B5EF4-FFF2-40B4-BE49-F238E27FC236}">
                <a16:creationId xmlns:a16="http://schemas.microsoft.com/office/drawing/2014/main" id="{238D35BB-F19D-9C25-6F2C-58486DD5E4EF}"/>
              </a:ext>
            </a:extLst>
          </p:cNvPr>
          <p:cNvSpPr txBox="1"/>
          <p:nvPr/>
        </p:nvSpPr>
        <p:spPr>
          <a:xfrm>
            <a:off x="416965" y="1060928"/>
            <a:ext cx="4138257" cy="1569660"/>
          </a:xfrm>
          <a:prstGeom prst="rect">
            <a:avLst/>
          </a:prstGeom>
          <a:noFill/>
        </p:spPr>
        <p:txBody>
          <a:bodyPr wrap="square" rtlCol="0">
            <a:spAutoFit/>
          </a:bodyPr>
          <a:lstStyle/>
          <a:p>
            <a:r>
              <a:rPr lang="en-US" altLang="zh-CN" sz="2400" b="1" dirty="0">
                <a:solidFill>
                  <a:srgbClr val="030A18"/>
                </a:solidFill>
                <a:latin typeface="Times New Roman" panose="02020603050405020304" pitchFamily="18" charset="0"/>
                <a:cs typeface="Times New Roman" panose="02020603050405020304" pitchFamily="18" charset="0"/>
              </a:rPr>
              <a:t>Dataset: </a:t>
            </a:r>
            <a:r>
              <a:rPr lang="en-US" altLang="zh-CN" sz="2400" dirty="0">
                <a:solidFill>
                  <a:srgbClr val="030A18"/>
                </a:solidFill>
                <a:latin typeface="Times New Roman" panose="02020603050405020304" pitchFamily="18" charset="0"/>
                <a:cs typeface="Times New Roman" panose="02020603050405020304" pitchFamily="18" charset="0"/>
              </a:rPr>
              <a:t>historical loan records with borrower demographics, credit history and loan characteristics.(from </a:t>
            </a:r>
            <a:r>
              <a:rPr lang="zh-CN" altLang="en-US" sz="2400" dirty="0">
                <a:solidFill>
                  <a:srgbClr val="030A18"/>
                </a:solidFill>
                <a:latin typeface="Times New Roman" panose="02020603050405020304" pitchFamily="18" charset="0"/>
                <a:cs typeface="Times New Roman" panose="02020603050405020304" pitchFamily="18" charset="0"/>
              </a:rPr>
              <a:t>阿里云）</a:t>
            </a:r>
            <a:endParaRPr lang="en-US" altLang="zh-CN" sz="2400"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09F42E4B-52D1-3287-D340-630042307FB2}"/>
              </a:ext>
            </a:extLst>
          </p:cNvPr>
          <p:cNvSpPr txBox="1"/>
          <p:nvPr/>
        </p:nvSpPr>
        <p:spPr>
          <a:xfrm>
            <a:off x="416965" y="2678630"/>
            <a:ext cx="4951989" cy="3123932"/>
          </a:xfrm>
          <a:prstGeom prst="rect">
            <a:avLst/>
          </a:prstGeom>
          <a:noFill/>
        </p:spPr>
        <p:txBody>
          <a:bodyPr wrap="square" rtlCol="0">
            <a:spAutoFit/>
          </a:bodyPr>
          <a:lstStyle/>
          <a:p>
            <a:pPr>
              <a:spcAft>
                <a:spcPts val="600"/>
              </a:spcAft>
            </a:pPr>
            <a:r>
              <a:rPr lang="en-US" altLang="zh-CN" sz="2400" b="1" dirty="0">
                <a:solidFill>
                  <a:srgbClr val="030A18"/>
                </a:solidFill>
                <a:latin typeface="Times New Roman" panose="02020603050405020304" pitchFamily="18" charset="0"/>
                <a:cs typeface="Times New Roman" panose="02020603050405020304" pitchFamily="18" charset="0"/>
              </a:rPr>
              <a:t>Objectives: </a:t>
            </a:r>
            <a:r>
              <a:rPr lang="en-US" altLang="zh-CN" sz="2400" dirty="0">
                <a:solidFill>
                  <a:srgbClr val="030A18"/>
                </a:solidFill>
                <a:latin typeface="Times New Roman" panose="02020603050405020304" pitchFamily="18" charset="0"/>
                <a:cs typeface="Times New Roman" panose="02020603050405020304" pitchFamily="18" charset="0"/>
              </a:rPr>
              <a:t>predict interest rates (regression), classify credit grades, and discover customer segments (clustering)</a:t>
            </a:r>
            <a:endParaRPr lang="en-US" altLang="zh-CN" sz="2400" dirty="0">
              <a:latin typeface="Times New Roman" panose="02020603050405020304" pitchFamily="18" charset="0"/>
              <a:cs typeface="Times New Roman" panose="02020603050405020304" pitchFamily="18" charset="0"/>
            </a:endParaRPr>
          </a:p>
          <a:p>
            <a:r>
              <a:rPr lang="en-US" altLang="zh-CN" sz="2400" b="1" dirty="0">
                <a:solidFill>
                  <a:srgbClr val="030A18"/>
                </a:solidFill>
                <a:latin typeface="Times New Roman" panose="02020603050405020304" pitchFamily="18" charset="0"/>
                <a:cs typeface="Times New Roman" panose="02020603050405020304" pitchFamily="18" charset="0"/>
              </a:rPr>
              <a:t>Pipeline: </a:t>
            </a:r>
            <a:r>
              <a:rPr lang="en-US" altLang="zh-CN" sz="2400" dirty="0">
                <a:solidFill>
                  <a:srgbClr val="030A18"/>
                </a:solidFill>
                <a:latin typeface="Times New Roman" panose="02020603050405020304" pitchFamily="18" charset="0"/>
                <a:cs typeface="Times New Roman" panose="02020603050405020304" pitchFamily="18" charset="0"/>
              </a:rPr>
              <a:t>perform EDA, engineer features, build models &amp; evaluate results, then generate automated reports</a:t>
            </a:r>
            <a:endParaRPr lang="en-US" altLang="zh-CN" sz="2400"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B6DEC03E-2A47-2647-8F99-81A9101C82A5}"/>
              </a:ext>
            </a:extLst>
          </p:cNvPr>
          <p:cNvSpPr txBox="1"/>
          <p:nvPr/>
        </p:nvSpPr>
        <p:spPr>
          <a:xfrm>
            <a:off x="2942924" y="6332815"/>
            <a:ext cx="6155356" cy="369332"/>
          </a:xfrm>
          <a:prstGeom prst="rect">
            <a:avLst/>
          </a:prstGeom>
          <a:noFill/>
        </p:spPr>
        <p:txBody>
          <a:bodyPr wrap="square">
            <a:spAutoFit/>
          </a:bodyPr>
          <a:lstStyle/>
          <a:p>
            <a:pPr algn="ctr"/>
            <a:r>
              <a:rPr lang="en-US" altLang="zh-CN" b="1" dirty="0"/>
              <a:t>Page 2</a:t>
            </a:r>
            <a:endParaRPr lang="zh-CN" altLang="en-US" b="1" dirty="0"/>
          </a:p>
        </p:txBody>
      </p:sp>
      <p:pic>
        <p:nvPicPr>
          <p:cNvPr id="2050" name="Picture 2">
            <a:extLst>
              <a:ext uri="{FF2B5EF4-FFF2-40B4-BE49-F238E27FC236}">
                <a16:creationId xmlns:a16="http://schemas.microsoft.com/office/drawing/2014/main" id="{979741EC-4BC1-F324-C76A-7B4ADA0C8AC4}"/>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272901" y="979377"/>
            <a:ext cx="5758688" cy="2159508"/>
          </a:xfrm>
          <a:prstGeom prst="rect">
            <a:avLst/>
          </a:prstGeom>
          <a:noFill/>
          <a:extLst>
            <a:ext uri="{909E8E84-426E-40DD-AFC4-6F175D3DCCD1}">
              <a14:hiddenFill xmlns:a14="http://schemas.microsoft.com/office/drawing/2010/main">
                <a:solidFill>
                  <a:srgbClr val="FFFFFF"/>
                </a:solidFill>
              </a14:hiddenFill>
            </a:ext>
          </a:extLst>
        </p:spPr>
      </p:pic>
      <p:pic>
        <p:nvPicPr>
          <p:cNvPr id="11" name="图片 10">
            <a:extLst>
              <a:ext uri="{FF2B5EF4-FFF2-40B4-BE49-F238E27FC236}">
                <a16:creationId xmlns:a16="http://schemas.microsoft.com/office/drawing/2014/main" id="{9315BDB9-46E5-AAED-9DC4-D27479BD8665}"/>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5272901" y="3252559"/>
            <a:ext cx="2813695" cy="2159508"/>
          </a:xfrm>
          <a:prstGeom prst="rect">
            <a:avLst/>
          </a:prstGeom>
        </p:spPr>
      </p:pic>
      <p:sp>
        <p:nvSpPr>
          <p:cNvPr id="12" name="文本框 11">
            <a:extLst>
              <a:ext uri="{FF2B5EF4-FFF2-40B4-BE49-F238E27FC236}">
                <a16:creationId xmlns:a16="http://schemas.microsoft.com/office/drawing/2014/main" id="{63B76304-815E-0558-7D8A-40CFE44E8F7B}"/>
              </a:ext>
            </a:extLst>
          </p:cNvPr>
          <p:cNvSpPr txBox="1"/>
          <p:nvPr/>
        </p:nvSpPr>
        <p:spPr>
          <a:xfrm>
            <a:off x="5613686" y="5597064"/>
            <a:ext cx="2418723" cy="400110"/>
          </a:xfrm>
          <a:prstGeom prst="rect">
            <a:avLst/>
          </a:prstGeom>
          <a:noFill/>
        </p:spPr>
        <p:txBody>
          <a:bodyPr wrap="square" rtlCol="0">
            <a:spAutoFit/>
          </a:bodyPr>
          <a:lstStyle/>
          <a:p>
            <a:r>
              <a:rPr lang="en-US" altLang="zh-CN" sz="2000" i="1" dirty="0">
                <a:latin typeface="Times New Roman" panose="02020603050405020304" pitchFamily="18" charset="0"/>
                <a:cs typeface="Times New Roman" panose="02020603050405020304" pitchFamily="18" charset="0"/>
              </a:rPr>
              <a:t>200000lines of data </a:t>
            </a:r>
            <a:endParaRPr lang="zh-CN" altLang="en-US" sz="2000" i="1" dirty="0">
              <a:latin typeface="Times New Roman" panose="02020603050405020304" pitchFamily="18" charset="0"/>
              <a:cs typeface="Times New Roman" panose="02020603050405020304" pitchFamily="18" charset="0"/>
            </a:endParaRPr>
          </a:p>
        </p:txBody>
      </p:sp>
      <p:pic>
        <p:nvPicPr>
          <p:cNvPr id="14" name="图片 13">
            <a:extLst>
              <a:ext uri="{FF2B5EF4-FFF2-40B4-BE49-F238E27FC236}">
                <a16:creationId xmlns:a16="http://schemas.microsoft.com/office/drawing/2014/main" id="{0AD7A959-6224-3394-8828-D5499C4F59C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110549" y="3268652"/>
            <a:ext cx="3657495" cy="2159508"/>
          </a:xfrm>
          <a:prstGeom prst="rect">
            <a:avLst/>
          </a:prstGeom>
        </p:spPr>
      </p:pic>
      <p:sp>
        <p:nvSpPr>
          <p:cNvPr id="15" name="箭头: 右 14">
            <a:extLst>
              <a:ext uri="{FF2B5EF4-FFF2-40B4-BE49-F238E27FC236}">
                <a16:creationId xmlns:a16="http://schemas.microsoft.com/office/drawing/2014/main" id="{813571C2-8643-D9EA-1E02-9791D89403A6}"/>
              </a:ext>
            </a:extLst>
          </p:cNvPr>
          <p:cNvSpPr/>
          <p:nvPr/>
        </p:nvSpPr>
        <p:spPr>
          <a:xfrm>
            <a:off x="8182648" y="4217360"/>
            <a:ext cx="915631" cy="484632"/>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n w="0"/>
                <a:solidFill>
                  <a:schemeClr val="tx1"/>
                </a:solidFill>
                <a:effectLst>
                  <a:outerShdw blurRad="38100" dist="19050" dir="2700000" algn="tl" rotWithShape="0">
                    <a:schemeClr val="dk1">
                      <a:alpha val="40000"/>
                    </a:schemeClr>
                  </a:outerShdw>
                </a:effectLst>
              </a:rPr>
              <a:t>goal</a:t>
            </a: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18" name="文本框 17">
            <a:extLst>
              <a:ext uri="{FF2B5EF4-FFF2-40B4-BE49-F238E27FC236}">
                <a16:creationId xmlns:a16="http://schemas.microsoft.com/office/drawing/2014/main" id="{4766ABF4-3D37-1C22-65F4-E3D48BE85459}"/>
              </a:ext>
            </a:extLst>
          </p:cNvPr>
          <p:cNvSpPr txBox="1"/>
          <p:nvPr/>
        </p:nvSpPr>
        <p:spPr>
          <a:xfrm>
            <a:off x="9895460" y="5566286"/>
            <a:ext cx="6413382" cy="400110"/>
          </a:xfrm>
          <a:prstGeom prst="rect">
            <a:avLst/>
          </a:prstGeom>
          <a:noFill/>
        </p:spPr>
        <p:txBody>
          <a:bodyPr wrap="square">
            <a:spAutoFit/>
          </a:bodyPr>
          <a:lstStyle/>
          <a:p>
            <a:r>
              <a:rPr lang="en-US" altLang="zh-CN" sz="2000" i="1" dirty="0">
                <a:latin typeface="Times New Roman" panose="02020603050405020304" pitchFamily="18" charset="0"/>
                <a:cs typeface="Times New Roman" panose="02020603050405020304" pitchFamily="18" charset="0"/>
              </a:rPr>
              <a:t>Visual website</a:t>
            </a:r>
            <a:endParaRPr lang="zh-CN" altLang="en-US" sz="2000" i="1" dirty="0">
              <a:latin typeface="Times New Roman" panose="02020603050405020304" pitchFamily="18" charset="0"/>
              <a:cs typeface="Times New Roman" panose="02020603050405020304" pitchFamily="18" charset="0"/>
            </a:endParaRPr>
          </a:p>
        </p:txBody>
      </p:sp>
      <p:pic>
        <p:nvPicPr>
          <p:cNvPr id="19" name="图片 18">
            <a:extLst>
              <a:ext uri="{FF2B5EF4-FFF2-40B4-BE49-F238E27FC236}">
                <a16:creationId xmlns:a16="http://schemas.microsoft.com/office/drawing/2014/main" id="{84850416-0FFE-7975-1841-33C35D84A7C0}"/>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8563727" y="91708"/>
            <a:ext cx="3326474" cy="822785"/>
          </a:xfrm>
          <a:prstGeom prst="rect">
            <a:avLst/>
          </a:prstGeom>
        </p:spPr>
      </p:pic>
    </p:spTree>
    <p:extLst>
      <p:ext uri="{BB962C8B-B14F-4D97-AF65-F5344CB8AC3E}">
        <p14:creationId xmlns:p14="http://schemas.microsoft.com/office/powerpoint/2010/main" val="3726544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单圆角 1">
            <a:extLst>
              <a:ext uri="{FF2B5EF4-FFF2-40B4-BE49-F238E27FC236}">
                <a16:creationId xmlns:a16="http://schemas.microsoft.com/office/drawing/2014/main" id="{229AAD13-B38E-AC65-BD4F-724CEF5506F9}"/>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E608BE9D-75CF-A628-B9B8-D873EE25E327}"/>
              </a:ext>
            </a:extLst>
          </p:cNvPr>
          <p:cNvSpPr txBox="1"/>
          <p:nvPr/>
        </p:nvSpPr>
        <p:spPr>
          <a:xfrm>
            <a:off x="9321800" y="6359979"/>
            <a:ext cx="2208893" cy="369332"/>
          </a:xfrm>
          <a:prstGeom prst="rect">
            <a:avLst/>
          </a:prstGeom>
          <a:noFill/>
        </p:spPr>
        <p:txBody>
          <a:bodyPr wrap="square" rtlCol="0">
            <a:spAutoFit/>
          </a:bodyPr>
          <a:lstStyle/>
          <a:p>
            <a:r>
              <a:rPr lang="en-US" altLang="zh-CN" dirty="0"/>
              <a:t>Final Project Report</a:t>
            </a:r>
            <a:endParaRPr lang="zh-CN" altLang="en-US" dirty="0"/>
          </a:p>
        </p:txBody>
      </p:sp>
      <p:sp>
        <p:nvSpPr>
          <p:cNvPr id="4" name="文本框 3">
            <a:extLst>
              <a:ext uri="{FF2B5EF4-FFF2-40B4-BE49-F238E27FC236}">
                <a16:creationId xmlns:a16="http://schemas.microsoft.com/office/drawing/2014/main" id="{A18B31D3-87D3-E870-0560-12A429A56189}"/>
              </a:ext>
            </a:extLst>
          </p:cNvPr>
          <p:cNvSpPr txBox="1"/>
          <p:nvPr/>
        </p:nvSpPr>
        <p:spPr>
          <a:xfrm>
            <a:off x="240846" y="6359979"/>
            <a:ext cx="2917372"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Main Content of the Project</a:t>
            </a:r>
            <a:endParaRPr lang="zh-CN" altLang="en-US" dirty="0">
              <a:effectLst>
                <a:outerShdw blurRad="38100" dist="38100" dir="2700000" algn="tl">
                  <a:srgbClr val="000000">
                    <a:alpha val="43137"/>
                  </a:srgbClr>
                </a:outerShdw>
              </a:effectLst>
            </a:endParaRPr>
          </a:p>
        </p:txBody>
      </p:sp>
      <p:sp>
        <p:nvSpPr>
          <p:cNvPr id="5" name="矩形: 圆顶角 4">
            <a:extLst>
              <a:ext uri="{FF2B5EF4-FFF2-40B4-BE49-F238E27FC236}">
                <a16:creationId xmlns:a16="http://schemas.microsoft.com/office/drawing/2014/main" id="{AD99B6CE-6BB1-55DD-B969-E3E54DF2C9B1}"/>
              </a:ext>
            </a:extLst>
          </p:cNvPr>
          <p:cNvSpPr/>
          <p:nvPr/>
        </p:nvSpPr>
        <p:spPr>
          <a:xfrm rot="10800000">
            <a:off x="416966" y="17270"/>
            <a:ext cx="3613708"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7E8FEBEE-E077-FEF3-1896-DF2580AFD38C}"/>
              </a:ext>
            </a:extLst>
          </p:cNvPr>
          <p:cNvSpPr txBox="1"/>
          <p:nvPr/>
        </p:nvSpPr>
        <p:spPr>
          <a:xfrm>
            <a:off x="640079" y="22206"/>
            <a:ext cx="3167482" cy="584775"/>
          </a:xfrm>
          <a:prstGeom prst="rect">
            <a:avLst/>
          </a:prstGeom>
          <a:noFill/>
        </p:spPr>
        <p:txBody>
          <a:bodyPr wrap="square" rtlCol="0">
            <a:spAutoFit/>
          </a:bodyPr>
          <a:lstStyle/>
          <a:p>
            <a:pPr algn="ctr"/>
            <a:r>
              <a:rPr lang="en-US" altLang="zh-CN" sz="3200" b="1" dirty="0">
                <a:latin typeface="Times New Roman" panose="02020603050405020304" pitchFamily="18" charset="0"/>
                <a:cs typeface="Times New Roman" panose="02020603050405020304" pitchFamily="18" charset="0"/>
              </a:rPr>
              <a:t>Main Content</a:t>
            </a:r>
            <a:endParaRPr lang="zh-CN" altLang="en-US" sz="2000" b="1" dirty="0"/>
          </a:p>
        </p:txBody>
      </p:sp>
      <p:sp>
        <p:nvSpPr>
          <p:cNvPr id="7" name="矩形: 单圆角 6">
            <a:extLst>
              <a:ext uri="{FF2B5EF4-FFF2-40B4-BE49-F238E27FC236}">
                <a16:creationId xmlns:a16="http://schemas.microsoft.com/office/drawing/2014/main" id="{1A192DD2-0584-BD6A-EA32-6EE579909587}"/>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DB4E5E76-54AA-DF2E-509D-605A6EEAF1D6}"/>
              </a:ext>
            </a:extLst>
          </p:cNvPr>
          <p:cNvSpPr txBox="1"/>
          <p:nvPr/>
        </p:nvSpPr>
        <p:spPr>
          <a:xfrm>
            <a:off x="9321800" y="6359979"/>
            <a:ext cx="2208893" cy="369332"/>
          </a:xfrm>
          <a:prstGeom prst="rect">
            <a:avLst/>
          </a:prstGeom>
          <a:noFill/>
        </p:spPr>
        <p:txBody>
          <a:bodyPr wrap="square" rtlCol="0">
            <a:spAutoFit/>
          </a:bodyPr>
          <a:lstStyle/>
          <a:p>
            <a:r>
              <a:rPr lang="en-US" altLang="zh-CN" dirty="0"/>
              <a:t>Final Project Report</a:t>
            </a:r>
            <a:endParaRPr lang="zh-CN" altLang="en-US" dirty="0"/>
          </a:p>
        </p:txBody>
      </p:sp>
      <p:sp>
        <p:nvSpPr>
          <p:cNvPr id="9" name="文本框 8">
            <a:extLst>
              <a:ext uri="{FF2B5EF4-FFF2-40B4-BE49-F238E27FC236}">
                <a16:creationId xmlns:a16="http://schemas.microsoft.com/office/drawing/2014/main" id="{214F7A67-9CFF-AC18-C5E1-5FCB5C5FE674}"/>
              </a:ext>
            </a:extLst>
          </p:cNvPr>
          <p:cNvSpPr txBox="1"/>
          <p:nvPr/>
        </p:nvSpPr>
        <p:spPr>
          <a:xfrm>
            <a:off x="240846" y="6359979"/>
            <a:ext cx="2917372"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Methodology &amp; Pipeline</a:t>
            </a:r>
            <a:endParaRPr lang="zh-CN" altLang="en-US" dirty="0">
              <a:effectLst>
                <a:outerShdw blurRad="38100" dist="38100" dir="2700000" algn="tl">
                  <a:srgbClr val="000000">
                    <a:alpha val="43137"/>
                  </a:srgbClr>
                </a:outerShdw>
              </a:effectLst>
            </a:endParaRPr>
          </a:p>
        </p:txBody>
      </p:sp>
      <p:sp>
        <p:nvSpPr>
          <p:cNvPr id="10" name="矩形: 圆顶角 9">
            <a:extLst>
              <a:ext uri="{FF2B5EF4-FFF2-40B4-BE49-F238E27FC236}">
                <a16:creationId xmlns:a16="http://schemas.microsoft.com/office/drawing/2014/main" id="{3A36B228-B915-0301-B5C5-DF09EF8584AF}"/>
              </a:ext>
            </a:extLst>
          </p:cNvPr>
          <p:cNvSpPr/>
          <p:nvPr/>
        </p:nvSpPr>
        <p:spPr>
          <a:xfrm rot="10800000">
            <a:off x="416966" y="17270"/>
            <a:ext cx="4802734"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B46E3DA4-4F58-AF39-D204-706B2B1CB8F5}"/>
              </a:ext>
            </a:extLst>
          </p:cNvPr>
          <p:cNvSpPr txBox="1"/>
          <p:nvPr/>
        </p:nvSpPr>
        <p:spPr>
          <a:xfrm>
            <a:off x="596900" y="22206"/>
            <a:ext cx="4445000" cy="584775"/>
          </a:xfrm>
          <a:prstGeom prst="rect">
            <a:avLst/>
          </a:prstGeom>
          <a:noFill/>
        </p:spPr>
        <p:txBody>
          <a:bodyPr wrap="square" rtlCol="0">
            <a:spAutoFit/>
          </a:bodyPr>
          <a:lstStyle/>
          <a:p>
            <a:pPr algn="ctr"/>
            <a:r>
              <a:rPr lang="en-US" altLang="zh-CN" sz="3200" b="1" dirty="0">
                <a:latin typeface="High Tower Text" panose="02040502050506030303" pitchFamily="18" charset="0"/>
                <a:cs typeface="Times New Roman" panose="02020603050405020304" pitchFamily="18" charset="0"/>
              </a:rPr>
              <a:t>Methodology &amp; Pipeline</a:t>
            </a:r>
            <a:endParaRPr lang="zh-CN" altLang="en-US" sz="2000" b="1" dirty="0">
              <a:latin typeface="High Tower Text" panose="02040502050506030303" pitchFamily="18" charset="0"/>
            </a:endParaRPr>
          </a:p>
        </p:txBody>
      </p:sp>
      <p:sp>
        <p:nvSpPr>
          <p:cNvPr id="13" name="文本框 12">
            <a:extLst>
              <a:ext uri="{FF2B5EF4-FFF2-40B4-BE49-F238E27FC236}">
                <a16:creationId xmlns:a16="http://schemas.microsoft.com/office/drawing/2014/main" id="{EEB46436-EC39-F93E-64E6-2DD3CA409668}"/>
              </a:ext>
            </a:extLst>
          </p:cNvPr>
          <p:cNvSpPr txBox="1"/>
          <p:nvPr/>
        </p:nvSpPr>
        <p:spPr>
          <a:xfrm>
            <a:off x="596900" y="1060287"/>
            <a:ext cx="10399833" cy="3062377"/>
          </a:xfrm>
          <a:prstGeom prst="rect">
            <a:avLst/>
          </a:prstGeom>
          <a:noFill/>
        </p:spPr>
        <p:txBody>
          <a:bodyPr wrap="square" rtlCol="0">
            <a:spAutoFit/>
          </a:bodyPr>
          <a:lstStyle/>
          <a:p>
            <a:pPr>
              <a:spcAft>
                <a:spcPts val="600"/>
              </a:spcAft>
            </a:pPr>
            <a:r>
              <a:rPr lang="en-US" altLang="zh-CN" sz="2400" b="1" dirty="0">
                <a:solidFill>
                  <a:srgbClr val="030A18"/>
                </a:solidFill>
                <a:latin typeface="Times New Roman" panose="02020603050405020304" pitchFamily="18" charset="0"/>
                <a:cs typeface="Times New Roman" panose="02020603050405020304" pitchFamily="18" charset="0"/>
              </a:rPr>
              <a:t>EDA: </a:t>
            </a:r>
            <a:r>
              <a:rPr lang="en-US" altLang="zh-CN" sz="2400" dirty="0">
                <a:solidFill>
                  <a:srgbClr val="030A18"/>
                </a:solidFill>
                <a:latin typeface="Times New Roman" panose="02020603050405020304" pitchFamily="18" charset="0"/>
                <a:cs typeface="Times New Roman" panose="02020603050405020304" pitchFamily="18" charset="0"/>
              </a:rPr>
              <a:t>explore distributions and temporal trends</a:t>
            </a:r>
            <a:endParaRPr lang="en-US" altLang="zh-CN" sz="2400" dirty="0">
              <a:latin typeface="Times New Roman" panose="02020603050405020304" pitchFamily="18" charset="0"/>
              <a:cs typeface="Times New Roman" panose="02020603050405020304" pitchFamily="18" charset="0"/>
            </a:endParaRPr>
          </a:p>
          <a:p>
            <a:pPr>
              <a:spcAft>
                <a:spcPts val="600"/>
              </a:spcAft>
            </a:pPr>
            <a:r>
              <a:rPr lang="en-US" altLang="zh-CN" sz="2400" b="1" dirty="0">
                <a:solidFill>
                  <a:srgbClr val="030A18"/>
                </a:solidFill>
                <a:latin typeface="Times New Roman" panose="02020603050405020304" pitchFamily="18" charset="0"/>
                <a:cs typeface="Times New Roman" panose="02020603050405020304" pitchFamily="18" charset="0"/>
              </a:rPr>
              <a:t>Feature engineering: </a:t>
            </a:r>
            <a:r>
              <a:rPr lang="en-US" altLang="zh-CN" sz="2400" dirty="0">
                <a:solidFill>
                  <a:srgbClr val="030A18"/>
                </a:solidFill>
                <a:latin typeface="Times New Roman" panose="02020603050405020304" pitchFamily="18" charset="0"/>
                <a:cs typeface="Times New Roman" panose="02020603050405020304" pitchFamily="18" charset="0"/>
              </a:rPr>
              <a:t>encode categorical, normalize continuous variables</a:t>
            </a:r>
            <a:endParaRPr lang="en-US" altLang="zh-CN" sz="2400" dirty="0">
              <a:latin typeface="Times New Roman" panose="02020603050405020304" pitchFamily="18" charset="0"/>
              <a:cs typeface="Times New Roman" panose="02020603050405020304" pitchFamily="18" charset="0"/>
            </a:endParaRPr>
          </a:p>
          <a:p>
            <a:pPr>
              <a:spcAft>
                <a:spcPts val="600"/>
              </a:spcAft>
            </a:pPr>
            <a:r>
              <a:rPr lang="en-US" altLang="zh-CN" sz="2400" b="1" dirty="0">
                <a:solidFill>
                  <a:srgbClr val="030A18"/>
                </a:solidFill>
                <a:latin typeface="Times New Roman" panose="02020603050405020304" pitchFamily="18" charset="0"/>
                <a:cs typeface="Times New Roman" panose="02020603050405020304" pitchFamily="18" charset="0"/>
              </a:rPr>
              <a:t>Regression: </a:t>
            </a:r>
            <a:r>
              <a:rPr lang="en-US" altLang="zh-CN" sz="2400" dirty="0">
                <a:solidFill>
                  <a:srgbClr val="030A18"/>
                </a:solidFill>
                <a:latin typeface="Times New Roman" panose="02020603050405020304" pitchFamily="18" charset="0"/>
                <a:cs typeface="Times New Roman" panose="02020603050405020304" pitchFamily="18" charset="0"/>
              </a:rPr>
              <a:t>histogram‑based gradient boosting to estimate interest rate</a:t>
            </a:r>
            <a:endParaRPr lang="en-US" altLang="zh-CN" sz="2400" dirty="0">
              <a:latin typeface="Times New Roman" panose="02020603050405020304" pitchFamily="18" charset="0"/>
              <a:cs typeface="Times New Roman" panose="02020603050405020304" pitchFamily="18" charset="0"/>
            </a:endParaRPr>
          </a:p>
          <a:p>
            <a:pPr>
              <a:spcAft>
                <a:spcPts val="600"/>
              </a:spcAft>
            </a:pPr>
            <a:r>
              <a:rPr lang="en-US" altLang="zh-CN" sz="2400" b="1" dirty="0">
                <a:solidFill>
                  <a:srgbClr val="030A18"/>
                </a:solidFill>
                <a:latin typeface="Times New Roman" panose="02020603050405020304" pitchFamily="18" charset="0"/>
                <a:cs typeface="Times New Roman" panose="02020603050405020304" pitchFamily="18" charset="0"/>
              </a:rPr>
              <a:t>Classification: </a:t>
            </a:r>
            <a:r>
              <a:rPr lang="en-US" altLang="zh-CN" sz="2400" dirty="0">
                <a:solidFill>
                  <a:srgbClr val="030A18"/>
                </a:solidFill>
                <a:latin typeface="Times New Roman" panose="02020603050405020304" pitchFamily="18" charset="0"/>
                <a:cs typeface="Times New Roman" panose="02020603050405020304" pitchFamily="18" charset="0"/>
              </a:rPr>
              <a:t>histogram‑based classifier to predict credit grade</a:t>
            </a:r>
            <a:endParaRPr lang="en-US" altLang="zh-CN" sz="2400" dirty="0">
              <a:latin typeface="Times New Roman" panose="02020603050405020304" pitchFamily="18" charset="0"/>
              <a:cs typeface="Times New Roman" panose="02020603050405020304" pitchFamily="18" charset="0"/>
            </a:endParaRPr>
          </a:p>
          <a:p>
            <a:pPr>
              <a:spcAft>
                <a:spcPts val="600"/>
              </a:spcAft>
            </a:pPr>
            <a:r>
              <a:rPr lang="en-US" altLang="zh-CN" sz="2400" b="1" dirty="0">
                <a:solidFill>
                  <a:srgbClr val="030A18"/>
                </a:solidFill>
                <a:latin typeface="Times New Roman" panose="02020603050405020304" pitchFamily="18" charset="0"/>
                <a:cs typeface="Times New Roman" panose="02020603050405020304" pitchFamily="18" charset="0"/>
              </a:rPr>
              <a:t>Clustering: </a:t>
            </a:r>
            <a:r>
              <a:rPr lang="en-US" altLang="zh-CN" sz="2400" dirty="0">
                <a:solidFill>
                  <a:srgbClr val="030A18"/>
                </a:solidFill>
                <a:latin typeface="Times New Roman" panose="02020603050405020304" pitchFamily="18" charset="0"/>
                <a:cs typeface="Times New Roman" panose="02020603050405020304" pitchFamily="18" charset="0"/>
              </a:rPr>
              <a:t>k‑means (PCA) to uncover customer segments</a:t>
            </a:r>
          </a:p>
          <a:p>
            <a:pPr>
              <a:spcAft>
                <a:spcPts val="600"/>
              </a:spcAft>
            </a:pPr>
            <a:r>
              <a:rPr lang="en-US" altLang="zh-CN" sz="2400" b="1" dirty="0"/>
              <a:t>Reporting &amp; Web App:</a:t>
            </a:r>
            <a:r>
              <a:rPr lang="en-US" altLang="zh-CN" sz="2400" dirty="0"/>
              <a:t> automatically generate visual reports and an interactive risk dashboard</a:t>
            </a:r>
            <a:endParaRPr lang="en-US" altLang="zh-CN" sz="2400" dirty="0">
              <a:latin typeface="Times New Roman" panose="02020603050405020304" pitchFamily="18" charset="0"/>
              <a:cs typeface="Times New Roman" panose="02020603050405020304" pitchFamily="18" charset="0"/>
            </a:endParaRPr>
          </a:p>
        </p:txBody>
      </p:sp>
      <p:sp>
        <p:nvSpPr>
          <p:cNvPr id="15" name="Shape 2">
            <a:extLst>
              <a:ext uri="{FF2B5EF4-FFF2-40B4-BE49-F238E27FC236}">
                <a16:creationId xmlns:a16="http://schemas.microsoft.com/office/drawing/2014/main" id="{7555C18B-B8F6-A729-1EC7-8C1A65F4EEEB}"/>
              </a:ext>
            </a:extLst>
          </p:cNvPr>
          <p:cNvSpPr/>
          <p:nvPr/>
        </p:nvSpPr>
        <p:spPr>
          <a:xfrm>
            <a:off x="240846" y="4299248"/>
            <a:ext cx="1406994" cy="1296436"/>
          </a:xfrm>
          <a:prstGeom prst="roundRect">
            <a:avLst>
              <a:gd name="adj" fmla="val 12500"/>
            </a:avLst>
          </a:prstGeom>
          <a:solidFill>
            <a:srgbClr val="F5F5F5"/>
          </a:solidFill>
          <a:ln w="12700">
            <a:solidFill>
              <a:srgbClr val="97B1DF"/>
            </a:solidFill>
            <a:prstDash val="solid"/>
          </a:ln>
        </p:spPr>
        <p:txBody>
          <a:bodyPr/>
          <a:lstStyle/>
          <a:p>
            <a:endParaRPr dirty="0"/>
          </a:p>
        </p:txBody>
      </p:sp>
      <p:sp>
        <p:nvSpPr>
          <p:cNvPr id="16" name="Text 3">
            <a:extLst>
              <a:ext uri="{FF2B5EF4-FFF2-40B4-BE49-F238E27FC236}">
                <a16:creationId xmlns:a16="http://schemas.microsoft.com/office/drawing/2014/main" id="{A174D67F-8A39-D705-3E06-F73CDAB72670}"/>
              </a:ext>
            </a:extLst>
          </p:cNvPr>
          <p:cNvSpPr/>
          <p:nvPr/>
        </p:nvSpPr>
        <p:spPr>
          <a:xfrm>
            <a:off x="240846" y="4596665"/>
            <a:ext cx="1406994" cy="648219"/>
          </a:xfrm>
          <a:prstGeom prst="rect">
            <a:avLst/>
          </a:prstGeom>
          <a:noFill/>
          <a:ln/>
        </p:spPr>
        <p:txBody>
          <a:bodyPr wrap="square" rtlCol="0" anchor="ctr"/>
          <a:lstStyle/>
          <a:p>
            <a:pPr marL="0" indent="0" algn="ctr">
              <a:buNone/>
            </a:pPr>
            <a:r>
              <a:rPr lang="en-US" sz="2000" dirty="0">
                <a:solidFill>
                  <a:srgbClr val="030A18"/>
                </a:solidFill>
                <a:latin typeface="Eras Demi ITC" panose="020B0805030504020804" pitchFamily="34" charset="0"/>
              </a:rPr>
              <a:t>EDA</a:t>
            </a:r>
            <a:endParaRPr lang="en-US" sz="2000" dirty="0">
              <a:latin typeface="Eras Demi ITC" panose="020B0805030504020804" pitchFamily="34" charset="0"/>
            </a:endParaRPr>
          </a:p>
        </p:txBody>
      </p:sp>
      <p:sp>
        <p:nvSpPr>
          <p:cNvPr id="18" name="Shape 5">
            <a:extLst>
              <a:ext uri="{FF2B5EF4-FFF2-40B4-BE49-F238E27FC236}">
                <a16:creationId xmlns:a16="http://schemas.microsoft.com/office/drawing/2014/main" id="{2F13EE27-126E-858F-811A-A7CA1BC83391}"/>
              </a:ext>
            </a:extLst>
          </p:cNvPr>
          <p:cNvSpPr/>
          <p:nvPr/>
        </p:nvSpPr>
        <p:spPr>
          <a:xfrm>
            <a:off x="2073532" y="4299248"/>
            <a:ext cx="1650315" cy="1296436"/>
          </a:xfrm>
          <a:prstGeom prst="roundRect">
            <a:avLst>
              <a:gd name="adj" fmla="val 12500"/>
            </a:avLst>
          </a:prstGeom>
          <a:solidFill>
            <a:srgbClr val="F5F5F5"/>
          </a:solidFill>
          <a:ln w="12700">
            <a:solidFill>
              <a:srgbClr val="97B1DF"/>
            </a:solidFill>
            <a:prstDash val="solid"/>
          </a:ln>
        </p:spPr>
        <p:txBody>
          <a:bodyPr/>
          <a:lstStyle/>
          <a:p>
            <a:endParaRPr dirty="0"/>
          </a:p>
        </p:txBody>
      </p:sp>
      <p:sp>
        <p:nvSpPr>
          <p:cNvPr id="19" name="Text 6">
            <a:extLst>
              <a:ext uri="{FF2B5EF4-FFF2-40B4-BE49-F238E27FC236}">
                <a16:creationId xmlns:a16="http://schemas.microsoft.com/office/drawing/2014/main" id="{4B41C6D2-D9E8-E09D-DEFF-858369746738}"/>
              </a:ext>
            </a:extLst>
          </p:cNvPr>
          <p:cNvSpPr/>
          <p:nvPr/>
        </p:nvSpPr>
        <p:spPr>
          <a:xfrm>
            <a:off x="2311141" y="4769631"/>
            <a:ext cx="1228835" cy="330900"/>
          </a:xfrm>
          <a:prstGeom prst="rect">
            <a:avLst/>
          </a:prstGeom>
          <a:noFill/>
          <a:ln/>
        </p:spPr>
        <p:txBody>
          <a:bodyPr wrap="square" rtlCol="0" anchor="ctr"/>
          <a:lstStyle/>
          <a:p>
            <a:pPr marL="0" indent="0" algn="ctr">
              <a:buNone/>
            </a:pPr>
            <a:r>
              <a:rPr lang="en-US" sz="2000" dirty="0">
                <a:solidFill>
                  <a:srgbClr val="030A18"/>
                </a:solidFill>
                <a:latin typeface="Eras Demi ITC" panose="020B0805030504020804" pitchFamily="34" charset="0"/>
              </a:rPr>
              <a:t>Features</a:t>
            </a:r>
            <a:endParaRPr lang="en-US" sz="2000" dirty="0">
              <a:latin typeface="Eras Demi ITC" panose="020B0805030504020804" pitchFamily="34" charset="0"/>
            </a:endParaRPr>
          </a:p>
        </p:txBody>
      </p:sp>
      <p:sp>
        <p:nvSpPr>
          <p:cNvPr id="21" name="Shape 8">
            <a:extLst>
              <a:ext uri="{FF2B5EF4-FFF2-40B4-BE49-F238E27FC236}">
                <a16:creationId xmlns:a16="http://schemas.microsoft.com/office/drawing/2014/main" id="{9718C18A-752C-1C9D-7DC2-C56CA8081C0F}"/>
              </a:ext>
            </a:extLst>
          </p:cNvPr>
          <p:cNvSpPr/>
          <p:nvPr/>
        </p:nvSpPr>
        <p:spPr>
          <a:xfrm>
            <a:off x="4173648" y="4299248"/>
            <a:ext cx="1650315" cy="1296436"/>
          </a:xfrm>
          <a:prstGeom prst="roundRect">
            <a:avLst>
              <a:gd name="adj" fmla="val 12500"/>
            </a:avLst>
          </a:prstGeom>
          <a:solidFill>
            <a:srgbClr val="F5F5F5"/>
          </a:solidFill>
          <a:ln w="12700">
            <a:solidFill>
              <a:srgbClr val="97B1DF"/>
            </a:solidFill>
            <a:prstDash val="solid"/>
          </a:ln>
        </p:spPr>
        <p:txBody>
          <a:bodyPr/>
          <a:lstStyle/>
          <a:p>
            <a:endParaRPr dirty="0"/>
          </a:p>
        </p:txBody>
      </p:sp>
      <p:sp>
        <p:nvSpPr>
          <p:cNvPr id="22" name="Text 9">
            <a:extLst>
              <a:ext uri="{FF2B5EF4-FFF2-40B4-BE49-F238E27FC236}">
                <a16:creationId xmlns:a16="http://schemas.microsoft.com/office/drawing/2014/main" id="{8FC74A4D-96DC-C9F0-9797-5AFCA7407362}"/>
              </a:ext>
            </a:extLst>
          </p:cNvPr>
          <p:cNvSpPr/>
          <p:nvPr/>
        </p:nvSpPr>
        <p:spPr>
          <a:xfrm>
            <a:off x="4310835" y="4760158"/>
            <a:ext cx="1380312" cy="321458"/>
          </a:xfrm>
          <a:prstGeom prst="rect">
            <a:avLst/>
          </a:prstGeom>
          <a:noFill/>
          <a:ln/>
        </p:spPr>
        <p:txBody>
          <a:bodyPr wrap="square" rtlCol="0" anchor="ctr"/>
          <a:lstStyle/>
          <a:p>
            <a:pPr marL="0" indent="0" algn="ctr">
              <a:buNone/>
            </a:pPr>
            <a:r>
              <a:rPr lang="en-US" dirty="0">
                <a:solidFill>
                  <a:srgbClr val="030A18"/>
                </a:solidFill>
                <a:latin typeface="Eras Demi ITC" panose="020B0805030504020804" pitchFamily="34" charset="0"/>
              </a:rPr>
              <a:t>Regression</a:t>
            </a:r>
            <a:endParaRPr lang="en-US" dirty="0">
              <a:latin typeface="Eras Demi ITC" panose="020B0805030504020804" pitchFamily="34" charset="0"/>
            </a:endParaRPr>
          </a:p>
        </p:txBody>
      </p:sp>
      <p:sp>
        <p:nvSpPr>
          <p:cNvPr id="24" name="Shape 11">
            <a:extLst>
              <a:ext uri="{FF2B5EF4-FFF2-40B4-BE49-F238E27FC236}">
                <a16:creationId xmlns:a16="http://schemas.microsoft.com/office/drawing/2014/main" id="{713B1561-C17D-DED5-EFB9-753CA0206345}"/>
              </a:ext>
            </a:extLst>
          </p:cNvPr>
          <p:cNvSpPr/>
          <p:nvPr/>
        </p:nvSpPr>
        <p:spPr>
          <a:xfrm>
            <a:off x="6270814" y="4299248"/>
            <a:ext cx="1650314" cy="1301630"/>
          </a:xfrm>
          <a:prstGeom prst="roundRect">
            <a:avLst>
              <a:gd name="adj" fmla="val 12500"/>
            </a:avLst>
          </a:prstGeom>
          <a:solidFill>
            <a:srgbClr val="F5F5F5"/>
          </a:solidFill>
          <a:ln w="12700">
            <a:solidFill>
              <a:srgbClr val="97B1DF"/>
            </a:solidFill>
            <a:prstDash val="solid"/>
          </a:ln>
        </p:spPr>
        <p:txBody>
          <a:bodyPr/>
          <a:lstStyle/>
          <a:p>
            <a:endParaRPr dirty="0"/>
          </a:p>
        </p:txBody>
      </p:sp>
      <p:sp>
        <p:nvSpPr>
          <p:cNvPr id="25" name="Text 12">
            <a:extLst>
              <a:ext uri="{FF2B5EF4-FFF2-40B4-BE49-F238E27FC236}">
                <a16:creationId xmlns:a16="http://schemas.microsoft.com/office/drawing/2014/main" id="{E967EA56-30B2-DF26-9B91-9D50A923185F}"/>
              </a:ext>
            </a:extLst>
          </p:cNvPr>
          <p:cNvSpPr/>
          <p:nvPr/>
        </p:nvSpPr>
        <p:spPr>
          <a:xfrm>
            <a:off x="6236294" y="4752554"/>
            <a:ext cx="1825412" cy="353212"/>
          </a:xfrm>
          <a:prstGeom prst="rect">
            <a:avLst/>
          </a:prstGeom>
          <a:noFill/>
          <a:ln/>
        </p:spPr>
        <p:txBody>
          <a:bodyPr wrap="square" rtlCol="0" anchor="ctr"/>
          <a:lstStyle/>
          <a:p>
            <a:pPr marL="0" indent="0" algn="ctr">
              <a:buNone/>
            </a:pPr>
            <a:r>
              <a:rPr lang="en-US" dirty="0">
                <a:solidFill>
                  <a:srgbClr val="030A18"/>
                </a:solidFill>
                <a:latin typeface="Eras Demi ITC" panose="020B0805030504020804" pitchFamily="34" charset="0"/>
              </a:rPr>
              <a:t>Classification</a:t>
            </a:r>
            <a:endParaRPr lang="en-US" dirty="0">
              <a:latin typeface="Eras Demi ITC" panose="020B0805030504020804" pitchFamily="34" charset="0"/>
            </a:endParaRPr>
          </a:p>
        </p:txBody>
      </p:sp>
      <p:sp>
        <p:nvSpPr>
          <p:cNvPr id="27" name="Shape 14">
            <a:extLst>
              <a:ext uri="{FF2B5EF4-FFF2-40B4-BE49-F238E27FC236}">
                <a16:creationId xmlns:a16="http://schemas.microsoft.com/office/drawing/2014/main" id="{3179C75D-3E6F-EA03-CAC8-0A3D9517DB8B}"/>
              </a:ext>
            </a:extLst>
          </p:cNvPr>
          <p:cNvSpPr/>
          <p:nvPr/>
        </p:nvSpPr>
        <p:spPr>
          <a:xfrm>
            <a:off x="8394543" y="4281738"/>
            <a:ext cx="1650314" cy="1319140"/>
          </a:xfrm>
          <a:prstGeom prst="roundRect">
            <a:avLst>
              <a:gd name="adj" fmla="val 12500"/>
            </a:avLst>
          </a:prstGeom>
          <a:solidFill>
            <a:srgbClr val="F5F5F5"/>
          </a:solidFill>
          <a:ln w="12700">
            <a:solidFill>
              <a:srgbClr val="97B1DF"/>
            </a:solidFill>
            <a:prstDash val="solid"/>
          </a:ln>
        </p:spPr>
        <p:txBody>
          <a:bodyPr/>
          <a:lstStyle/>
          <a:p>
            <a:endParaRPr dirty="0"/>
          </a:p>
        </p:txBody>
      </p:sp>
      <p:sp>
        <p:nvSpPr>
          <p:cNvPr id="28" name="Text 15">
            <a:extLst>
              <a:ext uri="{FF2B5EF4-FFF2-40B4-BE49-F238E27FC236}">
                <a16:creationId xmlns:a16="http://schemas.microsoft.com/office/drawing/2014/main" id="{B9959F4F-6306-98F3-61BB-DF158985851D}"/>
              </a:ext>
            </a:extLst>
          </p:cNvPr>
          <p:cNvSpPr/>
          <p:nvPr/>
        </p:nvSpPr>
        <p:spPr>
          <a:xfrm>
            <a:off x="8341513" y="4776054"/>
            <a:ext cx="1703344" cy="310756"/>
          </a:xfrm>
          <a:prstGeom prst="rect">
            <a:avLst/>
          </a:prstGeom>
          <a:noFill/>
          <a:ln/>
        </p:spPr>
        <p:txBody>
          <a:bodyPr wrap="square" rtlCol="0" anchor="ctr"/>
          <a:lstStyle/>
          <a:p>
            <a:pPr marL="0" indent="0" algn="ctr">
              <a:buNone/>
            </a:pPr>
            <a:r>
              <a:rPr lang="en-US" dirty="0">
                <a:solidFill>
                  <a:srgbClr val="030A18"/>
                </a:solidFill>
                <a:latin typeface="Eras Demi ITC" panose="020B0805030504020804" pitchFamily="34" charset="0"/>
              </a:rPr>
              <a:t>Clustering</a:t>
            </a:r>
            <a:endParaRPr lang="en-US" dirty="0">
              <a:latin typeface="Eras Demi ITC" panose="020B0805030504020804" pitchFamily="34" charset="0"/>
            </a:endParaRPr>
          </a:p>
        </p:txBody>
      </p:sp>
      <p:sp>
        <p:nvSpPr>
          <p:cNvPr id="30" name="Shape 17">
            <a:extLst>
              <a:ext uri="{FF2B5EF4-FFF2-40B4-BE49-F238E27FC236}">
                <a16:creationId xmlns:a16="http://schemas.microsoft.com/office/drawing/2014/main" id="{B453604E-9D1E-5F4D-B182-EE43A14ADE73}"/>
              </a:ext>
            </a:extLst>
          </p:cNvPr>
          <p:cNvSpPr/>
          <p:nvPr/>
        </p:nvSpPr>
        <p:spPr>
          <a:xfrm>
            <a:off x="10435073" y="4281738"/>
            <a:ext cx="1604562" cy="1313946"/>
          </a:xfrm>
          <a:prstGeom prst="roundRect">
            <a:avLst>
              <a:gd name="adj" fmla="val 12500"/>
            </a:avLst>
          </a:prstGeom>
          <a:solidFill>
            <a:srgbClr val="F5F5F5"/>
          </a:solidFill>
          <a:ln w="12700">
            <a:solidFill>
              <a:srgbClr val="97B1DF"/>
            </a:solidFill>
            <a:prstDash val="solid"/>
          </a:ln>
        </p:spPr>
        <p:txBody>
          <a:bodyPr/>
          <a:lstStyle/>
          <a:p>
            <a:endParaRPr dirty="0"/>
          </a:p>
        </p:txBody>
      </p:sp>
      <p:sp>
        <p:nvSpPr>
          <p:cNvPr id="31" name="Text 18">
            <a:extLst>
              <a:ext uri="{FF2B5EF4-FFF2-40B4-BE49-F238E27FC236}">
                <a16:creationId xmlns:a16="http://schemas.microsoft.com/office/drawing/2014/main" id="{2C178DBD-D246-D33B-2500-AC7A20836FDE}"/>
              </a:ext>
            </a:extLst>
          </p:cNvPr>
          <p:cNvSpPr/>
          <p:nvPr/>
        </p:nvSpPr>
        <p:spPr>
          <a:xfrm>
            <a:off x="10699208" y="4716057"/>
            <a:ext cx="1076292" cy="382089"/>
          </a:xfrm>
          <a:prstGeom prst="rect">
            <a:avLst/>
          </a:prstGeom>
          <a:noFill/>
          <a:ln/>
        </p:spPr>
        <p:txBody>
          <a:bodyPr wrap="square" rtlCol="0" anchor="ctr"/>
          <a:lstStyle/>
          <a:p>
            <a:pPr marL="0" indent="0" algn="ctr">
              <a:buNone/>
            </a:pPr>
            <a:r>
              <a:rPr lang="en-US" dirty="0">
                <a:solidFill>
                  <a:srgbClr val="030A18"/>
                </a:solidFill>
                <a:latin typeface="Eras Demi ITC" panose="020B0805030504020804" pitchFamily="34" charset="0"/>
              </a:rPr>
              <a:t>Report</a:t>
            </a:r>
            <a:endParaRPr lang="en-US" dirty="0">
              <a:latin typeface="Eras Demi ITC" panose="020B0805030504020804" pitchFamily="34" charset="0"/>
            </a:endParaRPr>
          </a:p>
        </p:txBody>
      </p:sp>
      <p:sp>
        <p:nvSpPr>
          <p:cNvPr id="12" name="文本框 11">
            <a:extLst>
              <a:ext uri="{FF2B5EF4-FFF2-40B4-BE49-F238E27FC236}">
                <a16:creationId xmlns:a16="http://schemas.microsoft.com/office/drawing/2014/main" id="{01960DCC-6742-2483-C9F2-F6553C16BE28}"/>
              </a:ext>
            </a:extLst>
          </p:cNvPr>
          <p:cNvSpPr txBox="1"/>
          <p:nvPr/>
        </p:nvSpPr>
        <p:spPr>
          <a:xfrm>
            <a:off x="2942924" y="6332815"/>
            <a:ext cx="6155356" cy="369332"/>
          </a:xfrm>
          <a:prstGeom prst="rect">
            <a:avLst/>
          </a:prstGeom>
          <a:noFill/>
        </p:spPr>
        <p:txBody>
          <a:bodyPr wrap="square">
            <a:spAutoFit/>
          </a:bodyPr>
          <a:lstStyle/>
          <a:p>
            <a:pPr algn="ctr"/>
            <a:r>
              <a:rPr lang="en-US" altLang="zh-CN" b="1" dirty="0"/>
              <a:t>Page 3</a:t>
            </a:r>
            <a:endParaRPr lang="zh-CN" altLang="en-US" b="1" dirty="0"/>
          </a:p>
        </p:txBody>
      </p:sp>
      <p:sp>
        <p:nvSpPr>
          <p:cNvPr id="14" name="Shape 4">
            <a:extLst>
              <a:ext uri="{FF2B5EF4-FFF2-40B4-BE49-F238E27FC236}">
                <a16:creationId xmlns:a16="http://schemas.microsoft.com/office/drawing/2014/main" id="{4C60C0C5-7392-2EA5-EE82-31DA50F184E4}"/>
              </a:ext>
            </a:extLst>
          </p:cNvPr>
          <p:cNvSpPr/>
          <p:nvPr/>
        </p:nvSpPr>
        <p:spPr>
          <a:xfrm>
            <a:off x="3726797" y="4830262"/>
            <a:ext cx="566720" cy="267884"/>
          </a:xfrm>
          <a:prstGeom prst="rightArrow">
            <a:avLst/>
          </a:prstGeom>
          <a:solidFill>
            <a:srgbClr val="97B1DF"/>
          </a:solidFill>
          <a:ln w="12700">
            <a:solidFill>
              <a:srgbClr val="97B1DF"/>
            </a:solidFill>
            <a:prstDash val="solid"/>
          </a:ln>
        </p:spPr>
        <p:txBody>
          <a:bodyPr/>
          <a:lstStyle/>
          <a:p>
            <a:endParaRPr dirty="0"/>
          </a:p>
        </p:txBody>
      </p:sp>
      <p:sp>
        <p:nvSpPr>
          <p:cNvPr id="32" name="Shape 4">
            <a:extLst>
              <a:ext uri="{FF2B5EF4-FFF2-40B4-BE49-F238E27FC236}">
                <a16:creationId xmlns:a16="http://schemas.microsoft.com/office/drawing/2014/main" id="{9358A347-1951-8FC9-88B5-481D9BD4981A}"/>
              </a:ext>
            </a:extLst>
          </p:cNvPr>
          <p:cNvSpPr/>
          <p:nvPr/>
        </p:nvSpPr>
        <p:spPr>
          <a:xfrm>
            <a:off x="5837695" y="4798508"/>
            <a:ext cx="566720" cy="267884"/>
          </a:xfrm>
          <a:prstGeom prst="rightArrow">
            <a:avLst/>
          </a:prstGeom>
          <a:solidFill>
            <a:srgbClr val="97B1DF"/>
          </a:solidFill>
          <a:ln w="12700">
            <a:solidFill>
              <a:srgbClr val="97B1DF"/>
            </a:solidFill>
            <a:prstDash val="solid"/>
          </a:ln>
        </p:spPr>
        <p:txBody>
          <a:bodyPr/>
          <a:lstStyle/>
          <a:p>
            <a:endParaRPr dirty="0"/>
          </a:p>
        </p:txBody>
      </p:sp>
      <p:sp>
        <p:nvSpPr>
          <p:cNvPr id="33" name="Shape 4">
            <a:extLst>
              <a:ext uri="{FF2B5EF4-FFF2-40B4-BE49-F238E27FC236}">
                <a16:creationId xmlns:a16="http://schemas.microsoft.com/office/drawing/2014/main" id="{2D4C81DF-23D0-FDB3-A559-C78FF0BC7C85}"/>
              </a:ext>
            </a:extLst>
          </p:cNvPr>
          <p:cNvSpPr/>
          <p:nvPr/>
        </p:nvSpPr>
        <p:spPr>
          <a:xfrm>
            <a:off x="7921128" y="4792139"/>
            <a:ext cx="566720" cy="267884"/>
          </a:xfrm>
          <a:prstGeom prst="rightArrow">
            <a:avLst/>
          </a:prstGeom>
          <a:solidFill>
            <a:srgbClr val="97B1DF"/>
          </a:solidFill>
          <a:ln w="12700">
            <a:solidFill>
              <a:srgbClr val="97B1DF"/>
            </a:solidFill>
            <a:prstDash val="solid"/>
          </a:ln>
        </p:spPr>
        <p:txBody>
          <a:bodyPr/>
          <a:lstStyle/>
          <a:p>
            <a:endParaRPr dirty="0"/>
          </a:p>
        </p:txBody>
      </p:sp>
      <p:sp>
        <p:nvSpPr>
          <p:cNvPr id="17" name="Shape 4">
            <a:extLst>
              <a:ext uri="{FF2B5EF4-FFF2-40B4-BE49-F238E27FC236}">
                <a16:creationId xmlns:a16="http://schemas.microsoft.com/office/drawing/2014/main" id="{08032272-8281-5E24-051A-0E968425A70C}"/>
              </a:ext>
            </a:extLst>
          </p:cNvPr>
          <p:cNvSpPr/>
          <p:nvPr/>
        </p:nvSpPr>
        <p:spPr>
          <a:xfrm>
            <a:off x="1652509" y="4830262"/>
            <a:ext cx="584779" cy="274528"/>
          </a:xfrm>
          <a:prstGeom prst="rightArrow">
            <a:avLst/>
          </a:prstGeom>
          <a:solidFill>
            <a:srgbClr val="97B1DF"/>
          </a:solidFill>
          <a:ln w="12700">
            <a:solidFill>
              <a:srgbClr val="97B1DF"/>
            </a:solidFill>
            <a:prstDash val="solid"/>
          </a:ln>
        </p:spPr>
        <p:txBody>
          <a:bodyPr/>
          <a:lstStyle/>
          <a:p>
            <a:endParaRPr dirty="0"/>
          </a:p>
        </p:txBody>
      </p:sp>
      <p:sp>
        <p:nvSpPr>
          <p:cNvPr id="34" name="Shape 4">
            <a:extLst>
              <a:ext uri="{FF2B5EF4-FFF2-40B4-BE49-F238E27FC236}">
                <a16:creationId xmlns:a16="http://schemas.microsoft.com/office/drawing/2014/main" id="{852B16B2-E8F3-5577-0D1B-69161A098B64}"/>
              </a:ext>
            </a:extLst>
          </p:cNvPr>
          <p:cNvSpPr/>
          <p:nvPr/>
        </p:nvSpPr>
        <p:spPr>
          <a:xfrm>
            <a:off x="10012614" y="4789335"/>
            <a:ext cx="566720" cy="267884"/>
          </a:xfrm>
          <a:prstGeom prst="rightArrow">
            <a:avLst/>
          </a:prstGeom>
          <a:solidFill>
            <a:srgbClr val="97B1DF"/>
          </a:solidFill>
          <a:ln w="12700">
            <a:solidFill>
              <a:srgbClr val="97B1DF"/>
            </a:solidFill>
            <a:prstDash val="solid"/>
          </a:ln>
        </p:spPr>
        <p:txBody>
          <a:bodyPr/>
          <a:lstStyle/>
          <a:p>
            <a:endParaRPr dirty="0"/>
          </a:p>
        </p:txBody>
      </p:sp>
    </p:spTree>
    <p:extLst>
      <p:ext uri="{BB962C8B-B14F-4D97-AF65-F5344CB8AC3E}">
        <p14:creationId xmlns:p14="http://schemas.microsoft.com/office/powerpoint/2010/main" val="28355076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单圆角 1">
            <a:extLst>
              <a:ext uri="{FF2B5EF4-FFF2-40B4-BE49-F238E27FC236}">
                <a16:creationId xmlns:a16="http://schemas.microsoft.com/office/drawing/2014/main" id="{0C231337-EBA3-5315-CC75-05F5003A50DD}"/>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9F34420F-44A6-97E8-5184-534FECCDA3CA}"/>
              </a:ext>
            </a:extLst>
          </p:cNvPr>
          <p:cNvSpPr txBox="1"/>
          <p:nvPr/>
        </p:nvSpPr>
        <p:spPr>
          <a:xfrm>
            <a:off x="9321800" y="6359979"/>
            <a:ext cx="2208893" cy="369332"/>
          </a:xfrm>
          <a:prstGeom prst="rect">
            <a:avLst/>
          </a:prstGeom>
          <a:noFill/>
        </p:spPr>
        <p:txBody>
          <a:bodyPr wrap="square" rtlCol="0">
            <a:spAutoFit/>
          </a:bodyPr>
          <a:lstStyle/>
          <a:p>
            <a:r>
              <a:rPr lang="en-US" altLang="zh-CN" dirty="0"/>
              <a:t>Final Project Report</a:t>
            </a:r>
            <a:endParaRPr lang="zh-CN" altLang="en-US" dirty="0"/>
          </a:p>
        </p:txBody>
      </p:sp>
      <p:sp>
        <p:nvSpPr>
          <p:cNvPr id="4" name="文本框 3">
            <a:extLst>
              <a:ext uri="{FF2B5EF4-FFF2-40B4-BE49-F238E27FC236}">
                <a16:creationId xmlns:a16="http://schemas.microsoft.com/office/drawing/2014/main" id="{2FD945F9-B842-69A8-FE2F-A4ACB3354B90}"/>
              </a:ext>
            </a:extLst>
          </p:cNvPr>
          <p:cNvSpPr txBox="1"/>
          <p:nvPr/>
        </p:nvSpPr>
        <p:spPr>
          <a:xfrm>
            <a:off x="240845" y="6359979"/>
            <a:ext cx="4855261"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Regression Analysis: </a:t>
            </a:r>
            <a:r>
              <a:rPr lang="en-US" altLang="zh-CN" b="1" dirty="0">
                <a:effectLst>
                  <a:outerShdw blurRad="38100" dist="38100" dir="2700000" algn="tl">
                    <a:srgbClr val="000000">
                      <a:alpha val="43137"/>
                    </a:srgbClr>
                  </a:outerShdw>
                </a:effectLst>
              </a:rPr>
              <a:t>Predicting Interest Rate</a:t>
            </a:r>
            <a:endParaRPr lang="zh-CN" altLang="en-US" b="1" dirty="0">
              <a:effectLst>
                <a:outerShdw blurRad="38100" dist="38100" dir="2700000" algn="tl">
                  <a:srgbClr val="000000">
                    <a:alpha val="43137"/>
                  </a:srgbClr>
                </a:outerShdw>
              </a:effectLst>
            </a:endParaRPr>
          </a:p>
        </p:txBody>
      </p:sp>
      <p:sp>
        <p:nvSpPr>
          <p:cNvPr id="5" name="矩形: 圆顶角 4">
            <a:extLst>
              <a:ext uri="{FF2B5EF4-FFF2-40B4-BE49-F238E27FC236}">
                <a16:creationId xmlns:a16="http://schemas.microsoft.com/office/drawing/2014/main" id="{B699D065-3AD2-DBA5-1696-BB63C5FD0CA5}"/>
              </a:ext>
            </a:extLst>
          </p:cNvPr>
          <p:cNvSpPr/>
          <p:nvPr/>
        </p:nvSpPr>
        <p:spPr>
          <a:xfrm rot="10800000">
            <a:off x="416964" y="17268"/>
            <a:ext cx="8240474" cy="616875"/>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ED27114-8888-EAEF-D411-7A80984E12C5}"/>
              </a:ext>
            </a:extLst>
          </p:cNvPr>
          <p:cNvSpPr txBox="1"/>
          <p:nvPr/>
        </p:nvSpPr>
        <p:spPr>
          <a:xfrm>
            <a:off x="596900" y="22206"/>
            <a:ext cx="8060539" cy="1077218"/>
          </a:xfrm>
          <a:prstGeom prst="rect">
            <a:avLst/>
          </a:prstGeom>
          <a:noFill/>
        </p:spPr>
        <p:txBody>
          <a:bodyPr wrap="square" rtlCol="0">
            <a:spAutoFit/>
          </a:bodyPr>
          <a:lstStyle/>
          <a:p>
            <a:pPr algn="ctr"/>
            <a:r>
              <a:rPr lang="en-US" altLang="zh-CN" sz="3200" b="1" dirty="0">
                <a:effectLst>
                  <a:outerShdw blurRad="38100" dist="38100" dir="2700000" algn="tl">
                    <a:srgbClr val="000000">
                      <a:alpha val="43137"/>
                    </a:srgbClr>
                  </a:outerShdw>
                </a:effectLst>
                <a:latin typeface="High Tower Text" panose="02040502050506030303" pitchFamily="18" charset="0"/>
              </a:rPr>
              <a:t>Regression Analysis—Predicting Interest Rate</a:t>
            </a:r>
            <a:endParaRPr lang="zh-CN" altLang="en-US" sz="3200" dirty="0"/>
          </a:p>
          <a:p>
            <a:pPr algn="ctr"/>
            <a:endParaRPr lang="zh-CN" altLang="en-US" sz="3200" b="1" dirty="0">
              <a:effectLst>
                <a:outerShdw blurRad="38100" dist="38100" dir="2700000" algn="tl">
                  <a:srgbClr val="000000">
                    <a:alpha val="43137"/>
                  </a:srgbClr>
                </a:outerShdw>
              </a:effectLst>
              <a:latin typeface="High Tower Text" panose="02040502050506030303" pitchFamily="18" charset="0"/>
            </a:endParaRPr>
          </a:p>
        </p:txBody>
      </p:sp>
      <p:graphicFrame>
        <p:nvGraphicFramePr>
          <p:cNvPr id="10" name="Table 0">
            <a:extLst>
              <a:ext uri="{FF2B5EF4-FFF2-40B4-BE49-F238E27FC236}">
                <a16:creationId xmlns:a16="http://schemas.microsoft.com/office/drawing/2014/main" id="{A620FEF2-019E-4B08-FA92-186528199B1B}"/>
              </a:ext>
            </a:extLst>
          </p:cNvPr>
          <p:cNvGraphicFramePr>
            <a:graphicFrameLocks noGrp="1"/>
          </p:cNvGraphicFramePr>
          <p:nvPr>
            <p:extLst>
              <p:ext uri="{D42A27DB-BD31-4B8C-83A1-F6EECF244321}">
                <p14:modId xmlns:p14="http://schemas.microsoft.com/office/powerpoint/2010/main" val="4211999788"/>
              </p:ext>
            </p:extLst>
          </p:nvPr>
        </p:nvGraphicFramePr>
        <p:xfrm>
          <a:off x="1239054" y="1368376"/>
          <a:ext cx="4528686" cy="2117560"/>
        </p:xfrm>
        <a:graphic>
          <a:graphicData uri="http://schemas.openxmlformats.org/drawingml/2006/table">
            <a:tbl>
              <a:tblPr/>
              <a:tblGrid>
                <a:gridCol w="1509562">
                  <a:extLst>
                    <a:ext uri="{9D8B030D-6E8A-4147-A177-3AD203B41FA5}">
                      <a16:colId xmlns:a16="http://schemas.microsoft.com/office/drawing/2014/main" val="20000"/>
                    </a:ext>
                  </a:extLst>
                </a:gridCol>
                <a:gridCol w="1509562">
                  <a:extLst>
                    <a:ext uri="{9D8B030D-6E8A-4147-A177-3AD203B41FA5}">
                      <a16:colId xmlns:a16="http://schemas.microsoft.com/office/drawing/2014/main" val="20001"/>
                    </a:ext>
                  </a:extLst>
                </a:gridCol>
                <a:gridCol w="1509562">
                  <a:extLst>
                    <a:ext uri="{9D8B030D-6E8A-4147-A177-3AD203B41FA5}">
                      <a16:colId xmlns:a16="http://schemas.microsoft.com/office/drawing/2014/main" val="20002"/>
                    </a:ext>
                  </a:extLst>
                </a:gridCol>
              </a:tblGrid>
              <a:tr h="529390">
                <a:tc>
                  <a:txBody>
                    <a:bodyPr/>
                    <a:lstStyle/>
                    <a:p>
                      <a:pPr marL="0" indent="0" algn="ctr">
                        <a:buNone/>
                      </a:pP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97B1DF"/>
                    </a:solidFill>
                  </a:tcPr>
                </a:tc>
                <a:tc>
                  <a:txBody>
                    <a:bodyPr/>
                    <a:lstStyle/>
                    <a:p>
                      <a:pPr marL="0" indent="0" algn="ctr">
                        <a:buNone/>
                      </a:pPr>
                      <a:r>
                        <a:rPr lang="en-US" sz="1600" b="1" dirty="0">
                          <a:solidFill>
                            <a:srgbClr val="FFFFFF"/>
                          </a:solidFill>
                          <a:latin typeface="Times New Roman" panose="02020603050405020304" pitchFamily="18" charset="0"/>
                          <a:cs typeface="Times New Roman" panose="02020603050405020304" pitchFamily="18" charset="0"/>
                        </a:rPr>
                        <a:t>Validation</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97B1DF"/>
                    </a:solidFill>
                  </a:tcPr>
                </a:tc>
                <a:tc>
                  <a:txBody>
                    <a:bodyPr/>
                    <a:lstStyle/>
                    <a:p>
                      <a:pPr marL="0" indent="0" algn="ctr">
                        <a:buNone/>
                      </a:pPr>
                      <a:r>
                        <a:rPr lang="en-US" sz="1600" b="1" dirty="0">
                          <a:solidFill>
                            <a:srgbClr val="FFFFFF"/>
                          </a:solidFill>
                          <a:latin typeface="Times New Roman" panose="02020603050405020304" pitchFamily="18" charset="0"/>
                          <a:cs typeface="Times New Roman" panose="02020603050405020304" pitchFamily="18" charset="0"/>
                        </a:rPr>
                        <a:t>Test</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97B1DF"/>
                    </a:solidFill>
                  </a:tcPr>
                </a:tc>
                <a:extLst>
                  <a:ext uri="{0D108BD9-81ED-4DB2-BD59-A6C34878D82A}">
                    <a16:rowId xmlns:a16="http://schemas.microsoft.com/office/drawing/2014/main" val="10000"/>
                  </a:ext>
                </a:extLst>
              </a:tr>
              <a:tr h="529390">
                <a:tc>
                  <a:txBody>
                    <a:bodyPr/>
                    <a:lstStyle/>
                    <a:p>
                      <a:pPr marL="0" indent="0" algn="ctr">
                        <a:buNone/>
                      </a:pPr>
                      <a:r>
                        <a:rPr lang="en-US" sz="1600" b="1" dirty="0">
                          <a:solidFill>
                            <a:srgbClr val="000000"/>
                          </a:solidFill>
                          <a:latin typeface="Times New Roman" panose="02020603050405020304" pitchFamily="18" charset="0"/>
                          <a:cs typeface="Times New Roman" panose="02020603050405020304" pitchFamily="18" charset="0"/>
                        </a:rPr>
                        <a:t>MAE</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0.7326</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1.1081</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extLst>
                  <a:ext uri="{0D108BD9-81ED-4DB2-BD59-A6C34878D82A}">
                    <a16:rowId xmlns:a16="http://schemas.microsoft.com/office/drawing/2014/main" val="10001"/>
                  </a:ext>
                </a:extLst>
              </a:tr>
              <a:tr h="529390">
                <a:tc>
                  <a:txBody>
                    <a:bodyPr/>
                    <a:lstStyle/>
                    <a:p>
                      <a:pPr marL="0" indent="0" algn="ctr">
                        <a:buNone/>
                      </a:pPr>
                      <a:r>
                        <a:rPr lang="en-US" sz="1600" b="1" dirty="0">
                          <a:solidFill>
                            <a:srgbClr val="000000"/>
                          </a:solidFill>
                          <a:latin typeface="Times New Roman" panose="02020603050405020304" pitchFamily="18" charset="0"/>
                          <a:cs typeface="Times New Roman" panose="02020603050405020304" pitchFamily="18" charset="0"/>
                        </a:rPr>
                        <a:t>RMSE</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1.1527</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1.7732</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tcPr>
                </a:tc>
                <a:extLst>
                  <a:ext uri="{0D108BD9-81ED-4DB2-BD59-A6C34878D82A}">
                    <a16:rowId xmlns:a16="http://schemas.microsoft.com/office/drawing/2014/main" val="10002"/>
                  </a:ext>
                </a:extLst>
              </a:tr>
              <a:tr h="529390">
                <a:tc>
                  <a:txBody>
                    <a:bodyPr/>
                    <a:lstStyle/>
                    <a:p>
                      <a:pPr marL="0" indent="0" algn="ctr">
                        <a:buNone/>
                      </a:pPr>
                      <a:r>
                        <a:rPr lang="en-US" sz="1600" b="1" dirty="0">
                          <a:solidFill>
                            <a:srgbClr val="000000"/>
                          </a:solidFill>
                          <a:latin typeface="Times New Roman" panose="02020603050405020304" pitchFamily="18" charset="0"/>
                          <a:cs typeface="Times New Roman" panose="02020603050405020304" pitchFamily="18" charset="0"/>
                        </a:rPr>
                        <a:t>R²</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0.9472</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0.8961</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extLst>
                  <a:ext uri="{0D108BD9-81ED-4DB2-BD59-A6C34878D82A}">
                    <a16:rowId xmlns:a16="http://schemas.microsoft.com/office/drawing/2014/main" val="10003"/>
                  </a:ext>
                </a:extLst>
              </a:tr>
            </a:tbl>
          </a:graphicData>
        </a:graphic>
      </p:graphicFrame>
      <p:sp>
        <p:nvSpPr>
          <p:cNvPr id="12" name="文本框 11">
            <a:extLst>
              <a:ext uri="{FF2B5EF4-FFF2-40B4-BE49-F238E27FC236}">
                <a16:creationId xmlns:a16="http://schemas.microsoft.com/office/drawing/2014/main" id="{898A3867-3C96-7E48-77E2-0646E3CF7DE2}"/>
              </a:ext>
            </a:extLst>
          </p:cNvPr>
          <p:cNvSpPr txBox="1"/>
          <p:nvPr/>
        </p:nvSpPr>
        <p:spPr>
          <a:xfrm>
            <a:off x="537633" y="4025315"/>
            <a:ext cx="6184900" cy="1477328"/>
          </a:xfrm>
          <a:prstGeom prst="rect">
            <a:avLst/>
          </a:prstGeom>
          <a:noFill/>
        </p:spPr>
        <p:txBody>
          <a:bodyPr wrap="square">
            <a:spAutoFit/>
          </a:bodyPr>
          <a:lstStyle/>
          <a:p>
            <a:pPr marL="342900" indent="-342900">
              <a:spcAft>
                <a:spcPts val="600"/>
              </a:spcAft>
              <a:buFont typeface="Wingdings" panose="05000000000000000000" pitchFamily="2" charset="2"/>
              <a:buChar char="u"/>
            </a:pPr>
            <a:r>
              <a:rPr lang="en-US" altLang="zh-CN" sz="2000" dirty="0">
                <a:solidFill>
                  <a:srgbClr val="030A18"/>
                </a:solidFill>
                <a:latin typeface="Times New Roman" panose="02020603050405020304" pitchFamily="18" charset="0"/>
                <a:cs typeface="Times New Roman" panose="02020603050405020304" pitchFamily="18" charset="0"/>
              </a:rPr>
              <a:t>Strong performance with high R² on validation and test.
Low MAE(</a:t>
            </a:r>
            <a:r>
              <a:rPr lang="en-US" altLang="zh-CN" dirty="0">
                <a:latin typeface="Times New Roman" panose="02020603050405020304" pitchFamily="18" charset="0"/>
                <a:cs typeface="Times New Roman" panose="02020603050405020304" pitchFamily="18" charset="0"/>
              </a:rPr>
              <a:t>Mean Absolute Error</a:t>
            </a:r>
            <a:r>
              <a:rPr lang="en-US" altLang="zh-CN" sz="2000" dirty="0">
                <a:solidFill>
                  <a:srgbClr val="030A18"/>
                </a:solidFill>
                <a:latin typeface="Times New Roman" panose="02020603050405020304" pitchFamily="18" charset="0"/>
                <a:cs typeface="Times New Roman" panose="02020603050405020304" pitchFamily="18" charset="0"/>
              </a:rPr>
              <a:t>) and RMSE(</a:t>
            </a:r>
            <a:r>
              <a:rPr lang="en-US" altLang="zh-CN" dirty="0">
                <a:latin typeface="Times New Roman" panose="02020603050405020304" pitchFamily="18" charset="0"/>
                <a:cs typeface="Times New Roman" panose="02020603050405020304" pitchFamily="18" charset="0"/>
              </a:rPr>
              <a:t>Root Mean Square Error</a:t>
            </a:r>
            <a:r>
              <a:rPr lang="en-US" altLang="zh-CN" sz="2000" dirty="0">
                <a:solidFill>
                  <a:srgbClr val="030A18"/>
                </a:solidFill>
                <a:latin typeface="Times New Roman" panose="02020603050405020304" pitchFamily="18" charset="0"/>
                <a:cs typeface="Times New Roman" panose="02020603050405020304" pitchFamily="18" charset="0"/>
              </a:rPr>
              <a:t>) indicate accurate interest rate predictions.</a:t>
            </a:r>
          </a:p>
          <a:p>
            <a:pPr marL="342900" indent="-342900">
              <a:spcAft>
                <a:spcPts val="600"/>
              </a:spcAft>
              <a:buFont typeface="Wingdings" panose="05000000000000000000" pitchFamily="2" charset="2"/>
              <a:buChar char="u"/>
            </a:pPr>
            <a:r>
              <a:rPr lang="en-US" altLang="zh-CN" sz="2000" dirty="0">
                <a:solidFill>
                  <a:srgbClr val="030A18"/>
                </a:solidFill>
                <a:latin typeface="Times New Roman" panose="02020603050405020304" pitchFamily="18" charset="0"/>
                <a:cs typeface="Times New Roman" panose="02020603050405020304" pitchFamily="18" charset="0"/>
              </a:rPr>
              <a:t>Further tuning may reduce residual variance.</a:t>
            </a:r>
            <a:endParaRPr lang="en-US" altLang="zh-CN" sz="2000"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9CEF9679-469B-03B4-597D-B642660B3836}"/>
              </a:ext>
            </a:extLst>
          </p:cNvPr>
          <p:cNvSpPr txBox="1"/>
          <p:nvPr/>
        </p:nvSpPr>
        <p:spPr>
          <a:xfrm>
            <a:off x="2942924" y="6332815"/>
            <a:ext cx="6155356" cy="369332"/>
          </a:xfrm>
          <a:prstGeom prst="rect">
            <a:avLst/>
          </a:prstGeom>
          <a:noFill/>
        </p:spPr>
        <p:txBody>
          <a:bodyPr wrap="square">
            <a:spAutoFit/>
          </a:bodyPr>
          <a:lstStyle/>
          <a:p>
            <a:pPr algn="ctr"/>
            <a:r>
              <a:rPr lang="en-US" altLang="zh-CN" b="1" dirty="0"/>
              <a:t>Page 4</a:t>
            </a:r>
            <a:endParaRPr lang="zh-CN" altLang="en-US" b="1" dirty="0"/>
          </a:p>
        </p:txBody>
      </p:sp>
      <p:pic>
        <p:nvPicPr>
          <p:cNvPr id="9" name="图片 8">
            <a:extLst>
              <a:ext uri="{FF2B5EF4-FFF2-40B4-BE49-F238E27FC236}">
                <a16:creationId xmlns:a16="http://schemas.microsoft.com/office/drawing/2014/main" id="{7C2634CE-513A-B278-51E5-612575C9C86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866342" y="858670"/>
            <a:ext cx="4463875" cy="4463875"/>
          </a:xfrm>
          <a:prstGeom prst="rect">
            <a:avLst/>
          </a:prstGeom>
        </p:spPr>
      </p:pic>
    </p:spTree>
    <p:extLst>
      <p:ext uri="{BB962C8B-B14F-4D97-AF65-F5344CB8AC3E}">
        <p14:creationId xmlns:p14="http://schemas.microsoft.com/office/powerpoint/2010/main" val="1352222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单圆角 17">
            <a:extLst>
              <a:ext uri="{FF2B5EF4-FFF2-40B4-BE49-F238E27FC236}">
                <a16:creationId xmlns:a16="http://schemas.microsoft.com/office/drawing/2014/main" id="{7FFBA8FF-4225-43AD-2AF1-5725F285F264}"/>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1FA688B3-C43D-E846-6A29-E712C91C69AC}"/>
              </a:ext>
            </a:extLst>
          </p:cNvPr>
          <p:cNvSpPr txBox="1"/>
          <p:nvPr/>
        </p:nvSpPr>
        <p:spPr>
          <a:xfrm>
            <a:off x="9321800" y="6359979"/>
            <a:ext cx="2208893" cy="369332"/>
          </a:xfrm>
          <a:prstGeom prst="rect">
            <a:avLst/>
          </a:prstGeom>
          <a:noFill/>
        </p:spPr>
        <p:txBody>
          <a:bodyPr wrap="square" rtlCol="0">
            <a:spAutoFit/>
          </a:bodyPr>
          <a:lstStyle/>
          <a:p>
            <a:r>
              <a:rPr lang="en-US" altLang="zh-CN" dirty="0"/>
              <a:t>Final Project Report</a:t>
            </a:r>
            <a:endParaRPr lang="zh-CN" altLang="en-US" dirty="0"/>
          </a:p>
        </p:txBody>
      </p:sp>
      <p:sp>
        <p:nvSpPr>
          <p:cNvPr id="20" name="文本框 19">
            <a:extLst>
              <a:ext uri="{FF2B5EF4-FFF2-40B4-BE49-F238E27FC236}">
                <a16:creationId xmlns:a16="http://schemas.microsoft.com/office/drawing/2014/main" id="{06E3D56D-8E95-EDD3-3C61-5AA3BD63B4F4}"/>
              </a:ext>
            </a:extLst>
          </p:cNvPr>
          <p:cNvSpPr txBox="1"/>
          <p:nvPr/>
        </p:nvSpPr>
        <p:spPr>
          <a:xfrm>
            <a:off x="240846" y="6359979"/>
            <a:ext cx="3895122"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Regression Analysis: </a:t>
            </a:r>
            <a:r>
              <a:rPr lang="en-US" altLang="zh-CN" dirty="0">
                <a:solidFill>
                  <a:srgbClr val="030A18"/>
                </a:solidFill>
                <a:effectLst>
                  <a:outerShdw blurRad="38100" dist="38100" dir="2700000" algn="tl">
                    <a:srgbClr val="000000">
                      <a:alpha val="43137"/>
                    </a:srgbClr>
                  </a:outerShdw>
                </a:effectLst>
                <a:latin typeface="Arial" pitchFamily="34" charset="0"/>
                <a:cs typeface="Arial" pitchFamily="34" charset="-120"/>
              </a:rPr>
              <a:t>Diagnostics</a:t>
            </a:r>
            <a:endParaRPr lang="zh-CN" altLang="en-US" dirty="0">
              <a:effectLst>
                <a:outerShdw blurRad="38100" dist="38100" dir="2700000" algn="tl">
                  <a:srgbClr val="000000">
                    <a:alpha val="43137"/>
                  </a:srgbClr>
                </a:outerShdw>
              </a:effectLst>
            </a:endParaRPr>
          </a:p>
        </p:txBody>
      </p:sp>
      <p:sp>
        <p:nvSpPr>
          <p:cNvPr id="27" name="文本框 26">
            <a:extLst>
              <a:ext uri="{FF2B5EF4-FFF2-40B4-BE49-F238E27FC236}">
                <a16:creationId xmlns:a16="http://schemas.microsoft.com/office/drawing/2014/main" id="{61E50DC4-CC6D-2F7A-E505-C2623666063B}"/>
              </a:ext>
            </a:extLst>
          </p:cNvPr>
          <p:cNvSpPr txBox="1"/>
          <p:nvPr/>
        </p:nvSpPr>
        <p:spPr>
          <a:xfrm>
            <a:off x="416965" y="1989782"/>
            <a:ext cx="6279918" cy="2831544"/>
          </a:xfrm>
          <a:prstGeom prst="rect">
            <a:avLst/>
          </a:prstGeom>
          <a:noFill/>
        </p:spPr>
        <p:txBody>
          <a:bodyPr wrap="square">
            <a:spAutoFit/>
          </a:bodyPr>
          <a:lstStyle/>
          <a:p>
            <a:pPr marL="0" indent="0">
              <a:spcAft>
                <a:spcPts val="600"/>
              </a:spcAft>
              <a:buNone/>
            </a:pPr>
            <a:r>
              <a:rPr lang="en-US" altLang="zh-CN" sz="2800" dirty="0">
                <a:solidFill>
                  <a:srgbClr val="030A18"/>
                </a:solidFill>
                <a:latin typeface="Times New Roman" panose="02020603050405020304" pitchFamily="18" charset="0"/>
                <a:cs typeface="Times New Roman" panose="02020603050405020304" pitchFamily="18" charset="0"/>
              </a:rPr>
              <a:t>• R² values of 0.947 (Val) and 0.896 (test) demonstrate excellent goodness‑of‑fit.
• Residuals cluster tightly around zero, indicating low bias and homoscedasticity.
• A few outliers and moderate skew suggest opportunities for further tuning.</a:t>
            </a:r>
            <a:endParaRPr lang="en-US" altLang="zh-CN" sz="2800" dirty="0">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2AA11D52-1A1D-7EC3-DA95-0765B984B05A}"/>
              </a:ext>
            </a:extLst>
          </p:cNvPr>
          <p:cNvSpPr txBox="1"/>
          <p:nvPr/>
        </p:nvSpPr>
        <p:spPr>
          <a:xfrm>
            <a:off x="2951889" y="6332815"/>
            <a:ext cx="6155356" cy="369332"/>
          </a:xfrm>
          <a:prstGeom prst="rect">
            <a:avLst/>
          </a:prstGeom>
          <a:noFill/>
        </p:spPr>
        <p:txBody>
          <a:bodyPr wrap="square">
            <a:spAutoFit/>
          </a:bodyPr>
          <a:lstStyle/>
          <a:p>
            <a:pPr algn="ctr"/>
            <a:r>
              <a:rPr lang="en-US" altLang="zh-CN" b="1" dirty="0"/>
              <a:t>Page 5</a:t>
            </a:r>
            <a:endParaRPr lang="zh-CN" altLang="en-US" b="1" dirty="0"/>
          </a:p>
        </p:txBody>
      </p:sp>
      <p:pic>
        <p:nvPicPr>
          <p:cNvPr id="3074" name="Picture 2">
            <a:extLst>
              <a:ext uri="{FF2B5EF4-FFF2-40B4-BE49-F238E27FC236}">
                <a16:creationId xmlns:a16="http://schemas.microsoft.com/office/drawing/2014/main" id="{08E8E543-B7A9-32FC-519C-0CE95FFD67A4}"/>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6447488" y="1044693"/>
            <a:ext cx="5715000" cy="4286250"/>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圆顶角 5">
            <a:extLst>
              <a:ext uri="{FF2B5EF4-FFF2-40B4-BE49-F238E27FC236}">
                <a16:creationId xmlns:a16="http://schemas.microsoft.com/office/drawing/2014/main" id="{BFA776BB-DA50-7BAB-D28D-6E052BB5BC02}"/>
              </a:ext>
            </a:extLst>
          </p:cNvPr>
          <p:cNvSpPr/>
          <p:nvPr/>
        </p:nvSpPr>
        <p:spPr>
          <a:xfrm rot="10800000">
            <a:off x="416964" y="17268"/>
            <a:ext cx="6279916" cy="616875"/>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F59A3E8C-0758-4F99-0420-CBAA66A544F0}"/>
              </a:ext>
            </a:extLst>
          </p:cNvPr>
          <p:cNvSpPr txBox="1"/>
          <p:nvPr/>
        </p:nvSpPr>
        <p:spPr>
          <a:xfrm>
            <a:off x="598371" y="17268"/>
            <a:ext cx="6098512" cy="584775"/>
          </a:xfrm>
          <a:prstGeom prst="rect">
            <a:avLst/>
          </a:prstGeom>
          <a:noFill/>
        </p:spPr>
        <p:txBody>
          <a:bodyPr wrap="square" rtlCol="0">
            <a:spAutoFit/>
          </a:bodyPr>
          <a:lstStyle/>
          <a:p>
            <a:pPr algn="ctr"/>
            <a:r>
              <a:rPr lang="en-US" altLang="zh-CN" sz="3200" b="1" dirty="0">
                <a:effectLst>
                  <a:outerShdw blurRad="38100" dist="38100" dir="2700000" algn="tl">
                    <a:srgbClr val="000000">
                      <a:alpha val="43137"/>
                    </a:srgbClr>
                  </a:outerShdw>
                </a:effectLst>
                <a:latin typeface="High Tower Text" panose="02040502050506030303" pitchFamily="18" charset="0"/>
              </a:rPr>
              <a:t>Regression Analysis—</a:t>
            </a:r>
            <a:r>
              <a:rPr lang="en-US" altLang="zh-CN" sz="3200" dirty="0">
                <a:solidFill>
                  <a:srgbClr val="030A18"/>
                </a:solidFill>
                <a:effectLst>
                  <a:outerShdw blurRad="38100" dist="38100" dir="2700000" algn="tl">
                    <a:srgbClr val="000000">
                      <a:alpha val="43137"/>
                    </a:srgbClr>
                  </a:outerShdw>
                </a:effectLst>
                <a:latin typeface="High Tower Text" panose="02040502050506030303" pitchFamily="18" charset="0"/>
                <a:cs typeface="Arial" pitchFamily="34" charset="-120"/>
              </a:rPr>
              <a:t>Diagnostics</a:t>
            </a:r>
            <a:endParaRPr lang="zh-CN" altLang="en-US" sz="3200" dirty="0">
              <a:latin typeface="High Tower Text" panose="02040502050506030303" pitchFamily="18" charset="0"/>
            </a:endParaRPr>
          </a:p>
        </p:txBody>
      </p:sp>
    </p:spTree>
    <p:extLst>
      <p:ext uri="{BB962C8B-B14F-4D97-AF65-F5344CB8AC3E}">
        <p14:creationId xmlns:p14="http://schemas.microsoft.com/office/powerpoint/2010/main" val="16677627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单圆角 1">
            <a:extLst>
              <a:ext uri="{FF2B5EF4-FFF2-40B4-BE49-F238E27FC236}">
                <a16:creationId xmlns:a16="http://schemas.microsoft.com/office/drawing/2014/main" id="{A2418271-7F61-1A4E-8E0C-9BED083EB8DD}"/>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9FB94A5B-47E3-0D6D-F4A0-702AB69B550D}"/>
              </a:ext>
            </a:extLst>
          </p:cNvPr>
          <p:cNvSpPr txBox="1"/>
          <p:nvPr/>
        </p:nvSpPr>
        <p:spPr>
          <a:xfrm>
            <a:off x="9321800" y="6359979"/>
            <a:ext cx="2208893" cy="369332"/>
          </a:xfrm>
          <a:prstGeom prst="rect">
            <a:avLst/>
          </a:prstGeom>
          <a:noFill/>
        </p:spPr>
        <p:txBody>
          <a:bodyPr wrap="square" rtlCol="0">
            <a:spAutoFit/>
          </a:bodyPr>
          <a:lstStyle/>
          <a:p>
            <a:r>
              <a:rPr lang="en-US" altLang="zh-CN" dirty="0"/>
              <a:t>Final Project Report</a:t>
            </a:r>
            <a:endParaRPr lang="zh-CN" altLang="en-US" dirty="0"/>
          </a:p>
        </p:txBody>
      </p:sp>
      <p:sp>
        <p:nvSpPr>
          <p:cNvPr id="4" name="文本框 3">
            <a:extLst>
              <a:ext uri="{FF2B5EF4-FFF2-40B4-BE49-F238E27FC236}">
                <a16:creationId xmlns:a16="http://schemas.microsoft.com/office/drawing/2014/main" id="{449F9102-ED62-387E-A44B-9E26645A17EE}"/>
              </a:ext>
            </a:extLst>
          </p:cNvPr>
          <p:cNvSpPr txBox="1"/>
          <p:nvPr/>
        </p:nvSpPr>
        <p:spPr>
          <a:xfrm>
            <a:off x="240846" y="6359979"/>
            <a:ext cx="2836787"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Classification Results</a:t>
            </a:r>
            <a:endParaRPr lang="zh-CN" altLang="en-US" dirty="0">
              <a:effectLst>
                <a:outerShdw blurRad="38100" dist="38100" dir="2700000" algn="tl">
                  <a:srgbClr val="000000">
                    <a:alpha val="43137"/>
                  </a:srgbClr>
                </a:outerShdw>
              </a:effectLst>
            </a:endParaRPr>
          </a:p>
        </p:txBody>
      </p:sp>
      <p:sp>
        <p:nvSpPr>
          <p:cNvPr id="5" name="矩形: 圆顶角 4">
            <a:extLst>
              <a:ext uri="{FF2B5EF4-FFF2-40B4-BE49-F238E27FC236}">
                <a16:creationId xmlns:a16="http://schemas.microsoft.com/office/drawing/2014/main" id="{1551B681-5FFE-1A39-B598-8B919533C5AA}"/>
              </a:ext>
            </a:extLst>
          </p:cNvPr>
          <p:cNvSpPr/>
          <p:nvPr/>
        </p:nvSpPr>
        <p:spPr>
          <a:xfrm rot="10800000">
            <a:off x="416966" y="17270"/>
            <a:ext cx="4300000"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3C3BA730-0E15-5ED3-8C44-BA200B0EDB2E}"/>
              </a:ext>
            </a:extLst>
          </p:cNvPr>
          <p:cNvSpPr txBox="1"/>
          <p:nvPr/>
        </p:nvSpPr>
        <p:spPr>
          <a:xfrm>
            <a:off x="416965" y="22206"/>
            <a:ext cx="4300001" cy="584775"/>
          </a:xfrm>
          <a:prstGeom prst="rect">
            <a:avLst/>
          </a:prstGeom>
          <a:noFill/>
        </p:spPr>
        <p:txBody>
          <a:bodyPr wrap="square" rtlCol="0">
            <a:spAutoFit/>
          </a:bodyPr>
          <a:lstStyle/>
          <a:p>
            <a:pPr algn="ctr"/>
            <a:r>
              <a:rPr lang="en-US" altLang="zh-CN" sz="3200" b="1" dirty="0">
                <a:latin typeface="High Tower Text" panose="02040502050506030303" pitchFamily="18" charset="0"/>
                <a:cs typeface="Times New Roman" panose="02020603050405020304" pitchFamily="18" charset="0"/>
              </a:rPr>
              <a:t>Classifications Results</a:t>
            </a:r>
            <a:endParaRPr lang="zh-CN" altLang="en-US" sz="2000" b="1" dirty="0">
              <a:latin typeface="High Tower Text" panose="02040502050506030303" pitchFamily="18" charset="0"/>
            </a:endParaRPr>
          </a:p>
        </p:txBody>
      </p:sp>
      <p:graphicFrame>
        <p:nvGraphicFramePr>
          <p:cNvPr id="10" name="Table 0">
            <a:extLst>
              <a:ext uri="{FF2B5EF4-FFF2-40B4-BE49-F238E27FC236}">
                <a16:creationId xmlns:a16="http://schemas.microsoft.com/office/drawing/2014/main" id="{153F181A-24F6-6F2F-E2B0-646BE1BDDA3C}"/>
              </a:ext>
            </a:extLst>
          </p:cNvPr>
          <p:cNvGraphicFramePr>
            <a:graphicFrameLocks noGrp="1"/>
          </p:cNvGraphicFramePr>
          <p:nvPr>
            <p:extLst>
              <p:ext uri="{D42A27DB-BD31-4B8C-83A1-F6EECF244321}">
                <p14:modId xmlns:p14="http://schemas.microsoft.com/office/powerpoint/2010/main" val="2402866342"/>
              </p:ext>
            </p:extLst>
          </p:nvPr>
        </p:nvGraphicFramePr>
        <p:xfrm>
          <a:off x="1217712" y="999277"/>
          <a:ext cx="4067966" cy="2765500"/>
        </p:xfrm>
        <a:graphic>
          <a:graphicData uri="http://schemas.openxmlformats.org/drawingml/2006/table">
            <a:tbl>
              <a:tblPr/>
              <a:tblGrid>
                <a:gridCol w="2033983">
                  <a:extLst>
                    <a:ext uri="{9D8B030D-6E8A-4147-A177-3AD203B41FA5}">
                      <a16:colId xmlns:a16="http://schemas.microsoft.com/office/drawing/2014/main" val="20000"/>
                    </a:ext>
                  </a:extLst>
                </a:gridCol>
                <a:gridCol w="2033983">
                  <a:extLst>
                    <a:ext uri="{9D8B030D-6E8A-4147-A177-3AD203B41FA5}">
                      <a16:colId xmlns:a16="http://schemas.microsoft.com/office/drawing/2014/main" val="20001"/>
                    </a:ext>
                  </a:extLst>
                </a:gridCol>
              </a:tblGrid>
              <a:tr h="553100">
                <a:tc>
                  <a:txBody>
                    <a:bodyPr/>
                    <a:lstStyle/>
                    <a:p>
                      <a:pPr marL="0" indent="0" algn="ctr">
                        <a:buNone/>
                      </a:pP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97B1DF"/>
                    </a:solidFill>
                  </a:tcPr>
                </a:tc>
                <a:tc>
                  <a:txBody>
                    <a:bodyPr/>
                    <a:lstStyle/>
                    <a:p>
                      <a:pPr marL="0" indent="0" algn="ctr">
                        <a:buNone/>
                      </a:pPr>
                      <a:r>
                        <a:rPr lang="en-US" sz="1600" b="1" dirty="0">
                          <a:solidFill>
                            <a:srgbClr val="FFFFFF"/>
                          </a:solidFill>
                          <a:latin typeface="Times New Roman" panose="02020603050405020304" pitchFamily="18" charset="0"/>
                          <a:cs typeface="Times New Roman" panose="02020603050405020304" pitchFamily="18" charset="0"/>
                        </a:rPr>
                        <a:t>Score</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97B1DF"/>
                    </a:solidFill>
                  </a:tcPr>
                </a:tc>
                <a:extLst>
                  <a:ext uri="{0D108BD9-81ED-4DB2-BD59-A6C34878D82A}">
                    <a16:rowId xmlns:a16="http://schemas.microsoft.com/office/drawing/2014/main" val="10000"/>
                  </a:ext>
                </a:extLst>
              </a:tr>
              <a:tr h="553100">
                <a:tc>
                  <a:txBody>
                    <a:bodyPr/>
                    <a:lstStyle/>
                    <a:p>
                      <a:pPr marL="0" indent="0" algn="ctr">
                        <a:buNone/>
                      </a:pPr>
                      <a:r>
                        <a:rPr lang="en-US" sz="1600" b="1" dirty="0">
                          <a:solidFill>
                            <a:srgbClr val="000000"/>
                          </a:solidFill>
                          <a:latin typeface="Times New Roman" panose="02020603050405020304" pitchFamily="18" charset="0"/>
                          <a:cs typeface="Times New Roman" panose="02020603050405020304" pitchFamily="18" charset="0"/>
                        </a:rPr>
                        <a:t>Accuracy</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0.5738</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extLst>
                  <a:ext uri="{0D108BD9-81ED-4DB2-BD59-A6C34878D82A}">
                    <a16:rowId xmlns:a16="http://schemas.microsoft.com/office/drawing/2014/main" val="10001"/>
                  </a:ext>
                </a:extLst>
              </a:tr>
              <a:tr h="553100">
                <a:tc>
                  <a:txBody>
                    <a:bodyPr/>
                    <a:lstStyle/>
                    <a:p>
                      <a:pPr marL="0" indent="0" algn="ctr">
                        <a:buNone/>
                      </a:pPr>
                      <a:r>
                        <a:rPr lang="en-US" sz="1600" b="1" dirty="0">
                          <a:solidFill>
                            <a:srgbClr val="000000"/>
                          </a:solidFill>
                          <a:latin typeface="Times New Roman" panose="02020603050405020304" pitchFamily="18" charset="0"/>
                          <a:cs typeface="Times New Roman" panose="02020603050405020304" pitchFamily="18" charset="0"/>
                        </a:rPr>
                        <a:t>F1 Macro</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0.3831</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tcPr>
                </a:tc>
                <a:extLst>
                  <a:ext uri="{0D108BD9-81ED-4DB2-BD59-A6C34878D82A}">
                    <a16:rowId xmlns:a16="http://schemas.microsoft.com/office/drawing/2014/main" val="10002"/>
                  </a:ext>
                </a:extLst>
              </a:tr>
              <a:tr h="553100">
                <a:tc>
                  <a:txBody>
                    <a:bodyPr/>
                    <a:lstStyle/>
                    <a:p>
                      <a:pPr marL="0" indent="0" algn="ctr">
                        <a:buNone/>
                      </a:pPr>
                      <a:r>
                        <a:rPr lang="en-US" sz="1600" b="1" dirty="0">
                          <a:solidFill>
                            <a:srgbClr val="000000"/>
                          </a:solidFill>
                          <a:latin typeface="Times New Roman" panose="02020603050405020304" pitchFamily="18" charset="0"/>
                          <a:cs typeface="Times New Roman" panose="02020603050405020304" pitchFamily="18" charset="0"/>
                        </a:rPr>
                        <a:t>F1 Weighted</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0.5513</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extLst>
                  <a:ext uri="{0D108BD9-81ED-4DB2-BD59-A6C34878D82A}">
                    <a16:rowId xmlns:a16="http://schemas.microsoft.com/office/drawing/2014/main" val="10003"/>
                  </a:ext>
                </a:extLst>
              </a:tr>
              <a:tr h="553100">
                <a:tc>
                  <a:txBody>
                    <a:bodyPr/>
                    <a:lstStyle/>
                    <a:p>
                      <a:pPr marL="0" indent="0" algn="ctr">
                        <a:buNone/>
                      </a:pPr>
                      <a:r>
                        <a:rPr lang="en-US" sz="1600" b="1" dirty="0">
                          <a:solidFill>
                            <a:srgbClr val="000000"/>
                          </a:solidFill>
                          <a:latin typeface="Times New Roman" panose="02020603050405020304" pitchFamily="18" charset="0"/>
                          <a:cs typeface="Times New Roman" panose="02020603050405020304" pitchFamily="18" charset="0"/>
                        </a:rPr>
                        <a:t>AUC (ovr)</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0.8475</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3" name="文本框 12">
            <a:extLst>
              <a:ext uri="{FF2B5EF4-FFF2-40B4-BE49-F238E27FC236}">
                <a16:creationId xmlns:a16="http://schemas.microsoft.com/office/drawing/2014/main" id="{9CDC85D2-17BC-CDA7-0F6D-AAC41DD33165}"/>
              </a:ext>
            </a:extLst>
          </p:cNvPr>
          <p:cNvSpPr txBox="1"/>
          <p:nvPr/>
        </p:nvSpPr>
        <p:spPr>
          <a:xfrm>
            <a:off x="631035" y="4157073"/>
            <a:ext cx="6161048" cy="1785104"/>
          </a:xfrm>
          <a:prstGeom prst="rect">
            <a:avLst/>
          </a:prstGeom>
          <a:noFill/>
        </p:spPr>
        <p:txBody>
          <a:bodyPr wrap="square">
            <a:spAutoFit/>
          </a:bodyPr>
          <a:lstStyle/>
          <a:p>
            <a:pPr marL="0" indent="0">
              <a:spcAft>
                <a:spcPts val="600"/>
              </a:spcAft>
              <a:buNone/>
            </a:pPr>
            <a:r>
              <a:rPr lang="en-US" altLang="zh-CN" sz="2000" dirty="0">
                <a:solidFill>
                  <a:srgbClr val="030A18"/>
                </a:solidFill>
                <a:latin typeface="Times New Roman" panose="02020603050405020304" pitchFamily="18" charset="0"/>
                <a:cs typeface="Times New Roman" panose="02020603050405020304" pitchFamily="18" charset="0"/>
              </a:rPr>
              <a:t>• Reasonable accuracy but macro F1 reveals class imbalance
• Weighted F1 is higher, reflecting skewed label distribution
• AUC of 0.848 indicates good discriminative power</a:t>
            </a:r>
            <a:endParaRPr lang="en-US" altLang="zh-CN" sz="2000"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17894C48-F663-5546-2DC4-0685A85EAFA0}"/>
              </a:ext>
            </a:extLst>
          </p:cNvPr>
          <p:cNvSpPr txBox="1"/>
          <p:nvPr/>
        </p:nvSpPr>
        <p:spPr>
          <a:xfrm>
            <a:off x="2942924" y="6332815"/>
            <a:ext cx="6155356" cy="369332"/>
          </a:xfrm>
          <a:prstGeom prst="rect">
            <a:avLst/>
          </a:prstGeom>
          <a:noFill/>
        </p:spPr>
        <p:txBody>
          <a:bodyPr wrap="square">
            <a:spAutoFit/>
          </a:bodyPr>
          <a:lstStyle/>
          <a:p>
            <a:pPr algn="ctr"/>
            <a:r>
              <a:rPr lang="en-US" altLang="zh-CN" b="1" dirty="0"/>
              <a:t>Page 6</a:t>
            </a:r>
            <a:endParaRPr lang="zh-CN" altLang="en-US" b="1" dirty="0"/>
          </a:p>
        </p:txBody>
      </p:sp>
      <p:pic>
        <p:nvPicPr>
          <p:cNvPr id="4100" name="Picture 4">
            <a:extLst>
              <a:ext uri="{FF2B5EF4-FFF2-40B4-BE49-F238E27FC236}">
                <a16:creationId xmlns:a16="http://schemas.microsoft.com/office/drawing/2014/main" id="{7A4C4FB9-0B4D-4D57-A00C-201D87547734}"/>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b="-778"/>
          <a:stretch>
            <a:fillRect/>
          </a:stretch>
        </p:blipFill>
        <p:spPr bwMode="auto">
          <a:xfrm>
            <a:off x="6191764" y="314089"/>
            <a:ext cx="5583270" cy="56280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6791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单圆角 1">
            <a:extLst>
              <a:ext uri="{FF2B5EF4-FFF2-40B4-BE49-F238E27FC236}">
                <a16:creationId xmlns:a16="http://schemas.microsoft.com/office/drawing/2014/main" id="{DCAB2744-B04E-5E69-E964-39F57A5E6DC5}"/>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8F6859C4-E1D0-EE3D-9FF1-D836A988DC55}"/>
              </a:ext>
            </a:extLst>
          </p:cNvPr>
          <p:cNvSpPr txBox="1"/>
          <p:nvPr/>
        </p:nvSpPr>
        <p:spPr>
          <a:xfrm>
            <a:off x="9321800" y="6359979"/>
            <a:ext cx="2208893" cy="369332"/>
          </a:xfrm>
          <a:prstGeom prst="rect">
            <a:avLst/>
          </a:prstGeom>
          <a:noFill/>
        </p:spPr>
        <p:txBody>
          <a:bodyPr wrap="square" rtlCol="0">
            <a:spAutoFit/>
          </a:bodyPr>
          <a:lstStyle/>
          <a:p>
            <a:r>
              <a:rPr lang="en-US" altLang="zh-CN" dirty="0"/>
              <a:t>Final Project Report</a:t>
            </a:r>
            <a:endParaRPr lang="zh-CN" altLang="en-US" dirty="0"/>
          </a:p>
        </p:txBody>
      </p:sp>
      <p:sp>
        <p:nvSpPr>
          <p:cNvPr id="4" name="文本框 3">
            <a:extLst>
              <a:ext uri="{FF2B5EF4-FFF2-40B4-BE49-F238E27FC236}">
                <a16:creationId xmlns:a16="http://schemas.microsoft.com/office/drawing/2014/main" id="{B333751B-2287-774D-7989-CAFF0E88735A}"/>
              </a:ext>
            </a:extLst>
          </p:cNvPr>
          <p:cNvSpPr txBox="1"/>
          <p:nvPr/>
        </p:nvSpPr>
        <p:spPr>
          <a:xfrm>
            <a:off x="240846" y="6359979"/>
            <a:ext cx="2836787"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Classification Results</a:t>
            </a:r>
            <a:endParaRPr lang="zh-CN" altLang="en-US" dirty="0">
              <a:effectLst>
                <a:outerShdw blurRad="38100" dist="38100" dir="2700000" algn="tl">
                  <a:srgbClr val="000000">
                    <a:alpha val="43137"/>
                  </a:srgbClr>
                </a:outerShdw>
              </a:effectLst>
            </a:endParaRPr>
          </a:p>
        </p:txBody>
      </p:sp>
      <p:sp>
        <p:nvSpPr>
          <p:cNvPr id="5" name="矩形: 圆顶角 4">
            <a:extLst>
              <a:ext uri="{FF2B5EF4-FFF2-40B4-BE49-F238E27FC236}">
                <a16:creationId xmlns:a16="http://schemas.microsoft.com/office/drawing/2014/main" id="{BAE9280C-6B5A-51F7-EE6D-81C392072E94}"/>
              </a:ext>
            </a:extLst>
          </p:cNvPr>
          <p:cNvSpPr/>
          <p:nvPr/>
        </p:nvSpPr>
        <p:spPr>
          <a:xfrm rot="10800000">
            <a:off x="416966" y="17270"/>
            <a:ext cx="5548936"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9149C404-385C-86C4-AE7A-8509F7E819EE}"/>
              </a:ext>
            </a:extLst>
          </p:cNvPr>
          <p:cNvSpPr txBox="1"/>
          <p:nvPr/>
        </p:nvSpPr>
        <p:spPr>
          <a:xfrm>
            <a:off x="271999" y="17269"/>
            <a:ext cx="5838869" cy="584775"/>
          </a:xfrm>
          <a:prstGeom prst="rect">
            <a:avLst/>
          </a:prstGeom>
          <a:noFill/>
        </p:spPr>
        <p:txBody>
          <a:bodyPr wrap="square" rtlCol="0">
            <a:spAutoFit/>
          </a:bodyPr>
          <a:lstStyle/>
          <a:p>
            <a:pPr algn="ctr"/>
            <a:r>
              <a:rPr lang="en-US" altLang="zh-CN" sz="3200" b="1" dirty="0">
                <a:latin typeface="High Tower Text" panose="02040502050506030303" pitchFamily="18" charset="0"/>
                <a:cs typeface="Times New Roman" panose="02020603050405020304" pitchFamily="18" charset="0"/>
              </a:rPr>
              <a:t>Classifications ROC &amp; Insights</a:t>
            </a:r>
            <a:endParaRPr lang="zh-CN" altLang="en-US" sz="2000" b="1" dirty="0">
              <a:latin typeface="High Tower Text" panose="02040502050506030303" pitchFamily="18" charset="0"/>
            </a:endParaRPr>
          </a:p>
        </p:txBody>
      </p:sp>
      <p:sp>
        <p:nvSpPr>
          <p:cNvPr id="11" name="文本框 10">
            <a:extLst>
              <a:ext uri="{FF2B5EF4-FFF2-40B4-BE49-F238E27FC236}">
                <a16:creationId xmlns:a16="http://schemas.microsoft.com/office/drawing/2014/main" id="{B15284A0-841C-F0C2-0107-8D2DD4281F70}"/>
              </a:ext>
            </a:extLst>
          </p:cNvPr>
          <p:cNvSpPr txBox="1"/>
          <p:nvPr/>
        </p:nvSpPr>
        <p:spPr>
          <a:xfrm>
            <a:off x="416966" y="1322928"/>
            <a:ext cx="6969513" cy="3647152"/>
          </a:xfrm>
          <a:prstGeom prst="rect">
            <a:avLst/>
          </a:prstGeom>
          <a:noFill/>
        </p:spPr>
        <p:txBody>
          <a:bodyPr wrap="square">
            <a:spAutoFit/>
          </a:bodyPr>
          <a:lstStyle/>
          <a:p>
            <a:pPr marL="0" indent="0">
              <a:spcAft>
                <a:spcPts val="600"/>
              </a:spcAft>
              <a:buNone/>
            </a:pPr>
            <a:r>
              <a:rPr lang="en-US" altLang="zh-CN" sz="2400" dirty="0">
                <a:solidFill>
                  <a:srgbClr val="030A18"/>
                </a:solidFill>
                <a:latin typeface="Times New Roman" panose="02020603050405020304" pitchFamily="18" charset="0"/>
                <a:cs typeface="Times New Roman" panose="02020603050405020304" pitchFamily="18" charset="0"/>
              </a:rPr>
              <a:t>• ROC curve shows AUC = 0.936, indicating strong discrimination
• Threshold chosen using Youden's J statistic to balance sensitivity &amp; specificity
• PR curve analysis highlights precision–recall trade‑offs in imbalanced data
• Insights: high‑risk groups include younger borrowers with lower income; larger loans increase default risk; poor credit history strongly predicts defaults</a:t>
            </a:r>
            <a:endParaRPr lang="en-US" altLang="zh-CN" sz="2400" dirty="0">
              <a:latin typeface="Times New Roman" panose="02020603050405020304" pitchFamily="18" charset="0"/>
              <a:cs typeface="Times New Roman" panose="02020603050405020304" pitchFamily="18" charset="0"/>
            </a:endParaRPr>
          </a:p>
        </p:txBody>
      </p:sp>
      <p:pic>
        <p:nvPicPr>
          <p:cNvPr id="12" name="Image 0" descr="/home/oai/share/cached_assets_used/roc_curve_agent.png">
            <a:extLst>
              <a:ext uri="{FF2B5EF4-FFF2-40B4-BE49-F238E27FC236}">
                <a16:creationId xmlns:a16="http://schemas.microsoft.com/office/drawing/2014/main" id="{0F361EDA-BB59-BB3E-8456-BB165E6BE79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386479" y="1070516"/>
            <a:ext cx="4485607" cy="4538967"/>
          </a:xfrm>
          <a:prstGeom prst="rect">
            <a:avLst/>
          </a:prstGeom>
        </p:spPr>
      </p:pic>
      <p:sp>
        <p:nvSpPr>
          <p:cNvPr id="7" name="文本框 6">
            <a:extLst>
              <a:ext uri="{FF2B5EF4-FFF2-40B4-BE49-F238E27FC236}">
                <a16:creationId xmlns:a16="http://schemas.microsoft.com/office/drawing/2014/main" id="{ECDB9BD2-F04C-84A8-2350-C334C6C0F5B5}"/>
              </a:ext>
            </a:extLst>
          </p:cNvPr>
          <p:cNvSpPr txBox="1"/>
          <p:nvPr/>
        </p:nvSpPr>
        <p:spPr>
          <a:xfrm>
            <a:off x="2942924" y="6332815"/>
            <a:ext cx="6155356" cy="369332"/>
          </a:xfrm>
          <a:prstGeom prst="rect">
            <a:avLst/>
          </a:prstGeom>
          <a:noFill/>
        </p:spPr>
        <p:txBody>
          <a:bodyPr wrap="square">
            <a:spAutoFit/>
          </a:bodyPr>
          <a:lstStyle/>
          <a:p>
            <a:pPr algn="ctr"/>
            <a:r>
              <a:rPr lang="en-US" altLang="zh-CN" b="1" dirty="0"/>
              <a:t>Page 7</a:t>
            </a:r>
            <a:endParaRPr lang="zh-CN" altLang="en-US" b="1" dirty="0"/>
          </a:p>
        </p:txBody>
      </p:sp>
    </p:spTree>
    <p:extLst>
      <p:ext uri="{BB962C8B-B14F-4D97-AF65-F5344CB8AC3E}">
        <p14:creationId xmlns:p14="http://schemas.microsoft.com/office/powerpoint/2010/main" val="1949124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单圆角 1">
            <a:extLst>
              <a:ext uri="{FF2B5EF4-FFF2-40B4-BE49-F238E27FC236}">
                <a16:creationId xmlns:a16="http://schemas.microsoft.com/office/drawing/2014/main" id="{12540D05-B278-F3F7-3CC7-7CBC4FBA9BB4}"/>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EF84016E-946C-DC04-B0B4-F76C0E47478B}"/>
              </a:ext>
            </a:extLst>
          </p:cNvPr>
          <p:cNvSpPr txBox="1"/>
          <p:nvPr/>
        </p:nvSpPr>
        <p:spPr>
          <a:xfrm>
            <a:off x="9321800" y="6359979"/>
            <a:ext cx="2208893" cy="369332"/>
          </a:xfrm>
          <a:prstGeom prst="rect">
            <a:avLst/>
          </a:prstGeom>
          <a:noFill/>
        </p:spPr>
        <p:txBody>
          <a:bodyPr wrap="square" rtlCol="0">
            <a:spAutoFit/>
          </a:bodyPr>
          <a:lstStyle/>
          <a:p>
            <a:r>
              <a:rPr lang="en-US" altLang="zh-CN" dirty="0"/>
              <a:t>Final Project Report</a:t>
            </a:r>
            <a:endParaRPr lang="zh-CN" altLang="en-US" dirty="0"/>
          </a:p>
        </p:txBody>
      </p:sp>
      <p:sp>
        <p:nvSpPr>
          <p:cNvPr id="4" name="文本框 3">
            <a:extLst>
              <a:ext uri="{FF2B5EF4-FFF2-40B4-BE49-F238E27FC236}">
                <a16:creationId xmlns:a16="http://schemas.microsoft.com/office/drawing/2014/main" id="{668636B9-F556-8D03-8038-6396D7D16D85}"/>
              </a:ext>
            </a:extLst>
          </p:cNvPr>
          <p:cNvSpPr txBox="1"/>
          <p:nvPr/>
        </p:nvSpPr>
        <p:spPr>
          <a:xfrm>
            <a:off x="416966" y="6332815"/>
            <a:ext cx="2727779"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Clustering Analysis</a:t>
            </a:r>
            <a:endParaRPr lang="zh-CN" altLang="en-US" dirty="0">
              <a:effectLst>
                <a:outerShdw blurRad="38100" dist="38100" dir="2700000" algn="tl">
                  <a:srgbClr val="000000">
                    <a:alpha val="43137"/>
                  </a:srgbClr>
                </a:outerShdw>
              </a:effectLst>
            </a:endParaRPr>
          </a:p>
        </p:txBody>
      </p:sp>
      <p:sp>
        <p:nvSpPr>
          <p:cNvPr id="5" name="矩形: 圆顶角 4">
            <a:extLst>
              <a:ext uri="{FF2B5EF4-FFF2-40B4-BE49-F238E27FC236}">
                <a16:creationId xmlns:a16="http://schemas.microsoft.com/office/drawing/2014/main" id="{1FA072F5-C520-6202-651A-90A5CB3E5943}"/>
              </a:ext>
            </a:extLst>
          </p:cNvPr>
          <p:cNvSpPr/>
          <p:nvPr/>
        </p:nvSpPr>
        <p:spPr>
          <a:xfrm rot="10800000">
            <a:off x="416966" y="17270"/>
            <a:ext cx="3613708"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E4F20C0A-E0FD-2BD2-39CE-2CCD1CD2A322}"/>
              </a:ext>
            </a:extLst>
          </p:cNvPr>
          <p:cNvSpPr txBox="1"/>
          <p:nvPr/>
        </p:nvSpPr>
        <p:spPr>
          <a:xfrm>
            <a:off x="416966" y="-13596"/>
            <a:ext cx="3613708" cy="584775"/>
          </a:xfrm>
          <a:prstGeom prst="rect">
            <a:avLst/>
          </a:prstGeom>
          <a:noFill/>
        </p:spPr>
        <p:txBody>
          <a:bodyPr wrap="square" rtlCol="0">
            <a:spAutoFit/>
          </a:bodyPr>
          <a:lstStyle/>
          <a:p>
            <a:pPr algn="ctr"/>
            <a:r>
              <a:rPr lang="en-US" altLang="zh-CN" sz="3200" b="1" dirty="0">
                <a:latin typeface="High Tower Text" panose="02040502050506030303" pitchFamily="18" charset="0"/>
                <a:cs typeface="Times New Roman" panose="02020603050405020304" pitchFamily="18" charset="0"/>
              </a:rPr>
              <a:t>Clustering Analysis</a:t>
            </a:r>
            <a:endParaRPr lang="zh-CN" altLang="en-US" sz="2000" b="1" dirty="0">
              <a:latin typeface="High Tower Text" panose="02040502050506030303" pitchFamily="18" charset="0"/>
            </a:endParaRPr>
          </a:p>
        </p:txBody>
      </p:sp>
      <p:sp>
        <p:nvSpPr>
          <p:cNvPr id="10" name="文本框 9">
            <a:extLst>
              <a:ext uri="{FF2B5EF4-FFF2-40B4-BE49-F238E27FC236}">
                <a16:creationId xmlns:a16="http://schemas.microsoft.com/office/drawing/2014/main" id="{D7A33C1F-C9F2-AF16-606D-81588F936F2E}"/>
              </a:ext>
            </a:extLst>
          </p:cNvPr>
          <p:cNvSpPr txBox="1"/>
          <p:nvPr/>
        </p:nvSpPr>
        <p:spPr>
          <a:xfrm>
            <a:off x="538046" y="1505404"/>
            <a:ext cx="6520676" cy="3277820"/>
          </a:xfrm>
          <a:prstGeom prst="rect">
            <a:avLst/>
          </a:prstGeom>
          <a:noFill/>
        </p:spPr>
        <p:txBody>
          <a:bodyPr wrap="square">
            <a:spAutoFit/>
          </a:bodyPr>
          <a:lstStyle/>
          <a:p>
            <a:pPr marL="342900" indent="-342900">
              <a:spcAft>
                <a:spcPts val="600"/>
              </a:spcAft>
              <a:buFont typeface="Wingdings" panose="05000000000000000000" pitchFamily="2" charset="2"/>
              <a:buChar char="Ø"/>
            </a:pPr>
            <a:r>
              <a:rPr lang="en-US" altLang="zh-CN" sz="2400" dirty="0">
                <a:solidFill>
                  <a:srgbClr val="030A18"/>
                </a:solidFill>
                <a:latin typeface="Times New Roman" panose="02020603050405020304" pitchFamily="18" charset="0"/>
                <a:cs typeface="Times New Roman" panose="02020603050405020304" pitchFamily="18" charset="0"/>
              </a:rPr>
              <a:t>Silhouette scores peak at k=2 (≈0.22), suggesting two distinct clusters
Cluster 0: smaller loans (~$13K), moderate incomes (~$70K) and ~20 total accounts
Cluster 1: larger loans (~$18K), higher incomes (~$92K) and ~35 total accounts
Segmentation enables tailored risk strategies and product offerings</a:t>
            </a:r>
            <a:endParaRPr lang="en-US" altLang="zh-CN" sz="2400" dirty="0">
              <a:latin typeface="Times New Roman" panose="02020603050405020304" pitchFamily="18" charset="0"/>
              <a:cs typeface="Times New Roman" panose="02020603050405020304" pitchFamily="18" charset="0"/>
            </a:endParaRPr>
          </a:p>
        </p:txBody>
      </p:sp>
      <p:pic>
        <p:nvPicPr>
          <p:cNvPr id="11" name="Image 0" descr="/home/oai/share/cached_assets_used/silhouette.png">
            <a:extLst>
              <a:ext uri="{FF2B5EF4-FFF2-40B4-BE49-F238E27FC236}">
                <a16:creationId xmlns:a16="http://schemas.microsoft.com/office/drawing/2014/main" id="{8468A728-2E3F-3B22-A3FC-A19A7D14F2E7}"/>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6846618" y="1249877"/>
            <a:ext cx="5098569" cy="3823927"/>
          </a:xfrm>
          <a:prstGeom prst="rect">
            <a:avLst/>
          </a:prstGeom>
        </p:spPr>
      </p:pic>
      <p:sp>
        <p:nvSpPr>
          <p:cNvPr id="7" name="文本框 6">
            <a:extLst>
              <a:ext uri="{FF2B5EF4-FFF2-40B4-BE49-F238E27FC236}">
                <a16:creationId xmlns:a16="http://schemas.microsoft.com/office/drawing/2014/main" id="{C68C0D50-9CF2-1EB8-9C13-EDEA11199417}"/>
              </a:ext>
            </a:extLst>
          </p:cNvPr>
          <p:cNvSpPr txBox="1"/>
          <p:nvPr/>
        </p:nvSpPr>
        <p:spPr>
          <a:xfrm>
            <a:off x="2942924" y="6332815"/>
            <a:ext cx="6155356" cy="369332"/>
          </a:xfrm>
          <a:prstGeom prst="rect">
            <a:avLst/>
          </a:prstGeom>
          <a:noFill/>
        </p:spPr>
        <p:txBody>
          <a:bodyPr wrap="square">
            <a:spAutoFit/>
          </a:bodyPr>
          <a:lstStyle/>
          <a:p>
            <a:pPr algn="ctr"/>
            <a:r>
              <a:rPr lang="en-US" altLang="zh-CN" b="1" dirty="0"/>
              <a:t>Page 8</a:t>
            </a:r>
            <a:endParaRPr lang="zh-CN" altLang="en-US" b="1" dirty="0"/>
          </a:p>
        </p:txBody>
      </p:sp>
    </p:spTree>
    <p:extLst>
      <p:ext uri="{BB962C8B-B14F-4D97-AF65-F5344CB8AC3E}">
        <p14:creationId xmlns:p14="http://schemas.microsoft.com/office/powerpoint/2010/main" val="355148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单圆角 1">
            <a:extLst>
              <a:ext uri="{FF2B5EF4-FFF2-40B4-BE49-F238E27FC236}">
                <a16:creationId xmlns:a16="http://schemas.microsoft.com/office/drawing/2014/main" id="{5066305E-DA98-F869-9E6B-0502689BD03F}"/>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1EFB0480-C334-0851-76D7-36CE31498F23}"/>
              </a:ext>
            </a:extLst>
          </p:cNvPr>
          <p:cNvSpPr txBox="1"/>
          <p:nvPr/>
        </p:nvSpPr>
        <p:spPr>
          <a:xfrm>
            <a:off x="9321800" y="6359979"/>
            <a:ext cx="2208893" cy="369332"/>
          </a:xfrm>
          <a:prstGeom prst="rect">
            <a:avLst/>
          </a:prstGeom>
          <a:noFill/>
        </p:spPr>
        <p:txBody>
          <a:bodyPr wrap="square" rtlCol="0">
            <a:spAutoFit/>
          </a:bodyPr>
          <a:lstStyle/>
          <a:p>
            <a:r>
              <a:rPr lang="en-US" altLang="zh-CN" dirty="0"/>
              <a:t>Final Project Report</a:t>
            </a:r>
            <a:endParaRPr lang="zh-CN" altLang="en-US" dirty="0"/>
          </a:p>
        </p:txBody>
      </p:sp>
      <p:sp>
        <p:nvSpPr>
          <p:cNvPr id="4" name="文本框 3">
            <a:extLst>
              <a:ext uri="{FF2B5EF4-FFF2-40B4-BE49-F238E27FC236}">
                <a16:creationId xmlns:a16="http://schemas.microsoft.com/office/drawing/2014/main" id="{83F8A372-56F6-9090-9BDF-8B2DD87D8345}"/>
              </a:ext>
            </a:extLst>
          </p:cNvPr>
          <p:cNvSpPr txBox="1"/>
          <p:nvPr/>
        </p:nvSpPr>
        <p:spPr>
          <a:xfrm>
            <a:off x="416966" y="6332815"/>
            <a:ext cx="2727779"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Risk Analysis</a:t>
            </a:r>
            <a:endParaRPr lang="zh-CN" altLang="en-US" dirty="0">
              <a:effectLst>
                <a:outerShdw blurRad="38100" dist="38100" dir="2700000" algn="tl">
                  <a:srgbClr val="000000">
                    <a:alpha val="43137"/>
                  </a:srgbClr>
                </a:outerShdw>
              </a:effectLst>
            </a:endParaRPr>
          </a:p>
        </p:txBody>
      </p:sp>
      <p:sp>
        <p:nvSpPr>
          <p:cNvPr id="5" name="矩形: 圆顶角 4">
            <a:extLst>
              <a:ext uri="{FF2B5EF4-FFF2-40B4-BE49-F238E27FC236}">
                <a16:creationId xmlns:a16="http://schemas.microsoft.com/office/drawing/2014/main" id="{C86AD138-6B80-CA18-CFEB-1215F75A8A3F}"/>
              </a:ext>
            </a:extLst>
          </p:cNvPr>
          <p:cNvSpPr/>
          <p:nvPr/>
        </p:nvSpPr>
        <p:spPr>
          <a:xfrm rot="10800000">
            <a:off x="416966" y="17270"/>
            <a:ext cx="3613708"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AC6DC2E1-31B7-0811-55FD-8A62AE2005B8}"/>
              </a:ext>
            </a:extLst>
          </p:cNvPr>
          <p:cNvSpPr txBox="1"/>
          <p:nvPr/>
        </p:nvSpPr>
        <p:spPr>
          <a:xfrm>
            <a:off x="2942924" y="6332815"/>
            <a:ext cx="6155356" cy="369332"/>
          </a:xfrm>
          <a:prstGeom prst="rect">
            <a:avLst/>
          </a:prstGeom>
          <a:noFill/>
        </p:spPr>
        <p:txBody>
          <a:bodyPr wrap="square">
            <a:spAutoFit/>
          </a:bodyPr>
          <a:lstStyle/>
          <a:p>
            <a:pPr algn="ctr"/>
            <a:r>
              <a:rPr lang="en-US" altLang="zh-CN" b="1" dirty="0"/>
              <a:t>Page 9</a:t>
            </a:r>
            <a:endParaRPr lang="zh-CN" altLang="en-US" b="1" dirty="0"/>
          </a:p>
        </p:txBody>
      </p:sp>
      <p:sp>
        <p:nvSpPr>
          <p:cNvPr id="7" name="文本框 6">
            <a:extLst>
              <a:ext uri="{FF2B5EF4-FFF2-40B4-BE49-F238E27FC236}">
                <a16:creationId xmlns:a16="http://schemas.microsoft.com/office/drawing/2014/main" id="{FE3C4DC9-D5CB-6BA4-E591-A0F0A52E1CB8}"/>
              </a:ext>
            </a:extLst>
          </p:cNvPr>
          <p:cNvSpPr txBox="1"/>
          <p:nvPr/>
        </p:nvSpPr>
        <p:spPr>
          <a:xfrm>
            <a:off x="748143" y="-11771"/>
            <a:ext cx="2951354" cy="584775"/>
          </a:xfrm>
          <a:prstGeom prst="rect">
            <a:avLst/>
          </a:prstGeom>
          <a:noFill/>
        </p:spPr>
        <p:txBody>
          <a:bodyPr wrap="square" rtlCol="0">
            <a:spAutoFit/>
          </a:bodyPr>
          <a:lstStyle/>
          <a:p>
            <a:pPr algn="ctr"/>
            <a:r>
              <a:rPr lang="en-US" altLang="zh-CN" sz="3200" b="1" dirty="0">
                <a:latin typeface="High Tower Text" panose="02040502050506030303" pitchFamily="18" charset="0"/>
              </a:rPr>
              <a:t>Risk analysis</a:t>
            </a:r>
            <a:endParaRPr lang="zh-CN" altLang="en-US" sz="3200" b="1" dirty="0">
              <a:latin typeface="High Tower Text" panose="02040502050506030303" pitchFamily="18" charset="0"/>
            </a:endParaRPr>
          </a:p>
        </p:txBody>
      </p:sp>
      <p:pic>
        <p:nvPicPr>
          <p:cNvPr id="6" name="图片 5">
            <a:extLst>
              <a:ext uri="{FF2B5EF4-FFF2-40B4-BE49-F238E27FC236}">
                <a16:creationId xmlns:a16="http://schemas.microsoft.com/office/drawing/2014/main" id="{CC2C409C-EA6D-A75E-2B05-B603C7A403EA}"/>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547811" y="3689842"/>
            <a:ext cx="5548189" cy="2331268"/>
          </a:xfrm>
          <a:prstGeom prst="rect">
            <a:avLst/>
          </a:prstGeom>
        </p:spPr>
      </p:pic>
      <p:pic>
        <p:nvPicPr>
          <p:cNvPr id="9" name="图片 8">
            <a:extLst>
              <a:ext uri="{FF2B5EF4-FFF2-40B4-BE49-F238E27FC236}">
                <a16:creationId xmlns:a16="http://schemas.microsoft.com/office/drawing/2014/main" id="{62A1EE93-8103-F237-0A4E-16817D72F6D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655226" y="3569676"/>
            <a:ext cx="5127589" cy="2463105"/>
          </a:xfrm>
          <a:prstGeom prst="rect">
            <a:avLst/>
          </a:prstGeom>
        </p:spPr>
      </p:pic>
      <p:sp>
        <p:nvSpPr>
          <p:cNvPr id="13" name="文本框 12">
            <a:extLst>
              <a:ext uri="{FF2B5EF4-FFF2-40B4-BE49-F238E27FC236}">
                <a16:creationId xmlns:a16="http://schemas.microsoft.com/office/drawing/2014/main" id="{CAA0E127-615B-2539-0B5F-FD115C8F66D5}"/>
              </a:ext>
            </a:extLst>
          </p:cNvPr>
          <p:cNvSpPr txBox="1"/>
          <p:nvPr/>
        </p:nvSpPr>
        <p:spPr>
          <a:xfrm>
            <a:off x="409185" y="948666"/>
            <a:ext cx="6189044" cy="295465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Based on the dataset analysis, we will provide reference data for user financial risk analysis. To assist decision-makers, we have developed an online </a:t>
            </a:r>
            <a:r>
              <a:rPr lang="en-US" altLang="zh-CN" sz="2400" b="1" dirty="0">
                <a:latin typeface="Times New Roman" panose="02020603050405020304" pitchFamily="18" charset="0"/>
                <a:cs typeface="Times New Roman" panose="02020603050405020304" pitchFamily="18" charset="0"/>
              </a:rPr>
              <a:t>risk analysis dashboard</a:t>
            </a:r>
            <a:r>
              <a:rPr lang="en-US" altLang="zh-CN" sz="2400" dirty="0">
                <a:latin typeface="Times New Roman" panose="02020603050405020304" pitchFamily="18" charset="0"/>
                <a:cs typeface="Times New Roman" panose="02020603050405020304" pitchFamily="18" charset="0"/>
              </a:rPr>
              <a:t> that quickly identifies low-risk users and focuses on potential risks based on the latest assessment data.</a:t>
            </a:r>
          </a:p>
          <a:p>
            <a:r>
              <a:rPr lang="en-US" altLang="zh-CN" sz="2400" u="sng" dirty="0">
                <a:solidFill>
                  <a:srgbClr val="0070C0"/>
                </a:solidFill>
                <a:latin typeface="Times New Roman" panose="02020603050405020304" pitchFamily="18" charset="0"/>
                <a:cs typeface="Times New Roman" panose="02020603050405020304" pitchFamily="18" charset="0"/>
              </a:rPr>
              <a:t>https://shuangboxu.github.io/bigdata_project/</a:t>
            </a:r>
          </a:p>
          <a:p>
            <a:pPr lvl="0" eaLnBrk="0" fontAlgn="base" hangingPunct="0">
              <a:spcBef>
                <a:spcPct val="0"/>
              </a:spcBef>
              <a:spcAft>
                <a:spcPct val="0"/>
              </a:spcAft>
            </a:pPr>
            <a:endParaRPr lang="zh-CN" altLang="zh-CN" dirty="0">
              <a:latin typeface="Arial" panose="020B0604020202020204" pitchFamily="34" charset="0"/>
            </a:endParaRPr>
          </a:p>
        </p:txBody>
      </p:sp>
      <p:pic>
        <p:nvPicPr>
          <p:cNvPr id="11" name="图片 10">
            <a:extLst>
              <a:ext uri="{FF2B5EF4-FFF2-40B4-BE49-F238E27FC236}">
                <a16:creationId xmlns:a16="http://schemas.microsoft.com/office/drawing/2014/main" id="{94EC04A7-7440-8C47-7741-FC1902F4B92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47811" y="3721785"/>
            <a:ext cx="5548189" cy="2331268"/>
          </a:xfrm>
          <a:prstGeom prst="rect">
            <a:avLst/>
          </a:prstGeom>
        </p:spPr>
      </p:pic>
      <p:pic>
        <p:nvPicPr>
          <p:cNvPr id="14" name="图片 13">
            <a:extLst>
              <a:ext uri="{FF2B5EF4-FFF2-40B4-BE49-F238E27FC236}">
                <a16:creationId xmlns:a16="http://schemas.microsoft.com/office/drawing/2014/main" id="{E46B06E1-8CB8-DC05-E73E-9AB1880FEC63}"/>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655226" y="1059812"/>
            <a:ext cx="5127589" cy="2354011"/>
          </a:xfrm>
          <a:prstGeom prst="rect">
            <a:avLst/>
          </a:prstGeom>
        </p:spPr>
      </p:pic>
      <p:pic>
        <p:nvPicPr>
          <p:cNvPr id="16" name="图片 15">
            <a:extLst>
              <a:ext uri="{FF2B5EF4-FFF2-40B4-BE49-F238E27FC236}">
                <a16:creationId xmlns:a16="http://schemas.microsoft.com/office/drawing/2014/main" id="{52D4353C-DF2D-244F-1B31-3E3835042B2C}"/>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6655258" y="3569676"/>
            <a:ext cx="5099839" cy="2392327"/>
          </a:xfrm>
          <a:prstGeom prst="rect">
            <a:avLst/>
          </a:prstGeom>
        </p:spPr>
      </p:pic>
      <p:sp>
        <p:nvSpPr>
          <p:cNvPr id="17" name="矩形 16">
            <a:extLst>
              <a:ext uri="{FF2B5EF4-FFF2-40B4-BE49-F238E27FC236}">
                <a16:creationId xmlns:a16="http://schemas.microsoft.com/office/drawing/2014/main" id="{E1A5AC40-0941-2554-699C-0E256DF4DB93}"/>
              </a:ext>
            </a:extLst>
          </p:cNvPr>
          <p:cNvSpPr/>
          <p:nvPr/>
        </p:nvSpPr>
        <p:spPr>
          <a:xfrm>
            <a:off x="6331025" y="72962"/>
            <a:ext cx="5748304" cy="830997"/>
          </a:xfrm>
          <a:prstGeom prst="rect">
            <a:avLst/>
          </a:prstGeom>
          <a:noFill/>
        </p:spPr>
        <p:txBody>
          <a:bodyPr wrap="none" lIns="91440" tIns="45720" rIns="91440" bIns="45720">
            <a:spAutoFit/>
          </a:bodyPr>
          <a:lstStyle/>
          <a:p>
            <a:pPr algn="ctr"/>
            <a:r>
              <a:rPr lang="en-US" altLang="zh-CN" sz="4800" b="0" i="1" cap="none" spc="0" dirty="0">
                <a:ln w="0"/>
                <a:solidFill>
                  <a:srgbClr val="FFC000"/>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Interactive Dashboard</a:t>
            </a:r>
            <a:endParaRPr lang="zh-CN" altLang="en-US" sz="4800" b="0" i="1" cap="none" spc="0" dirty="0">
              <a:ln w="0"/>
              <a:solidFill>
                <a:srgbClr val="FFC000"/>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95530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Shape 1">
            <a:extLst>
              <a:ext uri="{FF2B5EF4-FFF2-40B4-BE49-F238E27FC236}">
                <a16:creationId xmlns:a16="http://schemas.microsoft.com/office/drawing/2014/main" id="{1B6827F4-4B08-9A97-E10F-30202BDB4561}"/>
              </a:ext>
            </a:extLst>
          </p:cNvPr>
          <p:cNvSpPr/>
          <p:nvPr/>
        </p:nvSpPr>
        <p:spPr>
          <a:xfrm>
            <a:off x="9274182" y="1262658"/>
            <a:ext cx="2094029" cy="1111717"/>
          </a:xfrm>
          <a:prstGeom prst="roundRect">
            <a:avLst>
              <a:gd name="adj" fmla="val 12500"/>
            </a:avLst>
          </a:prstGeom>
          <a:solidFill>
            <a:srgbClr val="F5F5F5"/>
          </a:solidFill>
          <a:ln w="12700">
            <a:solidFill>
              <a:srgbClr val="97B1DF"/>
            </a:solidFill>
            <a:prstDash val="solid"/>
          </a:ln>
        </p:spPr>
        <p:txBody>
          <a:bodyPr/>
          <a:lstStyle/>
          <a:p>
            <a:endParaRPr/>
          </a:p>
        </p:txBody>
      </p:sp>
      <p:sp>
        <p:nvSpPr>
          <p:cNvPr id="22" name="Shape 1">
            <a:extLst>
              <a:ext uri="{FF2B5EF4-FFF2-40B4-BE49-F238E27FC236}">
                <a16:creationId xmlns:a16="http://schemas.microsoft.com/office/drawing/2014/main" id="{50A643B1-0CB4-A487-D197-26D48C84E616}"/>
              </a:ext>
            </a:extLst>
          </p:cNvPr>
          <p:cNvSpPr/>
          <p:nvPr/>
        </p:nvSpPr>
        <p:spPr>
          <a:xfrm>
            <a:off x="6517108" y="1262658"/>
            <a:ext cx="2094029" cy="1111717"/>
          </a:xfrm>
          <a:prstGeom prst="roundRect">
            <a:avLst>
              <a:gd name="adj" fmla="val 12500"/>
            </a:avLst>
          </a:prstGeom>
          <a:solidFill>
            <a:srgbClr val="F5F5F5"/>
          </a:solidFill>
          <a:ln w="12700">
            <a:solidFill>
              <a:srgbClr val="97B1DF"/>
            </a:solidFill>
            <a:prstDash val="solid"/>
          </a:ln>
        </p:spPr>
        <p:txBody>
          <a:bodyPr/>
          <a:lstStyle/>
          <a:p>
            <a:endParaRPr/>
          </a:p>
        </p:txBody>
      </p:sp>
      <p:sp>
        <p:nvSpPr>
          <p:cNvPr id="2" name="矩形: 单圆角 1">
            <a:extLst>
              <a:ext uri="{FF2B5EF4-FFF2-40B4-BE49-F238E27FC236}">
                <a16:creationId xmlns:a16="http://schemas.microsoft.com/office/drawing/2014/main" id="{61C6AEF4-9731-C631-866C-EAC365783AC1}"/>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AD8AE798-126F-5ECA-5668-A399531007C1}"/>
              </a:ext>
            </a:extLst>
          </p:cNvPr>
          <p:cNvSpPr txBox="1"/>
          <p:nvPr/>
        </p:nvSpPr>
        <p:spPr>
          <a:xfrm>
            <a:off x="9321800" y="6359979"/>
            <a:ext cx="2208893" cy="369332"/>
          </a:xfrm>
          <a:prstGeom prst="rect">
            <a:avLst/>
          </a:prstGeom>
          <a:noFill/>
        </p:spPr>
        <p:txBody>
          <a:bodyPr wrap="square" rtlCol="0">
            <a:spAutoFit/>
          </a:bodyPr>
          <a:lstStyle/>
          <a:p>
            <a:r>
              <a:rPr lang="en-US" altLang="zh-CN" dirty="0"/>
              <a:t>Final Project Report</a:t>
            </a:r>
            <a:endParaRPr lang="zh-CN" altLang="en-US" dirty="0"/>
          </a:p>
        </p:txBody>
      </p:sp>
      <p:sp>
        <p:nvSpPr>
          <p:cNvPr id="4" name="文本框 3">
            <a:extLst>
              <a:ext uri="{FF2B5EF4-FFF2-40B4-BE49-F238E27FC236}">
                <a16:creationId xmlns:a16="http://schemas.microsoft.com/office/drawing/2014/main" id="{74B9F4A0-00FB-763B-50B5-2E4BE9CF5DFA}"/>
              </a:ext>
            </a:extLst>
          </p:cNvPr>
          <p:cNvSpPr txBox="1"/>
          <p:nvPr/>
        </p:nvSpPr>
        <p:spPr>
          <a:xfrm>
            <a:off x="416966" y="6332815"/>
            <a:ext cx="2727779"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Agent Workflow</a:t>
            </a:r>
            <a:endParaRPr lang="zh-CN" altLang="en-US" dirty="0">
              <a:effectLst>
                <a:outerShdw blurRad="38100" dist="38100" dir="2700000" algn="tl">
                  <a:srgbClr val="000000">
                    <a:alpha val="43137"/>
                  </a:srgbClr>
                </a:outerShdw>
              </a:effectLst>
            </a:endParaRPr>
          </a:p>
        </p:txBody>
      </p:sp>
      <p:sp>
        <p:nvSpPr>
          <p:cNvPr id="5" name="矩形: 圆顶角 4">
            <a:extLst>
              <a:ext uri="{FF2B5EF4-FFF2-40B4-BE49-F238E27FC236}">
                <a16:creationId xmlns:a16="http://schemas.microsoft.com/office/drawing/2014/main" id="{4FDED339-78ED-0D99-1503-41FD6C438986}"/>
              </a:ext>
            </a:extLst>
          </p:cNvPr>
          <p:cNvSpPr/>
          <p:nvPr/>
        </p:nvSpPr>
        <p:spPr>
          <a:xfrm rot="10800000">
            <a:off x="416966" y="17270"/>
            <a:ext cx="3613708"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D1972C3-68FE-AEC3-82E0-08B445CB9AA4}"/>
              </a:ext>
            </a:extLst>
          </p:cNvPr>
          <p:cNvSpPr txBox="1"/>
          <p:nvPr/>
        </p:nvSpPr>
        <p:spPr>
          <a:xfrm>
            <a:off x="416966" y="-13596"/>
            <a:ext cx="3613708" cy="584775"/>
          </a:xfrm>
          <a:prstGeom prst="rect">
            <a:avLst/>
          </a:prstGeom>
          <a:noFill/>
        </p:spPr>
        <p:txBody>
          <a:bodyPr wrap="square" rtlCol="0">
            <a:spAutoFit/>
          </a:bodyPr>
          <a:lstStyle/>
          <a:p>
            <a:pPr algn="ctr"/>
            <a:r>
              <a:rPr lang="en-US" altLang="zh-CN" sz="3200" b="1" dirty="0">
                <a:latin typeface="High Tower Text" panose="02040502050506030303" pitchFamily="18" charset="0"/>
                <a:cs typeface="Times New Roman" panose="02020603050405020304" pitchFamily="18" charset="0"/>
              </a:rPr>
              <a:t>Agent Workflow</a:t>
            </a:r>
            <a:endParaRPr lang="zh-CN" altLang="en-US" sz="2000" b="1" dirty="0">
              <a:latin typeface="High Tower Text" panose="02040502050506030303" pitchFamily="18" charset="0"/>
            </a:endParaRPr>
          </a:p>
        </p:txBody>
      </p:sp>
      <p:sp>
        <p:nvSpPr>
          <p:cNvPr id="9" name="Shape 1">
            <a:extLst>
              <a:ext uri="{FF2B5EF4-FFF2-40B4-BE49-F238E27FC236}">
                <a16:creationId xmlns:a16="http://schemas.microsoft.com/office/drawing/2014/main" id="{2DA7F5FC-B4BC-CF6D-DA5B-ECF81F8301B8}"/>
              </a:ext>
            </a:extLst>
          </p:cNvPr>
          <p:cNvSpPr/>
          <p:nvPr/>
        </p:nvSpPr>
        <p:spPr>
          <a:xfrm>
            <a:off x="954048" y="1262658"/>
            <a:ext cx="2094029" cy="1111717"/>
          </a:xfrm>
          <a:prstGeom prst="roundRect">
            <a:avLst>
              <a:gd name="adj" fmla="val 12500"/>
            </a:avLst>
          </a:prstGeom>
          <a:solidFill>
            <a:srgbClr val="F5F5F5"/>
          </a:solidFill>
          <a:ln w="12700">
            <a:solidFill>
              <a:srgbClr val="97B1DF"/>
            </a:solidFill>
            <a:prstDash val="solid"/>
          </a:ln>
        </p:spPr>
        <p:txBody>
          <a:bodyPr/>
          <a:lstStyle/>
          <a:p>
            <a:endParaRPr/>
          </a:p>
        </p:txBody>
      </p:sp>
      <p:sp>
        <p:nvSpPr>
          <p:cNvPr id="10" name="Text 2">
            <a:extLst>
              <a:ext uri="{FF2B5EF4-FFF2-40B4-BE49-F238E27FC236}">
                <a16:creationId xmlns:a16="http://schemas.microsoft.com/office/drawing/2014/main" id="{158CFA66-5D33-588F-B0A3-3E43E87004F0}"/>
              </a:ext>
            </a:extLst>
          </p:cNvPr>
          <p:cNvSpPr/>
          <p:nvPr/>
        </p:nvSpPr>
        <p:spPr>
          <a:xfrm>
            <a:off x="1253515" y="1416317"/>
            <a:ext cx="1463040" cy="731520"/>
          </a:xfrm>
          <a:prstGeom prst="rect">
            <a:avLst/>
          </a:prstGeom>
          <a:noFill/>
          <a:ln/>
        </p:spPr>
        <p:txBody>
          <a:bodyPr wrap="square" rtlCol="0" anchor="ctr"/>
          <a:lstStyle/>
          <a:p>
            <a:pPr marL="0" indent="0" algn="ctr">
              <a:buNone/>
            </a:pPr>
            <a:r>
              <a:rPr lang="en-US" sz="1600" b="1" dirty="0">
                <a:solidFill>
                  <a:srgbClr val="030A18"/>
                </a:solidFill>
                <a:latin typeface="Eras Demi ITC" panose="020B0805030504020804" pitchFamily="34" charset="0"/>
              </a:rPr>
              <a:t>Planner
Plan tasks</a:t>
            </a:r>
            <a:endParaRPr lang="en-US" sz="1600" b="1" dirty="0">
              <a:latin typeface="Eras Demi ITC" panose="020B0805030504020804" pitchFamily="34" charset="0"/>
            </a:endParaRPr>
          </a:p>
        </p:txBody>
      </p:sp>
      <p:sp>
        <p:nvSpPr>
          <p:cNvPr id="11" name="Shape 3">
            <a:extLst>
              <a:ext uri="{FF2B5EF4-FFF2-40B4-BE49-F238E27FC236}">
                <a16:creationId xmlns:a16="http://schemas.microsoft.com/office/drawing/2014/main" id="{3CA8472D-6A89-1954-2F59-40F98BA145EF}"/>
              </a:ext>
            </a:extLst>
          </p:cNvPr>
          <p:cNvSpPr/>
          <p:nvPr/>
        </p:nvSpPr>
        <p:spPr>
          <a:xfrm>
            <a:off x="3048077" y="1722799"/>
            <a:ext cx="687501" cy="271380"/>
          </a:xfrm>
          <a:prstGeom prst="rightArrow">
            <a:avLst/>
          </a:prstGeom>
          <a:solidFill>
            <a:srgbClr val="97B1DF"/>
          </a:solidFill>
          <a:ln w="12700">
            <a:solidFill>
              <a:srgbClr val="97B1DF"/>
            </a:solidFill>
            <a:prstDash val="solid"/>
          </a:ln>
        </p:spPr>
        <p:txBody>
          <a:bodyPr/>
          <a:lstStyle/>
          <a:p>
            <a:endParaRPr/>
          </a:p>
        </p:txBody>
      </p:sp>
      <p:sp>
        <p:nvSpPr>
          <p:cNvPr id="16" name="Text 8">
            <a:extLst>
              <a:ext uri="{FF2B5EF4-FFF2-40B4-BE49-F238E27FC236}">
                <a16:creationId xmlns:a16="http://schemas.microsoft.com/office/drawing/2014/main" id="{AEA16FAB-4F0F-45E6-5C37-FCA73473FA20}"/>
              </a:ext>
            </a:extLst>
          </p:cNvPr>
          <p:cNvSpPr/>
          <p:nvPr/>
        </p:nvSpPr>
        <p:spPr>
          <a:xfrm>
            <a:off x="6705984" y="1452756"/>
            <a:ext cx="1716277" cy="731520"/>
          </a:xfrm>
          <a:prstGeom prst="rect">
            <a:avLst/>
          </a:prstGeom>
          <a:noFill/>
          <a:ln/>
        </p:spPr>
        <p:txBody>
          <a:bodyPr wrap="square" rtlCol="0" anchor="ctr"/>
          <a:lstStyle/>
          <a:p>
            <a:pPr marL="0" indent="0" algn="ctr">
              <a:buNone/>
            </a:pPr>
            <a:r>
              <a:rPr lang="en-US" sz="1600" b="1" dirty="0">
                <a:solidFill>
                  <a:srgbClr val="030A18"/>
                </a:solidFill>
                <a:latin typeface="Eras Demi ITC" panose="020B0805030504020804" pitchFamily="34" charset="0"/>
              </a:rPr>
              <a:t>Visualizer
Generate plots</a:t>
            </a:r>
          </a:p>
        </p:txBody>
      </p:sp>
      <p:sp>
        <p:nvSpPr>
          <p:cNvPr id="19" name="Text 11">
            <a:extLst>
              <a:ext uri="{FF2B5EF4-FFF2-40B4-BE49-F238E27FC236}">
                <a16:creationId xmlns:a16="http://schemas.microsoft.com/office/drawing/2014/main" id="{751FB3CA-D030-4D4A-5E81-F8A3BCB3A273}"/>
              </a:ext>
            </a:extLst>
          </p:cNvPr>
          <p:cNvSpPr/>
          <p:nvPr/>
        </p:nvSpPr>
        <p:spPr>
          <a:xfrm>
            <a:off x="9479272" y="1452756"/>
            <a:ext cx="1683848" cy="725637"/>
          </a:xfrm>
          <a:prstGeom prst="rect">
            <a:avLst/>
          </a:prstGeom>
          <a:noFill/>
          <a:ln/>
        </p:spPr>
        <p:txBody>
          <a:bodyPr wrap="square" rtlCol="0" anchor="ctr"/>
          <a:lstStyle/>
          <a:p>
            <a:pPr marL="0" indent="0" algn="ctr">
              <a:buNone/>
            </a:pPr>
            <a:r>
              <a:rPr lang="en-US" sz="1600" b="1" dirty="0">
                <a:solidFill>
                  <a:srgbClr val="030A18"/>
                </a:solidFill>
                <a:latin typeface="Eras Demi ITC" panose="020B0805030504020804" pitchFamily="34" charset="0"/>
              </a:rPr>
              <a:t>Reporter
Compile report</a:t>
            </a:r>
          </a:p>
        </p:txBody>
      </p:sp>
      <p:sp>
        <p:nvSpPr>
          <p:cNvPr id="20" name="Shape 1">
            <a:extLst>
              <a:ext uri="{FF2B5EF4-FFF2-40B4-BE49-F238E27FC236}">
                <a16:creationId xmlns:a16="http://schemas.microsoft.com/office/drawing/2014/main" id="{9042D564-63F1-266C-1EFD-5CEE50DD6B06}"/>
              </a:ext>
            </a:extLst>
          </p:cNvPr>
          <p:cNvSpPr/>
          <p:nvPr/>
        </p:nvSpPr>
        <p:spPr>
          <a:xfrm>
            <a:off x="3735578" y="1262658"/>
            <a:ext cx="2094029" cy="1111717"/>
          </a:xfrm>
          <a:prstGeom prst="roundRect">
            <a:avLst>
              <a:gd name="adj" fmla="val 12500"/>
            </a:avLst>
          </a:prstGeom>
          <a:solidFill>
            <a:srgbClr val="F5F5F5"/>
          </a:solidFill>
          <a:ln w="12700">
            <a:solidFill>
              <a:srgbClr val="97B1DF"/>
            </a:solidFill>
            <a:prstDash val="solid"/>
          </a:ln>
        </p:spPr>
        <p:txBody>
          <a:bodyPr/>
          <a:lstStyle/>
          <a:p>
            <a:endParaRPr dirty="0"/>
          </a:p>
        </p:txBody>
      </p:sp>
      <p:sp>
        <p:nvSpPr>
          <p:cNvPr id="21" name="Shape 3">
            <a:extLst>
              <a:ext uri="{FF2B5EF4-FFF2-40B4-BE49-F238E27FC236}">
                <a16:creationId xmlns:a16="http://schemas.microsoft.com/office/drawing/2014/main" id="{B5F61B0F-725D-AA32-FF03-F861748949F0}"/>
              </a:ext>
            </a:extLst>
          </p:cNvPr>
          <p:cNvSpPr/>
          <p:nvPr/>
        </p:nvSpPr>
        <p:spPr>
          <a:xfrm>
            <a:off x="5829607" y="1722799"/>
            <a:ext cx="687501" cy="271380"/>
          </a:xfrm>
          <a:prstGeom prst="rightArrow">
            <a:avLst/>
          </a:prstGeom>
          <a:solidFill>
            <a:srgbClr val="97B1DF"/>
          </a:solidFill>
          <a:ln w="12700">
            <a:solidFill>
              <a:srgbClr val="97B1DF"/>
            </a:solidFill>
            <a:prstDash val="solid"/>
          </a:ln>
        </p:spPr>
        <p:txBody>
          <a:bodyPr/>
          <a:lstStyle/>
          <a:p>
            <a:endParaRPr/>
          </a:p>
        </p:txBody>
      </p:sp>
      <p:sp>
        <p:nvSpPr>
          <p:cNvPr id="23" name="Shape 3">
            <a:extLst>
              <a:ext uri="{FF2B5EF4-FFF2-40B4-BE49-F238E27FC236}">
                <a16:creationId xmlns:a16="http://schemas.microsoft.com/office/drawing/2014/main" id="{9908088A-2E22-FA8D-D1A9-C85D59725D28}"/>
              </a:ext>
            </a:extLst>
          </p:cNvPr>
          <p:cNvSpPr/>
          <p:nvPr/>
        </p:nvSpPr>
        <p:spPr>
          <a:xfrm>
            <a:off x="8611137" y="1722799"/>
            <a:ext cx="687501" cy="271380"/>
          </a:xfrm>
          <a:prstGeom prst="rightArrow">
            <a:avLst/>
          </a:prstGeom>
          <a:solidFill>
            <a:srgbClr val="97B1DF"/>
          </a:solidFill>
          <a:ln w="12700">
            <a:solidFill>
              <a:srgbClr val="97B1DF"/>
            </a:solidFill>
            <a:prstDash val="solid"/>
          </a:ln>
        </p:spPr>
        <p:txBody>
          <a:bodyPr/>
          <a:lstStyle/>
          <a:p>
            <a:endParaRPr/>
          </a:p>
        </p:txBody>
      </p:sp>
      <p:sp>
        <p:nvSpPr>
          <p:cNvPr id="13" name="Text 5">
            <a:extLst>
              <a:ext uri="{FF2B5EF4-FFF2-40B4-BE49-F238E27FC236}">
                <a16:creationId xmlns:a16="http://schemas.microsoft.com/office/drawing/2014/main" id="{6BB61F64-831B-A925-3219-4F21FBCAD07F}"/>
              </a:ext>
            </a:extLst>
          </p:cNvPr>
          <p:cNvSpPr/>
          <p:nvPr/>
        </p:nvSpPr>
        <p:spPr>
          <a:xfrm>
            <a:off x="3792780" y="1452756"/>
            <a:ext cx="1979624" cy="731520"/>
          </a:xfrm>
          <a:prstGeom prst="rect">
            <a:avLst/>
          </a:prstGeom>
          <a:noFill/>
          <a:ln/>
        </p:spPr>
        <p:txBody>
          <a:bodyPr wrap="square" rtlCol="0" anchor="ctr"/>
          <a:lstStyle/>
          <a:p>
            <a:pPr algn="ctr"/>
            <a:r>
              <a:rPr lang="en-US" sz="1600" b="1" dirty="0">
                <a:solidFill>
                  <a:srgbClr val="030A18"/>
                </a:solidFill>
                <a:latin typeface="Eras Demi ITC" panose="020B0805030504020804" pitchFamily="34" charset="0"/>
              </a:rPr>
              <a:t>Executor</a:t>
            </a:r>
          </a:p>
          <a:p>
            <a:pPr algn="ctr"/>
            <a:r>
              <a:rPr lang="en-US" sz="1600" b="1" dirty="0">
                <a:solidFill>
                  <a:srgbClr val="030A18"/>
                </a:solidFill>
                <a:latin typeface="Eras Demi ITC" panose="020B0805030504020804" pitchFamily="34" charset="0"/>
              </a:rPr>
              <a:t>Train &amp; evaluate</a:t>
            </a:r>
          </a:p>
        </p:txBody>
      </p:sp>
      <p:sp>
        <p:nvSpPr>
          <p:cNvPr id="27" name="文本框 26">
            <a:extLst>
              <a:ext uri="{FF2B5EF4-FFF2-40B4-BE49-F238E27FC236}">
                <a16:creationId xmlns:a16="http://schemas.microsoft.com/office/drawing/2014/main" id="{60C7D304-1655-2BDC-C606-F39588BBCF71}"/>
              </a:ext>
            </a:extLst>
          </p:cNvPr>
          <p:cNvSpPr txBox="1"/>
          <p:nvPr/>
        </p:nvSpPr>
        <p:spPr>
          <a:xfrm>
            <a:off x="322663" y="2888278"/>
            <a:ext cx="7634375" cy="2908489"/>
          </a:xfrm>
          <a:prstGeom prst="rect">
            <a:avLst/>
          </a:prstGeom>
          <a:noFill/>
        </p:spPr>
        <p:txBody>
          <a:bodyPr wrap="square">
            <a:spAutoFit/>
          </a:bodyPr>
          <a:lstStyle/>
          <a:p>
            <a:pPr marL="0" indent="0">
              <a:spcAft>
                <a:spcPts val="600"/>
              </a:spcAft>
              <a:buNone/>
            </a:pPr>
            <a:r>
              <a:rPr lang="en-US" altLang="zh-CN" sz="2400" dirty="0">
                <a:solidFill>
                  <a:srgbClr val="030A18"/>
                </a:solidFill>
                <a:latin typeface="Times New Roman" panose="02020603050405020304" pitchFamily="18" charset="0"/>
                <a:ea typeface="Batang" panose="02030600000101010101" pitchFamily="18" charset="-127"/>
                <a:cs typeface="Times New Roman" panose="02020603050405020304" pitchFamily="18" charset="0"/>
              </a:rPr>
              <a:t>• Planner orchestrates data cleaning, modelling, </a:t>
            </a:r>
            <a:r>
              <a:rPr lang="en-US" altLang="zh-CN" sz="2400" dirty="0" err="1">
                <a:solidFill>
                  <a:srgbClr val="030A18"/>
                </a:solidFill>
                <a:latin typeface="Times New Roman" panose="02020603050405020304" pitchFamily="18" charset="0"/>
                <a:ea typeface="Batang" panose="02030600000101010101" pitchFamily="18" charset="-127"/>
                <a:cs typeface="Times New Roman" panose="02020603050405020304" pitchFamily="18" charset="0"/>
              </a:rPr>
              <a:t>visualisation</a:t>
            </a:r>
            <a:r>
              <a:rPr lang="en-US" altLang="zh-CN" sz="2400" dirty="0">
                <a:solidFill>
                  <a:srgbClr val="030A18"/>
                </a:solidFill>
                <a:latin typeface="Times New Roman" panose="02020603050405020304" pitchFamily="18" charset="0"/>
                <a:ea typeface="Batang" panose="02030600000101010101" pitchFamily="18" charset="-127"/>
                <a:cs typeface="Times New Roman" panose="02020603050405020304" pitchFamily="18" charset="0"/>
              </a:rPr>
              <a:t> &amp; report tasks.
• Executor trains models and returns metrics &amp; trained artefacts.
• Visualizer draws curves and charts for inclusion in reports.
• Reporter compiles Markdown report and can append LLM insights.</a:t>
            </a:r>
            <a:endParaRPr lang="en-US" altLang="zh-CN" sz="2400" dirty="0">
              <a:latin typeface="Times New Roman" panose="02020603050405020304" pitchFamily="18" charset="0"/>
              <a:ea typeface="Batang" panose="02030600000101010101" pitchFamily="18" charset="-127"/>
              <a:cs typeface="Times New Roman" panose="02020603050405020304" pitchFamily="18" charset="0"/>
            </a:endParaRPr>
          </a:p>
        </p:txBody>
      </p:sp>
      <p:sp>
        <p:nvSpPr>
          <p:cNvPr id="7" name="文本框 6">
            <a:extLst>
              <a:ext uri="{FF2B5EF4-FFF2-40B4-BE49-F238E27FC236}">
                <a16:creationId xmlns:a16="http://schemas.microsoft.com/office/drawing/2014/main" id="{8C723051-E516-2B35-9A47-A48394E82839}"/>
              </a:ext>
            </a:extLst>
          </p:cNvPr>
          <p:cNvSpPr txBox="1"/>
          <p:nvPr/>
        </p:nvSpPr>
        <p:spPr>
          <a:xfrm>
            <a:off x="2942924" y="6332815"/>
            <a:ext cx="6155356" cy="369332"/>
          </a:xfrm>
          <a:prstGeom prst="rect">
            <a:avLst/>
          </a:prstGeom>
          <a:noFill/>
        </p:spPr>
        <p:txBody>
          <a:bodyPr wrap="square">
            <a:spAutoFit/>
          </a:bodyPr>
          <a:lstStyle/>
          <a:p>
            <a:pPr algn="ctr"/>
            <a:r>
              <a:rPr lang="en-US" altLang="zh-CN" b="1" dirty="0"/>
              <a:t>Page 9</a:t>
            </a:r>
            <a:endParaRPr lang="zh-CN" altLang="en-US" b="1" dirty="0"/>
          </a:p>
        </p:txBody>
      </p:sp>
      <p:pic>
        <p:nvPicPr>
          <p:cNvPr id="12" name="图片 11">
            <a:extLst>
              <a:ext uri="{FF2B5EF4-FFF2-40B4-BE49-F238E27FC236}">
                <a16:creationId xmlns:a16="http://schemas.microsoft.com/office/drawing/2014/main" id="{54060224-AC2E-1148-E5B7-DDB63628F43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061856" y="2557391"/>
            <a:ext cx="3546210" cy="2533355"/>
          </a:xfrm>
          <a:prstGeom prst="rect">
            <a:avLst/>
          </a:prstGeom>
          <a:ln>
            <a:noFill/>
          </a:ln>
          <a:effectLst>
            <a:outerShdw blurRad="292100" dist="139700" dir="2700000" algn="tl" rotWithShape="0">
              <a:srgbClr val="333333">
                <a:alpha val="65000"/>
              </a:srgbClr>
            </a:outerShdw>
          </a:effectLst>
        </p:spPr>
      </p:pic>
      <p:sp>
        <p:nvSpPr>
          <p:cNvPr id="14" name="文本框 13">
            <a:extLst>
              <a:ext uri="{FF2B5EF4-FFF2-40B4-BE49-F238E27FC236}">
                <a16:creationId xmlns:a16="http://schemas.microsoft.com/office/drawing/2014/main" id="{040B0727-C8FA-5A14-F5C3-7E33C5E50F58}"/>
              </a:ext>
            </a:extLst>
          </p:cNvPr>
          <p:cNvSpPr txBox="1"/>
          <p:nvPr/>
        </p:nvSpPr>
        <p:spPr>
          <a:xfrm>
            <a:off x="9055816" y="5386700"/>
            <a:ext cx="2740859" cy="400110"/>
          </a:xfrm>
          <a:prstGeom prst="rect">
            <a:avLst/>
          </a:prstGeom>
          <a:noFill/>
        </p:spPr>
        <p:txBody>
          <a:bodyPr wrap="square" rtlCol="0">
            <a:spAutoFit/>
          </a:bodyPr>
          <a:lstStyle/>
          <a:p>
            <a:r>
              <a:rPr lang="en-US" altLang="zh-CN" sz="2000" i="1" dirty="0">
                <a:latin typeface="Times New Roman" panose="02020603050405020304" pitchFamily="18" charset="0"/>
                <a:cs typeface="Times New Roman" panose="02020603050405020304" pitchFamily="18" charset="0"/>
              </a:rPr>
              <a:t>LLM insight</a:t>
            </a:r>
            <a:endParaRPr lang="zh-CN" altLang="en-US" sz="2000" i="1" dirty="0">
              <a:latin typeface="Times New Roman" panose="02020603050405020304" pitchFamily="18" charset="0"/>
              <a:cs typeface="Times New Roman" panose="02020603050405020304" pitchFamily="18" charset="0"/>
            </a:endParaRPr>
          </a:p>
        </p:txBody>
      </p:sp>
      <p:sp>
        <p:nvSpPr>
          <p:cNvPr id="15" name="矩形 14">
            <a:extLst>
              <a:ext uri="{FF2B5EF4-FFF2-40B4-BE49-F238E27FC236}">
                <a16:creationId xmlns:a16="http://schemas.microsoft.com/office/drawing/2014/main" id="{19983B2E-DF1B-3992-1176-13CA43156E94}"/>
              </a:ext>
            </a:extLst>
          </p:cNvPr>
          <p:cNvSpPr/>
          <p:nvPr/>
        </p:nvSpPr>
        <p:spPr>
          <a:xfrm>
            <a:off x="6602320" y="57722"/>
            <a:ext cx="4705134" cy="923330"/>
          </a:xfrm>
          <a:prstGeom prst="rect">
            <a:avLst/>
          </a:prstGeom>
          <a:noFill/>
        </p:spPr>
        <p:txBody>
          <a:bodyPr wrap="none" lIns="91440" tIns="45720" rIns="91440" bIns="45720">
            <a:spAutoFit/>
          </a:bodyPr>
          <a:lstStyle/>
          <a:p>
            <a:pPr algn="ctr"/>
            <a:r>
              <a:rPr lang="en-US" altLang="zh-CN" sz="5400" b="0" i="1" cap="none" spc="0" dirty="0">
                <a:ln w="0"/>
                <a:solidFill>
                  <a:srgbClr val="FFC000"/>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Reusable design</a:t>
            </a:r>
            <a:endParaRPr lang="zh-CN" altLang="en-US" sz="5400" b="0" i="1" cap="none" spc="0" dirty="0">
              <a:ln w="0"/>
              <a:solidFill>
                <a:srgbClr val="FFC000"/>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58906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单圆角 1">
            <a:extLst>
              <a:ext uri="{FF2B5EF4-FFF2-40B4-BE49-F238E27FC236}">
                <a16:creationId xmlns:a16="http://schemas.microsoft.com/office/drawing/2014/main" id="{056A3167-407A-7201-82D4-0A1A1B3A94C4}"/>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F252CB4C-7D9B-3098-89D2-778ACF9BA010}"/>
              </a:ext>
            </a:extLst>
          </p:cNvPr>
          <p:cNvSpPr txBox="1"/>
          <p:nvPr/>
        </p:nvSpPr>
        <p:spPr>
          <a:xfrm>
            <a:off x="9321800" y="6359979"/>
            <a:ext cx="2208893" cy="369332"/>
          </a:xfrm>
          <a:prstGeom prst="rect">
            <a:avLst/>
          </a:prstGeom>
          <a:noFill/>
        </p:spPr>
        <p:txBody>
          <a:bodyPr wrap="square" rtlCol="0">
            <a:spAutoFit/>
          </a:bodyPr>
          <a:lstStyle/>
          <a:p>
            <a:r>
              <a:rPr lang="en-US" altLang="zh-CN" dirty="0"/>
              <a:t>Final Project Report</a:t>
            </a:r>
            <a:endParaRPr lang="zh-CN" altLang="en-US" dirty="0"/>
          </a:p>
        </p:txBody>
      </p:sp>
      <p:sp>
        <p:nvSpPr>
          <p:cNvPr id="4" name="文本框 3">
            <a:extLst>
              <a:ext uri="{FF2B5EF4-FFF2-40B4-BE49-F238E27FC236}">
                <a16:creationId xmlns:a16="http://schemas.microsoft.com/office/drawing/2014/main" id="{CD852EB8-EFF9-E83A-C647-7E521AE388EE}"/>
              </a:ext>
            </a:extLst>
          </p:cNvPr>
          <p:cNvSpPr txBox="1"/>
          <p:nvPr/>
        </p:nvSpPr>
        <p:spPr>
          <a:xfrm>
            <a:off x="416966" y="6332815"/>
            <a:ext cx="2727779"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Roles &amp; Progress</a:t>
            </a:r>
            <a:endParaRPr lang="zh-CN" altLang="en-US" dirty="0">
              <a:effectLst>
                <a:outerShdw blurRad="38100" dist="38100" dir="2700000" algn="tl">
                  <a:srgbClr val="000000">
                    <a:alpha val="43137"/>
                  </a:srgbClr>
                </a:outerShdw>
              </a:effectLst>
            </a:endParaRPr>
          </a:p>
        </p:txBody>
      </p:sp>
      <p:sp>
        <p:nvSpPr>
          <p:cNvPr id="5" name="矩形: 圆顶角 4">
            <a:extLst>
              <a:ext uri="{FF2B5EF4-FFF2-40B4-BE49-F238E27FC236}">
                <a16:creationId xmlns:a16="http://schemas.microsoft.com/office/drawing/2014/main" id="{5D0279FF-BB52-02E0-61BA-1E21E4BC610E}"/>
              </a:ext>
            </a:extLst>
          </p:cNvPr>
          <p:cNvSpPr/>
          <p:nvPr/>
        </p:nvSpPr>
        <p:spPr>
          <a:xfrm rot="10800000">
            <a:off x="416966" y="17270"/>
            <a:ext cx="3613708"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F993C0-1255-5C7A-57D6-B8500C8204EB}"/>
              </a:ext>
            </a:extLst>
          </p:cNvPr>
          <p:cNvSpPr txBox="1"/>
          <p:nvPr/>
        </p:nvSpPr>
        <p:spPr>
          <a:xfrm>
            <a:off x="416966" y="-13596"/>
            <a:ext cx="3613708" cy="584775"/>
          </a:xfrm>
          <a:prstGeom prst="rect">
            <a:avLst/>
          </a:prstGeom>
          <a:noFill/>
        </p:spPr>
        <p:txBody>
          <a:bodyPr wrap="square" rtlCol="0">
            <a:spAutoFit/>
          </a:bodyPr>
          <a:lstStyle/>
          <a:p>
            <a:pPr algn="ctr"/>
            <a:r>
              <a:rPr lang="en-US" altLang="zh-CN" sz="3200" b="1" dirty="0">
                <a:latin typeface="High Tower Text" panose="02040502050506030303" pitchFamily="18" charset="0"/>
                <a:cs typeface="Times New Roman" panose="02020603050405020304" pitchFamily="18" charset="0"/>
              </a:rPr>
              <a:t>Roles</a:t>
            </a:r>
            <a:endParaRPr lang="zh-CN" altLang="en-US" sz="2000" b="1" dirty="0">
              <a:latin typeface="High Tower Text" panose="02040502050506030303" pitchFamily="18" charset="0"/>
            </a:endParaRPr>
          </a:p>
        </p:txBody>
      </p:sp>
      <p:sp>
        <p:nvSpPr>
          <p:cNvPr id="14" name="文本框 13">
            <a:extLst>
              <a:ext uri="{FF2B5EF4-FFF2-40B4-BE49-F238E27FC236}">
                <a16:creationId xmlns:a16="http://schemas.microsoft.com/office/drawing/2014/main" id="{8707B5A0-B11D-D7C2-5343-44852EF15F0A}"/>
              </a:ext>
            </a:extLst>
          </p:cNvPr>
          <p:cNvSpPr txBox="1"/>
          <p:nvPr/>
        </p:nvSpPr>
        <p:spPr>
          <a:xfrm>
            <a:off x="2942924" y="6332815"/>
            <a:ext cx="6155356" cy="369332"/>
          </a:xfrm>
          <a:prstGeom prst="rect">
            <a:avLst/>
          </a:prstGeom>
          <a:noFill/>
        </p:spPr>
        <p:txBody>
          <a:bodyPr wrap="square">
            <a:spAutoFit/>
          </a:bodyPr>
          <a:lstStyle/>
          <a:p>
            <a:pPr algn="ctr"/>
            <a:r>
              <a:rPr lang="en-US" altLang="zh-CN" b="1" dirty="0"/>
              <a:t>Page 10</a:t>
            </a:r>
            <a:endParaRPr lang="zh-CN" altLang="en-US" b="1" dirty="0"/>
          </a:p>
        </p:txBody>
      </p:sp>
      <p:graphicFrame>
        <p:nvGraphicFramePr>
          <p:cNvPr id="7" name="Table 2">
            <a:extLst>
              <a:ext uri="{FF2B5EF4-FFF2-40B4-BE49-F238E27FC236}">
                <a16:creationId xmlns:a16="http://schemas.microsoft.com/office/drawing/2014/main" id="{BEB40D69-3299-A8BD-FE83-A55BF721265D}"/>
              </a:ext>
            </a:extLst>
          </p:cNvPr>
          <p:cNvGraphicFramePr>
            <a:graphicFrameLocks noGrp="1"/>
          </p:cNvGraphicFramePr>
          <p:nvPr>
            <p:extLst>
              <p:ext uri="{D42A27DB-BD31-4B8C-83A1-F6EECF244321}">
                <p14:modId xmlns:p14="http://schemas.microsoft.com/office/powerpoint/2010/main" val="2155577633"/>
              </p:ext>
            </p:extLst>
          </p:nvPr>
        </p:nvGraphicFramePr>
        <p:xfrm>
          <a:off x="107144" y="1428960"/>
          <a:ext cx="6552000" cy="3957395"/>
        </p:xfrm>
        <a:graphic>
          <a:graphicData uri="http://schemas.openxmlformats.org/drawingml/2006/table">
            <a:tbl>
              <a:tblPr firstRow="1" bandRow="1">
                <a:tableStyleId>{5C22544A-7EE6-4342-B048-85BDC9FD1C3A}</a:tableStyleId>
              </a:tblPr>
              <a:tblGrid>
                <a:gridCol w="1656000">
                  <a:extLst>
                    <a:ext uri="{9D8B030D-6E8A-4147-A177-3AD203B41FA5}">
                      <a16:colId xmlns:a16="http://schemas.microsoft.com/office/drawing/2014/main" val="20000"/>
                    </a:ext>
                  </a:extLst>
                </a:gridCol>
                <a:gridCol w="4896000">
                  <a:extLst>
                    <a:ext uri="{9D8B030D-6E8A-4147-A177-3AD203B41FA5}">
                      <a16:colId xmlns:a16="http://schemas.microsoft.com/office/drawing/2014/main" val="20001"/>
                    </a:ext>
                  </a:extLst>
                </a:gridCol>
              </a:tblGrid>
              <a:tr h="576000">
                <a:tc>
                  <a:txBody>
                    <a:bodyPr/>
                    <a:lstStyle/>
                    <a:p>
                      <a:pPr marL="0" indent="0" algn="ctr">
                        <a:buFont typeface="Arial" panose="020B0604020202020204" pitchFamily="34" charset="0"/>
                        <a:buNone/>
                      </a:pPr>
                      <a:r>
                        <a:rPr lang="en-US" sz="2200" b="1" dirty="0">
                          <a:solidFill>
                            <a:srgbClr val="7030A0"/>
                          </a:solidFill>
                          <a:latin typeface="Times New Roman" panose="02020603050405020304" pitchFamily="18" charset="0"/>
                          <a:cs typeface="Times New Roman" panose="02020603050405020304" pitchFamily="18" charset="0"/>
                        </a:rPr>
                        <a:t>Members</a:t>
                      </a:r>
                      <a:endParaRPr sz="2200" b="1" dirty="0">
                        <a:solidFill>
                          <a:srgbClr val="7030A0"/>
                        </a:solidFill>
                        <a:latin typeface="Times New Roman" panose="02020603050405020304" pitchFamily="18" charset="0"/>
                        <a:cs typeface="Times New Roman" panose="02020603050405020304" pitchFamily="18" charset="0"/>
                      </a:endParaRPr>
                    </a:p>
                  </a:txBody>
                  <a:tcPr marL="137160" marR="137160" marT="91440" marB="91440" anchor="ctr">
                    <a:solidFill>
                      <a:srgbClr val="F0F2FF"/>
                    </a:solidFill>
                  </a:tcPr>
                </a:tc>
                <a:tc>
                  <a:txBody>
                    <a:bodyPr/>
                    <a:lstStyle/>
                    <a:p>
                      <a:pPr marL="0" indent="0" algn="ctr" defTabSz="914400" rtl="0" eaLnBrk="1" latinLnBrk="0" hangingPunct="1">
                        <a:buFont typeface="Arial" panose="020B0604020202020204" pitchFamily="34" charset="0"/>
                        <a:buNone/>
                      </a:pPr>
                      <a:r>
                        <a:rPr lang="en-US" altLang="zh-CN" sz="2200" b="1" kern="1200" dirty="0">
                          <a:solidFill>
                            <a:srgbClr val="7030A0"/>
                          </a:solidFill>
                          <a:latin typeface="Times New Roman" panose="02020603050405020304" pitchFamily="18" charset="0"/>
                          <a:ea typeface="+mn-ea"/>
                          <a:cs typeface="Times New Roman" panose="02020603050405020304" pitchFamily="18" charset="0"/>
                        </a:rPr>
                        <a:t>Responsibilities</a:t>
                      </a:r>
                    </a:p>
                  </a:txBody>
                  <a:tcPr marL="137160" marR="137160" marT="91440" marB="91440" anchor="ctr">
                    <a:solidFill>
                      <a:srgbClr val="FAFAFC"/>
                    </a:solidFill>
                  </a:tcPr>
                </a:tc>
                <a:extLst>
                  <a:ext uri="{0D108BD9-81ED-4DB2-BD59-A6C34878D82A}">
                    <a16:rowId xmlns:a16="http://schemas.microsoft.com/office/drawing/2014/main" val="3096955218"/>
                  </a:ext>
                </a:extLst>
              </a:tr>
              <a:tr h="1690740">
                <a:tc>
                  <a:txBody>
                    <a:bodyPr/>
                    <a:lstStyle/>
                    <a:p>
                      <a:pPr marL="0" indent="0" algn="ctr">
                        <a:buFont typeface="Arial" panose="020B0604020202020204" pitchFamily="34" charset="0"/>
                        <a:buNone/>
                      </a:pPr>
                      <a:r>
                        <a:rPr sz="2200" b="1" dirty="0">
                          <a:solidFill>
                            <a:srgbClr val="203878"/>
                          </a:solidFill>
                          <a:latin typeface="Times New Roman" panose="02020603050405020304" pitchFamily="18" charset="0"/>
                          <a:cs typeface="Times New Roman" panose="02020603050405020304" pitchFamily="18" charset="0"/>
                        </a:rPr>
                        <a:t>Xu</a:t>
                      </a:r>
                      <a:endParaRPr lang="en-US" sz="2200" b="1" dirty="0">
                        <a:solidFill>
                          <a:srgbClr val="203878"/>
                        </a:solidFill>
                        <a:latin typeface="Times New Roman" panose="02020603050405020304" pitchFamily="18" charset="0"/>
                        <a:cs typeface="Times New Roman" panose="02020603050405020304" pitchFamily="18" charset="0"/>
                      </a:endParaRPr>
                    </a:p>
                    <a:p>
                      <a:pPr marL="0" indent="0" algn="ctr">
                        <a:buFont typeface="Arial" panose="020B0604020202020204" pitchFamily="34" charset="0"/>
                        <a:buNone/>
                      </a:pPr>
                      <a:r>
                        <a:rPr sz="2200" b="1" dirty="0" err="1">
                          <a:solidFill>
                            <a:srgbClr val="203878"/>
                          </a:solidFill>
                          <a:latin typeface="Times New Roman" panose="02020603050405020304" pitchFamily="18" charset="0"/>
                          <a:cs typeface="Times New Roman" panose="02020603050405020304" pitchFamily="18" charset="0"/>
                        </a:rPr>
                        <a:t>Shuangbo</a:t>
                      </a:r>
                      <a:endParaRPr sz="2200" b="1" dirty="0">
                        <a:solidFill>
                          <a:srgbClr val="203878"/>
                        </a:solidFill>
                        <a:latin typeface="Times New Roman" panose="02020603050405020304" pitchFamily="18" charset="0"/>
                        <a:cs typeface="Times New Roman" panose="02020603050405020304" pitchFamily="18" charset="0"/>
                      </a:endParaRPr>
                    </a:p>
                  </a:txBody>
                  <a:tcPr marL="137160" marR="137160" marT="91440" marB="91440" anchor="ctr">
                    <a:solidFill>
                      <a:srgbClr val="F0F2FF"/>
                    </a:solidFill>
                  </a:tcPr>
                </a:tc>
                <a:tc>
                  <a:txBody>
                    <a:bodyPr/>
                    <a:lstStyle/>
                    <a:p>
                      <a:pPr marL="342900" indent="-342900">
                        <a:buFont typeface="+mj-lt"/>
                        <a:buAutoNum type="arabicPeriod"/>
                      </a:pPr>
                      <a:r>
                        <a:rPr lang="en-US" altLang="zh-CN" sz="1600" b="0" dirty="0">
                          <a:solidFill>
                            <a:schemeClr val="tx1"/>
                          </a:solidFill>
                          <a:latin typeface="Times New Roman" panose="02020603050405020304" pitchFamily="18" charset="0"/>
                          <a:cs typeface="Times New Roman" panose="02020603050405020304" pitchFamily="18" charset="0"/>
                        </a:rPr>
                        <a:t>Designed the project framework and implemented the code workflow</a:t>
                      </a:r>
                    </a:p>
                    <a:p>
                      <a:pPr marL="342900" indent="-342900">
                        <a:buFont typeface="+mj-lt"/>
                        <a:buAutoNum type="arabicPeriod"/>
                      </a:pPr>
                      <a:r>
                        <a:rPr lang="en-US" altLang="zh-CN" sz="1600" b="0" dirty="0">
                          <a:solidFill>
                            <a:schemeClr val="tx1"/>
                          </a:solidFill>
                          <a:latin typeface="Times New Roman" panose="02020603050405020304" pitchFamily="18" charset="0"/>
                          <a:cs typeface="Times New Roman" panose="02020603050405020304" pitchFamily="18" charset="0"/>
                        </a:rPr>
                        <a:t>Led model development, agent integration, and report writing</a:t>
                      </a:r>
                    </a:p>
                    <a:p>
                      <a:pPr marL="342900" indent="-342900">
                        <a:buFont typeface="+mj-lt"/>
                        <a:buAutoNum type="arabicPeriod"/>
                      </a:pPr>
                      <a:r>
                        <a:rPr lang="en-US" altLang="zh-CN" sz="1600" b="0" dirty="0">
                          <a:solidFill>
                            <a:schemeClr val="tx1"/>
                          </a:solidFill>
                          <a:latin typeface="Times New Roman" panose="02020603050405020304" pitchFamily="18" charset="0"/>
                          <a:cs typeface="Times New Roman" panose="02020603050405020304" pitchFamily="18" charset="0"/>
                        </a:rPr>
                        <a:t>Managed repository updates and documentation on </a:t>
                      </a:r>
                      <a:r>
                        <a:rPr lang="en-US" altLang="zh-CN" sz="1600" b="1" dirty="0">
                          <a:solidFill>
                            <a:schemeClr val="tx1"/>
                          </a:solidFill>
                          <a:latin typeface="Times New Roman" panose="02020603050405020304" pitchFamily="18" charset="0"/>
                          <a:cs typeface="Times New Roman" panose="02020603050405020304" pitchFamily="18" charset="0"/>
                        </a:rPr>
                        <a:t>GitHub</a:t>
                      </a:r>
                    </a:p>
                  </a:txBody>
                  <a:tcPr marL="137160" marR="137160" marT="91440" marB="91440" anchor="ctr">
                    <a:solidFill>
                      <a:srgbClr val="FAFAFC"/>
                    </a:solidFill>
                  </a:tcPr>
                </a:tc>
                <a:extLst>
                  <a:ext uri="{0D108BD9-81ED-4DB2-BD59-A6C34878D82A}">
                    <a16:rowId xmlns:a16="http://schemas.microsoft.com/office/drawing/2014/main" val="10000"/>
                  </a:ext>
                </a:extLst>
              </a:tr>
              <a:tr h="1690655">
                <a:tc>
                  <a:txBody>
                    <a:bodyPr/>
                    <a:lstStyle/>
                    <a:p>
                      <a:pPr marL="0" indent="0" algn="ctr">
                        <a:buFont typeface="Arial" panose="020B0604020202020204" pitchFamily="34" charset="0"/>
                        <a:buNone/>
                      </a:pPr>
                      <a:r>
                        <a:rPr sz="2200" b="1" dirty="0">
                          <a:solidFill>
                            <a:srgbClr val="203878"/>
                          </a:solidFill>
                          <a:latin typeface="Times New Roman" panose="02020603050405020304" pitchFamily="18" charset="0"/>
                          <a:cs typeface="Times New Roman" panose="02020603050405020304" pitchFamily="18" charset="0"/>
                        </a:rPr>
                        <a:t>Li </a:t>
                      </a:r>
                      <a:endParaRPr lang="en-US" sz="2200" b="1" dirty="0">
                        <a:solidFill>
                          <a:srgbClr val="203878"/>
                        </a:solidFill>
                        <a:latin typeface="Times New Roman" panose="02020603050405020304" pitchFamily="18" charset="0"/>
                        <a:cs typeface="Times New Roman" panose="02020603050405020304" pitchFamily="18" charset="0"/>
                      </a:endParaRPr>
                    </a:p>
                    <a:p>
                      <a:pPr marL="0" indent="0" algn="ctr">
                        <a:buFont typeface="Arial" panose="020B0604020202020204" pitchFamily="34" charset="0"/>
                        <a:buNone/>
                      </a:pPr>
                      <a:r>
                        <a:rPr lang="en-US" sz="2200" b="1" dirty="0" err="1">
                          <a:solidFill>
                            <a:srgbClr val="203878"/>
                          </a:solidFill>
                          <a:latin typeface="Times New Roman" panose="02020603050405020304" pitchFamily="18" charset="0"/>
                          <a:cs typeface="Times New Roman" panose="02020603050405020304" pitchFamily="18" charset="0"/>
                        </a:rPr>
                        <a:t>Shangze</a:t>
                      </a:r>
                      <a:endParaRPr sz="2200" b="1" dirty="0">
                        <a:solidFill>
                          <a:srgbClr val="203878"/>
                        </a:solidFill>
                        <a:latin typeface="Times New Roman" panose="02020603050405020304" pitchFamily="18" charset="0"/>
                        <a:cs typeface="Times New Roman" panose="02020603050405020304" pitchFamily="18" charset="0"/>
                      </a:endParaRPr>
                    </a:p>
                  </a:txBody>
                  <a:tcPr marL="137160" marR="137160" marT="91440" marB="91440" anchor="ctr">
                    <a:solidFill>
                      <a:srgbClr val="F0F2FF"/>
                    </a:solidFill>
                  </a:tcPr>
                </a:tc>
                <a:tc>
                  <a:txBody>
                    <a:bodyPr/>
                    <a:lstStyle/>
                    <a:p>
                      <a:pPr marL="342900" indent="-342900" algn="l" defTabSz="914400" rtl="0" eaLnBrk="1" latinLnBrk="0" hangingPunct="1">
                        <a:buFont typeface="+mj-lt"/>
                        <a:buAutoNum type="arabicPeriod"/>
                      </a:pPr>
                      <a:r>
                        <a:rPr lang="en-US" altLang="zh-CN" sz="1600" b="0" kern="1200" dirty="0">
                          <a:solidFill>
                            <a:schemeClr val="tx1"/>
                          </a:solidFill>
                          <a:latin typeface="Times New Roman" panose="02020603050405020304" pitchFamily="18" charset="0"/>
                          <a:ea typeface="+mn-ea"/>
                          <a:cs typeface="Times New Roman" panose="02020603050405020304" pitchFamily="18" charset="0"/>
                        </a:rPr>
                        <a:t>Collected and organized the dataset, assisted in debugging and trial runs</a:t>
                      </a:r>
                    </a:p>
                    <a:p>
                      <a:pPr marL="342900" indent="-342900" algn="l" defTabSz="914400" rtl="0" eaLnBrk="1" latinLnBrk="0" hangingPunct="1">
                        <a:buFont typeface="+mj-lt"/>
                        <a:buAutoNum type="arabicPeriod"/>
                      </a:pPr>
                      <a:r>
                        <a:rPr lang="en-US" altLang="zh-CN" sz="1600" b="0" kern="1200" dirty="0">
                          <a:solidFill>
                            <a:schemeClr val="tx1"/>
                          </a:solidFill>
                          <a:latin typeface="Times New Roman" panose="02020603050405020304" pitchFamily="18" charset="0"/>
                          <a:ea typeface="+mn-ea"/>
                          <a:cs typeface="Times New Roman" panose="02020603050405020304" pitchFamily="18" charset="0"/>
                        </a:rPr>
                        <a:t>Designed and refined the presentation slides</a:t>
                      </a:r>
                    </a:p>
                    <a:p>
                      <a:pPr marL="342900" indent="-342900" algn="l" defTabSz="914400" rtl="0" eaLnBrk="1" latinLnBrk="0" hangingPunct="1">
                        <a:buFont typeface="+mj-lt"/>
                        <a:buAutoNum type="arabicPeriod"/>
                      </a:pPr>
                      <a:r>
                        <a:rPr lang="en-US" altLang="zh-CN" sz="1600" b="0" kern="1200" dirty="0">
                          <a:solidFill>
                            <a:schemeClr val="tx1"/>
                          </a:solidFill>
                          <a:latin typeface="Times New Roman" panose="02020603050405020304" pitchFamily="18" charset="0"/>
                          <a:ea typeface="+mn-ea"/>
                          <a:cs typeface="Times New Roman" panose="02020603050405020304" pitchFamily="18" charset="0"/>
                        </a:rPr>
                        <a:t>Collaborated through </a:t>
                      </a:r>
                      <a:r>
                        <a:rPr lang="en-US" altLang="zh-CN" sz="1600" b="1" kern="1200" dirty="0">
                          <a:solidFill>
                            <a:schemeClr val="tx1"/>
                          </a:solidFill>
                          <a:latin typeface="Times New Roman" panose="02020603050405020304" pitchFamily="18" charset="0"/>
                          <a:ea typeface="+mn-ea"/>
                          <a:cs typeface="Times New Roman" panose="02020603050405020304" pitchFamily="18" charset="0"/>
                        </a:rPr>
                        <a:t>GitHub</a:t>
                      </a:r>
                      <a:r>
                        <a:rPr lang="en-US" altLang="zh-CN" sz="1600" b="0" kern="1200" dirty="0">
                          <a:solidFill>
                            <a:schemeClr val="tx1"/>
                          </a:solidFill>
                          <a:latin typeface="Times New Roman" panose="02020603050405020304" pitchFamily="18" charset="0"/>
                          <a:ea typeface="+mn-ea"/>
                          <a:cs typeface="Times New Roman" panose="02020603050405020304" pitchFamily="18" charset="0"/>
                        </a:rPr>
                        <a:t> for version control and progress tracking</a:t>
                      </a:r>
                    </a:p>
                  </a:txBody>
                  <a:tcPr marL="137160" marR="137160" marT="91440" marB="91440" anchor="ctr">
                    <a:solidFill>
                      <a:srgbClr val="FAFAFC"/>
                    </a:solidFill>
                  </a:tcPr>
                </a:tc>
                <a:extLst>
                  <a:ext uri="{0D108BD9-81ED-4DB2-BD59-A6C34878D82A}">
                    <a16:rowId xmlns:a16="http://schemas.microsoft.com/office/drawing/2014/main" val="10001"/>
                  </a:ext>
                </a:extLst>
              </a:tr>
            </a:tbl>
          </a:graphicData>
        </a:graphic>
      </p:graphicFrame>
      <p:pic>
        <p:nvPicPr>
          <p:cNvPr id="11" name="图片 10">
            <a:extLst>
              <a:ext uri="{FF2B5EF4-FFF2-40B4-BE49-F238E27FC236}">
                <a16:creationId xmlns:a16="http://schemas.microsoft.com/office/drawing/2014/main" id="{B1C5B282-8256-5426-54E1-6C2D7733535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791763" y="1067744"/>
            <a:ext cx="4878264" cy="3288516"/>
          </a:xfrm>
          <a:prstGeom prst="rect">
            <a:avLst/>
          </a:prstGeom>
        </p:spPr>
      </p:pic>
      <p:sp>
        <p:nvSpPr>
          <p:cNvPr id="15" name="文本框 14">
            <a:extLst>
              <a:ext uri="{FF2B5EF4-FFF2-40B4-BE49-F238E27FC236}">
                <a16:creationId xmlns:a16="http://schemas.microsoft.com/office/drawing/2014/main" id="{E7559559-5A44-56DA-3120-ADC8920E993D}"/>
              </a:ext>
            </a:extLst>
          </p:cNvPr>
          <p:cNvSpPr txBox="1"/>
          <p:nvPr/>
        </p:nvSpPr>
        <p:spPr>
          <a:xfrm>
            <a:off x="6750049" y="4485148"/>
            <a:ext cx="5143501" cy="1323439"/>
          </a:xfrm>
          <a:prstGeom prst="rect">
            <a:avLst/>
          </a:prstGeom>
          <a:noFill/>
        </p:spPr>
        <p:txBody>
          <a:bodyPr wrap="square">
            <a:spAutoFit/>
          </a:bodyPr>
          <a:lstStyle/>
          <a:p>
            <a:r>
              <a:rPr lang="en-US" altLang="zh-CN" sz="2000" i="1" dirty="0">
                <a:latin typeface="Times New Roman" panose="02020603050405020304" pitchFamily="18" charset="0"/>
                <a:cs typeface="Times New Roman" panose="02020603050405020304" pitchFamily="18" charset="0"/>
              </a:rPr>
              <a:t>Repository: </a:t>
            </a:r>
            <a:r>
              <a:rPr lang="en-US" altLang="zh-CN" sz="2000" i="1" u="sng" dirty="0">
                <a:solidFill>
                  <a:srgbClr val="0070C0"/>
                </a:solidFill>
                <a:latin typeface="Times New Roman" panose="02020603050405020304" pitchFamily="18" charset="0"/>
                <a:cs typeface="Times New Roman" panose="02020603050405020304" pitchFamily="18" charset="0"/>
              </a:rPr>
              <a:t>https://github.com/shuangboxu/bigdata_project</a:t>
            </a:r>
            <a:r>
              <a:rPr lang="en-US" altLang="zh-CN" sz="2000" i="1" dirty="0">
                <a:latin typeface="Times New Roman" panose="02020603050405020304" pitchFamily="18" charset="0"/>
                <a:cs typeface="Times New Roman" panose="02020603050405020304" pitchFamily="18" charset="0"/>
              </a:rPr>
              <a:t> </a:t>
            </a:r>
          </a:p>
          <a:p>
            <a:r>
              <a:rPr lang="en-US" altLang="zh-CN" sz="2000" i="1" dirty="0">
                <a:latin typeface="Times New Roman" panose="02020603050405020304" pitchFamily="18" charset="0"/>
                <a:cs typeface="Times New Roman" panose="02020603050405020304" pitchFamily="18" charset="0"/>
              </a:rPr>
              <a:t>Website: </a:t>
            </a:r>
            <a:r>
              <a:rPr lang="en-US" altLang="zh-CN" sz="2000" i="1" u="sng" dirty="0">
                <a:solidFill>
                  <a:srgbClr val="0070C0"/>
                </a:solidFill>
                <a:latin typeface="Times New Roman" panose="02020603050405020304" pitchFamily="18" charset="0"/>
                <a:cs typeface="Times New Roman" panose="02020603050405020304" pitchFamily="18" charset="0"/>
              </a:rPr>
              <a:t>https://shuangboxu.github.io/bigdata_project</a:t>
            </a:r>
            <a:endParaRPr lang="zh-CN" altLang="en-US" sz="2000" i="1" u="sng"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83734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单圆角 1">
            <a:extLst>
              <a:ext uri="{FF2B5EF4-FFF2-40B4-BE49-F238E27FC236}">
                <a16:creationId xmlns:a16="http://schemas.microsoft.com/office/drawing/2014/main" id="{E584D35E-7BB9-61FA-BA5A-2830087B16B9}"/>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DB0521D8-5B76-EDCD-C103-214FA0605CFE}"/>
              </a:ext>
            </a:extLst>
          </p:cNvPr>
          <p:cNvSpPr txBox="1"/>
          <p:nvPr/>
        </p:nvSpPr>
        <p:spPr>
          <a:xfrm>
            <a:off x="9321800" y="6359979"/>
            <a:ext cx="2208893" cy="369332"/>
          </a:xfrm>
          <a:prstGeom prst="rect">
            <a:avLst/>
          </a:prstGeom>
          <a:noFill/>
        </p:spPr>
        <p:txBody>
          <a:bodyPr wrap="square" rtlCol="0">
            <a:spAutoFit/>
          </a:bodyPr>
          <a:lstStyle/>
          <a:p>
            <a:r>
              <a:rPr lang="en-US" altLang="zh-CN" dirty="0"/>
              <a:t>Final Project Report</a:t>
            </a:r>
            <a:endParaRPr lang="zh-CN" altLang="en-US" dirty="0"/>
          </a:p>
        </p:txBody>
      </p:sp>
      <p:sp>
        <p:nvSpPr>
          <p:cNvPr id="4" name="文本框 3">
            <a:extLst>
              <a:ext uri="{FF2B5EF4-FFF2-40B4-BE49-F238E27FC236}">
                <a16:creationId xmlns:a16="http://schemas.microsoft.com/office/drawing/2014/main" id="{95133661-AF23-B1EE-3D42-77D411032F29}"/>
              </a:ext>
            </a:extLst>
          </p:cNvPr>
          <p:cNvSpPr txBox="1"/>
          <p:nvPr/>
        </p:nvSpPr>
        <p:spPr>
          <a:xfrm>
            <a:off x="416966" y="6332815"/>
            <a:ext cx="2727779"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Summary</a:t>
            </a:r>
            <a:endParaRPr lang="zh-CN" altLang="en-US" dirty="0">
              <a:effectLst>
                <a:outerShdw blurRad="38100" dist="38100" dir="2700000" algn="tl">
                  <a:srgbClr val="000000">
                    <a:alpha val="43137"/>
                  </a:srgbClr>
                </a:outerShdw>
              </a:effectLst>
            </a:endParaRPr>
          </a:p>
        </p:txBody>
      </p:sp>
      <p:sp>
        <p:nvSpPr>
          <p:cNvPr id="5" name="矩形: 圆顶角 4">
            <a:extLst>
              <a:ext uri="{FF2B5EF4-FFF2-40B4-BE49-F238E27FC236}">
                <a16:creationId xmlns:a16="http://schemas.microsoft.com/office/drawing/2014/main" id="{B159B0A8-F7B4-8C92-B7C4-CC6ABF6497DF}"/>
              </a:ext>
            </a:extLst>
          </p:cNvPr>
          <p:cNvSpPr/>
          <p:nvPr/>
        </p:nvSpPr>
        <p:spPr>
          <a:xfrm rot="10800000">
            <a:off x="416966" y="17270"/>
            <a:ext cx="3613708"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23B21A59-8FD2-0EC6-D10F-48AEDE599D28}"/>
              </a:ext>
            </a:extLst>
          </p:cNvPr>
          <p:cNvSpPr txBox="1"/>
          <p:nvPr/>
        </p:nvSpPr>
        <p:spPr>
          <a:xfrm>
            <a:off x="416966" y="-13596"/>
            <a:ext cx="3613708" cy="584775"/>
          </a:xfrm>
          <a:prstGeom prst="rect">
            <a:avLst/>
          </a:prstGeom>
          <a:noFill/>
        </p:spPr>
        <p:txBody>
          <a:bodyPr wrap="square" rtlCol="0">
            <a:spAutoFit/>
          </a:bodyPr>
          <a:lstStyle/>
          <a:p>
            <a:pPr algn="ctr"/>
            <a:r>
              <a:rPr lang="en-US" altLang="zh-CN" sz="3200" b="1" dirty="0">
                <a:latin typeface="High Tower Text" panose="02040502050506030303" pitchFamily="18" charset="0"/>
                <a:cs typeface="Times New Roman" panose="02020603050405020304" pitchFamily="18" charset="0"/>
              </a:rPr>
              <a:t>Summary</a:t>
            </a:r>
            <a:endParaRPr lang="zh-CN" altLang="en-US" sz="2000" b="1" dirty="0">
              <a:latin typeface="High Tower Text" panose="02040502050506030303" pitchFamily="18" charset="0"/>
            </a:endParaRPr>
          </a:p>
        </p:txBody>
      </p:sp>
      <p:sp>
        <p:nvSpPr>
          <p:cNvPr id="10" name="文本框 9">
            <a:extLst>
              <a:ext uri="{FF2B5EF4-FFF2-40B4-BE49-F238E27FC236}">
                <a16:creationId xmlns:a16="http://schemas.microsoft.com/office/drawing/2014/main" id="{8F6A6961-223C-7AA8-771B-1F44707B3447}"/>
              </a:ext>
            </a:extLst>
          </p:cNvPr>
          <p:cNvSpPr txBox="1"/>
          <p:nvPr/>
        </p:nvSpPr>
        <p:spPr>
          <a:xfrm>
            <a:off x="1341573" y="929029"/>
            <a:ext cx="9753147" cy="4862870"/>
          </a:xfrm>
          <a:prstGeom prst="rect">
            <a:avLst/>
          </a:prstGeom>
          <a:noFill/>
        </p:spPr>
        <p:txBody>
          <a:bodyPr wrap="square">
            <a:spAutoFit/>
          </a:bodyPr>
          <a:lstStyle/>
          <a:p>
            <a:pPr marL="457200" indent="-457200">
              <a:spcAft>
                <a:spcPts val="600"/>
              </a:spcAft>
              <a:buFont typeface="+mj-lt"/>
              <a:buAutoNum type="arabicPeriod"/>
            </a:pPr>
            <a:r>
              <a:rPr lang="en-US" altLang="zh-CN" sz="2000" dirty="0">
                <a:latin typeface="Times New Roman" panose="02020603050405020304" pitchFamily="18" charset="0"/>
                <a:cs typeface="Times New Roman" panose="02020603050405020304" pitchFamily="18" charset="0"/>
              </a:rPr>
              <a:t>Developed a </a:t>
            </a:r>
            <a:r>
              <a:rPr lang="en-US" altLang="zh-CN" sz="2000" b="1" dirty="0">
                <a:latin typeface="Times New Roman" panose="02020603050405020304" pitchFamily="18" charset="0"/>
                <a:cs typeface="Times New Roman" panose="02020603050405020304" pitchFamily="18" charset="0"/>
              </a:rPr>
              <a:t>reproducible end-to-end pipeline</a:t>
            </a:r>
            <a:r>
              <a:rPr lang="en-US" altLang="zh-CN" sz="2000" dirty="0">
                <a:latin typeface="Times New Roman" panose="02020603050405020304" pitchFamily="18" charset="0"/>
                <a:cs typeface="Times New Roman" panose="02020603050405020304" pitchFamily="18" charset="0"/>
              </a:rPr>
              <a:t> covering EDA, modeling, evaluation, and automated reporting.</a:t>
            </a:r>
          </a:p>
          <a:p>
            <a:pPr marL="457200" indent="-457200">
              <a:spcAft>
                <a:spcPts val="600"/>
              </a:spcAft>
              <a:buFont typeface="+mj-lt"/>
              <a:buAutoNum type="arabicPeriod"/>
            </a:pPr>
            <a:r>
              <a:rPr lang="en-US" altLang="zh-CN" sz="2000" dirty="0">
                <a:latin typeface="Times New Roman" panose="02020603050405020304" pitchFamily="18" charset="0"/>
                <a:cs typeface="Times New Roman" panose="02020603050405020304" pitchFamily="18" charset="0"/>
              </a:rPr>
              <a:t>The </a:t>
            </a:r>
            <a:r>
              <a:rPr lang="en-US" altLang="zh-CN" sz="2000" b="1" dirty="0">
                <a:latin typeface="Times New Roman" panose="02020603050405020304" pitchFamily="18" charset="0"/>
                <a:cs typeface="Times New Roman" panose="02020603050405020304" pitchFamily="18" charset="0"/>
              </a:rPr>
              <a:t>regression model </a:t>
            </a:r>
            <a:r>
              <a:rPr lang="en-US" altLang="zh-CN" sz="2000" dirty="0">
                <a:latin typeface="Times New Roman" panose="02020603050405020304" pitchFamily="18" charset="0"/>
                <a:cs typeface="Times New Roman" panose="02020603050405020304" pitchFamily="18" charset="0"/>
              </a:rPr>
              <a:t>achieved strong accuracy in predicting interest rates with R² ≈ 0.90.</a:t>
            </a:r>
          </a:p>
          <a:p>
            <a:pPr marL="457200" indent="-457200">
              <a:spcAft>
                <a:spcPts val="600"/>
              </a:spcAft>
              <a:buFont typeface="+mj-lt"/>
              <a:buAutoNum type="arabicPeriod"/>
            </a:pPr>
            <a:r>
              <a:rPr lang="en-US" altLang="zh-CN" sz="2000" dirty="0">
                <a:latin typeface="Times New Roman" panose="02020603050405020304" pitchFamily="18" charset="0"/>
                <a:cs typeface="Times New Roman" panose="02020603050405020304" pitchFamily="18" charset="0"/>
              </a:rPr>
              <a:t>The </a:t>
            </a:r>
            <a:r>
              <a:rPr lang="en-US" altLang="zh-CN" sz="2000" b="1" dirty="0">
                <a:latin typeface="Times New Roman" panose="02020603050405020304" pitchFamily="18" charset="0"/>
                <a:cs typeface="Times New Roman" panose="02020603050405020304" pitchFamily="18" charset="0"/>
              </a:rPr>
              <a:t>classification model </a:t>
            </a:r>
            <a:r>
              <a:rPr lang="en-US" altLang="zh-CN" sz="2000" dirty="0">
                <a:latin typeface="Times New Roman" panose="02020603050405020304" pitchFamily="18" charset="0"/>
                <a:cs typeface="Times New Roman" panose="02020603050405020304" pitchFamily="18" charset="0"/>
              </a:rPr>
              <a:t>reached an AUC of 0.85, showing good discrimination but room to improve macro F1 due to class imbalance.</a:t>
            </a:r>
          </a:p>
          <a:p>
            <a:pPr marL="457200" indent="-457200">
              <a:spcAft>
                <a:spcPts val="600"/>
              </a:spcAft>
              <a:buFont typeface="+mj-lt"/>
              <a:buAutoNum type="arabicPeriod"/>
            </a:pPr>
            <a:r>
              <a:rPr lang="en-US" altLang="zh-CN" sz="2000" b="1" dirty="0">
                <a:latin typeface="Times New Roman" panose="02020603050405020304" pitchFamily="18" charset="0"/>
                <a:cs typeface="Times New Roman" panose="02020603050405020304" pitchFamily="18" charset="0"/>
              </a:rPr>
              <a:t>Clustering analysis </a:t>
            </a:r>
            <a:r>
              <a:rPr lang="en-US" altLang="zh-CN" sz="2000" dirty="0">
                <a:latin typeface="Times New Roman" panose="02020603050405020304" pitchFamily="18" charset="0"/>
                <a:cs typeface="Times New Roman" panose="02020603050405020304" pitchFamily="18" charset="0"/>
              </a:rPr>
              <a:t>revealed two major customer segments, supporting targeted risk strategies.</a:t>
            </a:r>
          </a:p>
          <a:p>
            <a:pPr marL="457200" indent="-457200">
              <a:spcAft>
                <a:spcPts val="600"/>
              </a:spcAft>
              <a:buFont typeface="+mj-lt"/>
              <a:buAutoNum type="arabicPeriod"/>
            </a:pPr>
            <a:r>
              <a:rPr lang="en-US" altLang="zh-CN" sz="2000" dirty="0">
                <a:latin typeface="Times New Roman" panose="02020603050405020304" pitchFamily="18" charset="0"/>
                <a:cs typeface="Times New Roman" panose="02020603050405020304" pitchFamily="18" charset="0"/>
              </a:rPr>
              <a:t>The </a:t>
            </a:r>
            <a:r>
              <a:rPr lang="en-US" altLang="zh-CN" sz="2000" b="1" dirty="0" err="1">
                <a:latin typeface="Times New Roman" panose="02020603050405020304" pitchFamily="18" charset="0"/>
                <a:cs typeface="Times New Roman" panose="02020603050405020304" pitchFamily="18" charset="0"/>
              </a:rPr>
              <a:t>LangGraph</a:t>
            </a:r>
            <a:r>
              <a:rPr lang="en-US" altLang="zh-CN" sz="2000" b="1" dirty="0">
                <a:latin typeface="Times New Roman" panose="02020603050405020304" pitchFamily="18" charset="0"/>
                <a:cs typeface="Times New Roman" panose="02020603050405020304" pitchFamily="18" charset="0"/>
              </a:rPr>
              <a:t>-based agent workflow </a:t>
            </a:r>
            <a:r>
              <a:rPr lang="en-US" altLang="zh-CN" sz="2000" dirty="0">
                <a:latin typeface="Times New Roman" panose="02020603050405020304" pitchFamily="18" charset="0"/>
                <a:cs typeface="Times New Roman" panose="02020603050405020304" pitchFamily="18" charset="0"/>
              </a:rPr>
              <a:t>automated model training, visualization, and report generation, ensuring transparency and reproducibility.</a:t>
            </a:r>
          </a:p>
          <a:p>
            <a:pPr marL="457200" indent="-457200">
              <a:spcAft>
                <a:spcPts val="600"/>
              </a:spcAft>
              <a:buFont typeface="+mj-lt"/>
              <a:buAutoNum type="arabicPeriod"/>
            </a:pPr>
            <a:r>
              <a:rPr lang="en-US" altLang="zh-CN" sz="2000" dirty="0">
                <a:latin typeface="Times New Roman" panose="02020603050405020304" pitchFamily="18" charset="0"/>
                <a:cs typeface="Times New Roman" panose="02020603050405020304" pitchFamily="18" charset="0"/>
              </a:rPr>
              <a:t>The </a:t>
            </a:r>
            <a:r>
              <a:rPr lang="en-US" altLang="zh-CN" sz="2000" b="1" dirty="0">
                <a:latin typeface="Times New Roman" panose="02020603050405020304" pitchFamily="18" charset="0"/>
                <a:cs typeface="Times New Roman" panose="02020603050405020304" pitchFamily="18" charset="0"/>
              </a:rPr>
              <a:t>LLM-powered reporter</a:t>
            </a:r>
            <a:r>
              <a:rPr lang="en-US" altLang="zh-CN" sz="2000" dirty="0">
                <a:latin typeface="Times New Roman" panose="02020603050405020304" pitchFamily="18" charset="0"/>
                <a:cs typeface="Times New Roman" panose="02020603050405020304" pitchFamily="18" charset="0"/>
              </a:rPr>
              <a:t> (via OpenAI API) automatically generated Markdown and HTML reports, adding high-level insights to assist human interpretation.</a:t>
            </a:r>
          </a:p>
          <a:p>
            <a:pPr marL="457200" indent="-457200">
              <a:spcAft>
                <a:spcPts val="600"/>
              </a:spcAft>
              <a:buFont typeface="+mj-lt"/>
              <a:buAutoNum type="arabicPeriod"/>
            </a:pPr>
            <a:r>
              <a:rPr lang="en-US" altLang="zh-CN" sz="2000" dirty="0">
                <a:latin typeface="Times New Roman" panose="02020603050405020304" pitchFamily="18" charset="0"/>
                <a:cs typeface="Times New Roman" panose="02020603050405020304" pitchFamily="18" charset="0"/>
              </a:rPr>
              <a:t>The </a:t>
            </a:r>
            <a:r>
              <a:rPr lang="en-US" altLang="zh-CN" sz="2000" b="1" dirty="0">
                <a:latin typeface="Times New Roman" panose="02020603050405020304" pitchFamily="18" charset="0"/>
                <a:cs typeface="Times New Roman" panose="02020603050405020304" pitchFamily="18" charset="0"/>
              </a:rPr>
              <a:t>interactive web dashboard </a:t>
            </a:r>
            <a:r>
              <a:rPr lang="en-US" altLang="zh-CN" sz="2000" dirty="0">
                <a:latin typeface="Times New Roman" panose="02020603050405020304" pitchFamily="18" charset="0"/>
                <a:cs typeface="Times New Roman" panose="02020603050405020304" pitchFamily="18" charset="0"/>
              </a:rPr>
              <a:t>presents up-to-date risk scores and enables interactive exploration of borrower profiles.</a:t>
            </a:r>
          </a:p>
        </p:txBody>
      </p:sp>
      <p:sp>
        <p:nvSpPr>
          <p:cNvPr id="16" name="文本框 15">
            <a:extLst>
              <a:ext uri="{FF2B5EF4-FFF2-40B4-BE49-F238E27FC236}">
                <a16:creationId xmlns:a16="http://schemas.microsoft.com/office/drawing/2014/main" id="{680659AA-9E5F-D8E1-86FA-CB56BB6F7A42}"/>
              </a:ext>
            </a:extLst>
          </p:cNvPr>
          <p:cNvSpPr txBox="1"/>
          <p:nvPr/>
        </p:nvSpPr>
        <p:spPr>
          <a:xfrm>
            <a:off x="2942924" y="6332815"/>
            <a:ext cx="6155356" cy="369332"/>
          </a:xfrm>
          <a:prstGeom prst="rect">
            <a:avLst/>
          </a:prstGeom>
          <a:noFill/>
        </p:spPr>
        <p:txBody>
          <a:bodyPr wrap="square">
            <a:spAutoFit/>
          </a:bodyPr>
          <a:lstStyle/>
          <a:p>
            <a:pPr algn="ctr"/>
            <a:r>
              <a:rPr lang="en-US" altLang="zh-CN" b="1" dirty="0"/>
              <a:t>Page 12</a:t>
            </a:r>
            <a:endParaRPr lang="zh-CN" altLang="en-US" b="1" dirty="0"/>
          </a:p>
        </p:txBody>
      </p:sp>
    </p:spTree>
    <p:extLst>
      <p:ext uri="{BB962C8B-B14F-4D97-AF65-F5344CB8AC3E}">
        <p14:creationId xmlns:p14="http://schemas.microsoft.com/office/powerpoint/2010/main" val="11685617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05A2C-8A02-EAC8-3AA2-1FCA2B5BFF65}"/>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246A48E9-CD78-DB8A-0CC1-6BE81BB5225B}"/>
              </a:ext>
            </a:extLst>
          </p:cNvPr>
          <p:cNvPicPr>
            <a:picLocks noChangeAspect="1"/>
          </p:cNvPicPr>
          <p:nvPr/>
        </p:nvPicPr>
        <p:blipFill>
          <a:blip r:embed="rId2" cstate="email">
            <a:alphaModFix amt="70000"/>
            <a:extLst>
              <a:ext uri="{BEBA8EAE-BF5A-486C-A8C5-ECC9F3942E4B}">
                <a14:imgProps xmlns:a14="http://schemas.microsoft.com/office/drawing/2010/main">
                  <a14:imgLayer r:embed="rId3">
                    <a14:imgEffect>
                      <a14:saturation sat="33000"/>
                    </a14:imgEffect>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8311" y="0"/>
            <a:ext cx="12200311" cy="6858000"/>
          </a:xfrm>
          <a:prstGeom prst="rect">
            <a:avLst/>
          </a:prstGeom>
        </p:spPr>
      </p:pic>
      <p:sp>
        <p:nvSpPr>
          <p:cNvPr id="2" name="标题 1">
            <a:extLst>
              <a:ext uri="{FF2B5EF4-FFF2-40B4-BE49-F238E27FC236}">
                <a16:creationId xmlns:a16="http://schemas.microsoft.com/office/drawing/2014/main" id="{2B34644E-DA64-F22B-4C0B-1E9024A24BD7}"/>
              </a:ext>
            </a:extLst>
          </p:cNvPr>
          <p:cNvSpPr>
            <a:spLocks noGrp="1"/>
          </p:cNvSpPr>
          <p:nvPr>
            <p:ph type="ctrTitle"/>
          </p:nvPr>
        </p:nvSpPr>
        <p:spPr>
          <a:xfrm>
            <a:off x="1524000" y="1763396"/>
            <a:ext cx="9144000" cy="2387600"/>
          </a:xfrm>
        </p:spPr>
        <p:txBody>
          <a:bodyPr>
            <a:normAutofit/>
          </a:bodyPr>
          <a:lstStyle/>
          <a:p>
            <a:r>
              <a:rPr lang="en-US" altLang="zh-CN" sz="11500" dirty="0">
                <a:latin typeface="Times New Roman" panose="02020603050405020304" pitchFamily="18" charset="0"/>
                <a:cs typeface="Times New Roman" panose="02020603050405020304" pitchFamily="18" charset="0"/>
              </a:rPr>
              <a:t>Thanks</a:t>
            </a:r>
            <a:endParaRPr lang="zh-CN" altLang="en-US" sz="11500" dirty="0">
              <a:latin typeface="Times New Roman" panose="02020603050405020304" pitchFamily="18" charset="0"/>
              <a:cs typeface="Times New Roman" panose="02020603050405020304" pitchFamily="18" charset="0"/>
            </a:endParaRPr>
          </a:p>
        </p:txBody>
      </p:sp>
      <p:sp>
        <p:nvSpPr>
          <p:cNvPr id="3" name="副标题 2">
            <a:extLst>
              <a:ext uri="{FF2B5EF4-FFF2-40B4-BE49-F238E27FC236}">
                <a16:creationId xmlns:a16="http://schemas.microsoft.com/office/drawing/2014/main" id="{5BF3CB77-FE46-E770-B22B-220AA282BA60}"/>
              </a:ext>
            </a:extLst>
          </p:cNvPr>
          <p:cNvSpPr>
            <a:spLocks noGrp="1"/>
          </p:cNvSpPr>
          <p:nvPr>
            <p:ph type="subTitle" idx="1"/>
          </p:nvPr>
        </p:nvSpPr>
        <p:spPr>
          <a:xfrm>
            <a:off x="1524000" y="5101269"/>
            <a:ext cx="9144000" cy="1655762"/>
          </a:xfrm>
        </p:spPr>
        <p:txBody>
          <a:bodyPr>
            <a:normAutofit/>
          </a:bodyPr>
          <a:lstStyle/>
          <a:p>
            <a:r>
              <a:rPr lang="en-US" altLang="zh-CN" dirty="0"/>
              <a:t>Team: </a:t>
            </a:r>
            <a:r>
              <a:rPr lang="en-US" altLang="zh-CN" dirty="0">
                <a:latin typeface="Times New Roman" panose="02020603050405020304" pitchFamily="18" charset="0"/>
                <a:cs typeface="Times New Roman" panose="02020603050405020304" pitchFamily="18" charset="0"/>
              </a:rPr>
              <a:t>Northlake</a:t>
            </a:r>
          </a:p>
        </p:txBody>
      </p:sp>
      <p:pic>
        <p:nvPicPr>
          <p:cNvPr id="4" name="图片 3">
            <a:extLst>
              <a:ext uri="{FF2B5EF4-FFF2-40B4-BE49-F238E27FC236}">
                <a16:creationId xmlns:a16="http://schemas.microsoft.com/office/drawing/2014/main" id="{D95E5094-4CFB-7A21-B342-E225891DE177}"/>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91626" y="140236"/>
            <a:ext cx="1078744" cy="1077225"/>
          </a:xfrm>
          <a:prstGeom prst="rect">
            <a:avLst/>
          </a:prstGeom>
        </p:spPr>
      </p:pic>
      <p:pic>
        <p:nvPicPr>
          <p:cNvPr id="6" name="图片 5">
            <a:extLst>
              <a:ext uri="{FF2B5EF4-FFF2-40B4-BE49-F238E27FC236}">
                <a16:creationId xmlns:a16="http://schemas.microsoft.com/office/drawing/2014/main" id="{E2C81C59-B02C-159B-24C8-D14758F0DD2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230719" y="-197885"/>
            <a:ext cx="1961281" cy="1961281"/>
          </a:xfrm>
          <a:prstGeom prst="rect">
            <a:avLst/>
          </a:prstGeom>
        </p:spPr>
      </p:pic>
    </p:spTree>
    <p:extLst>
      <p:ext uri="{BB962C8B-B14F-4D97-AF65-F5344CB8AC3E}">
        <p14:creationId xmlns:p14="http://schemas.microsoft.com/office/powerpoint/2010/main" val="229065832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1840</TotalTime>
  <Words>2886</Words>
  <Application>Microsoft Office PowerPoint</Application>
  <PresentationFormat>宽屏</PresentationFormat>
  <Paragraphs>197</Paragraphs>
  <Slides>15</Slides>
  <Notes>14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15</vt:i4>
      </vt:variant>
    </vt:vector>
  </HeadingPairs>
  <TitlesOfParts>
    <vt:vector size="23" baseType="lpstr">
      <vt:lpstr>Eras Demi ITC</vt:lpstr>
      <vt:lpstr>Wingdings</vt:lpstr>
      <vt:lpstr>Arial</vt:lpstr>
      <vt:lpstr>等线 Light</vt:lpstr>
      <vt:lpstr>等线</vt:lpstr>
      <vt:lpstr>Times New Roman</vt:lpstr>
      <vt:lpstr>High Tower Text</vt:lpstr>
      <vt:lpstr>Office 主题​​</vt:lpstr>
      <vt:lpstr>Financial Guardian: Financial Risk Prediction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Alan Lee</dc:creator>
  <cp:lastModifiedBy>Alan Lee</cp:lastModifiedBy>
  <cp:revision>84</cp:revision>
  <dcterms:created xsi:type="dcterms:W3CDTF">2025-09-15T15:34:56Z</dcterms:created>
  <dcterms:modified xsi:type="dcterms:W3CDTF">2025-11-10T07:48:09Z</dcterms:modified>
</cp:coreProperties>
</file>