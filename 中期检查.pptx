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68" r:id="rId3"/>
    <p:sldId id="269" r:id="rId4"/>
    <p:sldId id="270" r:id="rId5"/>
    <p:sldId id="271" r:id="rId6"/>
    <p:sldId id="272" r:id="rId7"/>
    <p:sldId id="273" r:id="rId8"/>
    <p:sldId id="274" r:id="rId9"/>
    <p:sldId id="275" r:id="rId10"/>
    <p:sldId id="276" r:id="rId11"/>
    <p:sldId id="277" r:id="rId12"/>
    <p:sldId id="278" r:id="rId13"/>
    <p:sldId id="279" r:id="rId14"/>
    <p:sldId id="267" r:id="rId15"/>
  </p:sldIdLst>
  <p:sldSz cx="12192000" cy="6858000"/>
  <p:notesSz cx="6858000" cy="9144000"/>
  <p:embeddedFontLst>
    <p:embeddedFont>
      <p:font typeface="Eras Demi ITC" panose="020B0805030504020804" pitchFamily="34" charset="0"/>
      <p:regular r:id="rId17"/>
    </p:embeddedFont>
    <p:embeddedFont>
      <p:font typeface="High Tower Text" panose="02040502050506030303" pitchFamily="18" charset="0"/>
      <p:regular r:id="rId18"/>
      <p:italic r:id="rId19"/>
    </p:embeddedFont>
    <p:embeddedFont>
      <p:font typeface="等线" panose="02010600030101010101" pitchFamily="2" charset="-122"/>
      <p:regular r:id="rId20"/>
      <p:bold r:id="rId21"/>
    </p:embeddedFont>
    <p:embeddedFont>
      <p:font typeface="等线 Light" panose="02010600030101010101" pitchFamily="2" charset="-122"/>
      <p:regular r:id="rId22"/>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411" autoAdjust="0"/>
    <p:restoredTop sz="72086" autoAdjust="0"/>
  </p:normalViewPr>
  <p:slideViewPr>
    <p:cSldViewPr snapToGrid="0">
      <p:cViewPr>
        <p:scale>
          <a:sx n="66" d="100"/>
          <a:sy n="66" d="100"/>
        </p:scale>
        <p:origin x="83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Contributions</c:v>
                </c:pt>
              </c:strCache>
            </c:strRef>
          </c:tx>
          <c:spPr>
            <a:solidFill>
              <a:schemeClr val="accent1"/>
            </a:solidFill>
            <a:ln w="9525" cap="flat">
              <a:solidFill>
                <a:srgbClr val="F9F9F9"/>
              </a:solidFill>
              <a:prstDash val="solid"/>
              <a:round/>
            </a:ln>
            <a:effectLst/>
          </c:spPr>
          <c:dPt>
            <c:idx val="0"/>
            <c:bubble3D val="0"/>
            <c:spPr>
              <a:solidFill>
                <a:srgbClr val="5DA5DA"/>
              </a:solidFill>
              <a:effectLst/>
            </c:spPr>
            <c:extLst>
              <c:ext xmlns:c16="http://schemas.microsoft.com/office/drawing/2014/chart" uri="{C3380CC4-5D6E-409C-BE32-E72D297353CC}">
                <c16:uniqueId val="{00000001-738F-4E14-9F68-4D590538D812}"/>
              </c:ext>
            </c:extLst>
          </c:dPt>
          <c:dPt>
            <c:idx val="1"/>
            <c:bubble3D val="0"/>
            <c:spPr>
              <a:solidFill>
                <a:srgbClr val="FAA43A"/>
              </a:solidFill>
              <a:effectLst/>
            </c:spPr>
            <c:extLst>
              <c:ext xmlns:c16="http://schemas.microsoft.com/office/drawing/2014/chart" uri="{C3380CC4-5D6E-409C-BE32-E72D297353CC}">
                <c16:uniqueId val="{00000003-738F-4E14-9F68-4D590538D812}"/>
              </c:ext>
            </c:extLst>
          </c:dPt>
          <c:dLbls>
            <c:dLbl>
              <c:idx val="0"/>
              <c:tx>
                <c:rich>
                  <a:bodyPr/>
                  <a:lstStyle/>
                  <a:p>
                    <a:pPr>
                      <a:defRPr sz="1200" b="0" i="0" u="none" strike="noStrike">
                        <a:solidFill>
                          <a:srgbClr val="000000"/>
                        </a:solidFill>
                        <a:latin typeface="Arial"/>
                      </a:defRPr>
                    </a:pPr>
                    <a:fld id="{45981791-111E-469D-9968-0BA45611ADB5}" type="CATEGORYNAME">
                      <a:rPr lang="en-US" altLang="zh-CN" sz="1600" smtClean="0"/>
                      <a:pPr>
                        <a:defRPr sz="1200" b="0" i="0" u="none" strike="noStrike">
                          <a:solidFill>
                            <a:srgbClr val="000000"/>
                          </a:solidFill>
                          <a:latin typeface="Arial"/>
                        </a:defRPr>
                      </a:pPr>
                      <a:t>[类别名称]</a:t>
                    </a:fld>
                    <a:endParaRPr lang="zh-CN" altLang="en-US"/>
                  </a:p>
                </c:rich>
              </c:tx>
              <c:numFmt formatCode="General" sourceLinked="0"/>
              <c:spPr/>
              <c:showLegendKey val="0"/>
              <c:showVal val="0"/>
              <c:showCatName val="1"/>
              <c:showSerName val="0"/>
              <c:showPercent val="0"/>
              <c:showBubbleSize val="0"/>
              <c:extLst>
                <c:ext xmlns:c15="http://schemas.microsoft.com/office/drawing/2012/chart" uri="{CE6537A1-D6FC-4f65-9D91-7224C49458BB}">
                  <c15:layout>
                    <c:manualLayout>
                      <c:w val="0.23342609111562831"/>
                      <c:h val="0.14535192183099827"/>
                    </c:manualLayout>
                  </c15:layout>
                  <c15:dlblFieldTable/>
                  <c15:showDataLabelsRange val="0"/>
                </c:ext>
                <c:ext xmlns:c16="http://schemas.microsoft.com/office/drawing/2014/chart" uri="{C3380CC4-5D6E-409C-BE32-E72D297353CC}">
                  <c16:uniqueId val="{00000001-738F-4E14-9F68-4D590538D812}"/>
                </c:ext>
              </c:extLst>
            </c:dLbl>
            <c:dLbl>
              <c:idx val="1"/>
              <c:layout>
                <c:manualLayout>
                  <c:x val="-3.2801626210689945E-2"/>
                  <c:y val="-7.3038291112759507E-3"/>
                </c:manualLayout>
              </c:layout>
              <c:tx>
                <c:rich>
                  <a:bodyPr/>
                  <a:lstStyle/>
                  <a:p>
                    <a:pPr>
                      <a:defRPr sz="1200" b="0" i="0" u="none" strike="noStrike">
                        <a:solidFill>
                          <a:srgbClr val="000000"/>
                        </a:solidFill>
                        <a:latin typeface="Arial"/>
                      </a:defRPr>
                    </a:pPr>
                    <a:r>
                      <a:rPr lang="en-US" altLang="zh-CN" sz="1600" dirty="0"/>
                      <a:t>Li</a:t>
                    </a:r>
                    <a:r>
                      <a:rPr lang="en-US" altLang="zh-CN" sz="1600" baseline="0" dirty="0"/>
                      <a:t> </a:t>
                    </a:r>
                    <a:r>
                      <a:rPr lang="en-US" altLang="zh-CN" sz="1600" baseline="0" dirty="0" err="1"/>
                      <a:t>S</a:t>
                    </a:r>
                    <a:r>
                      <a:rPr lang="en-US" altLang="zh-CN" sz="1600" dirty="0" err="1"/>
                      <a:t>hangze</a:t>
                    </a:r>
                    <a:endParaRPr lang="en-US" altLang="zh-CN" sz="1600" dirty="0"/>
                  </a:p>
                </c:rich>
              </c:tx>
              <c:numFmt formatCode="General" sourceLinked="0"/>
              <c:spPr/>
              <c:showLegendKey val="0"/>
              <c:showVal val="0"/>
              <c:showCatName val="1"/>
              <c:showSerName val="0"/>
              <c:showPercent val="0"/>
              <c:showBubbleSize val="0"/>
              <c:extLst>
                <c:ext xmlns:c15="http://schemas.microsoft.com/office/drawing/2012/chart" uri="{CE6537A1-D6FC-4f65-9D91-7224C49458BB}">
                  <c15:layout>
                    <c:manualLayout>
                      <c:w val="0.28712356809757267"/>
                      <c:h val="0.14535192183099827"/>
                    </c:manualLayout>
                  </c15:layout>
                  <c15:showDataLabelsRange val="0"/>
                </c:ext>
                <c:ext xmlns:c16="http://schemas.microsoft.com/office/drawing/2014/chart" uri="{C3380CC4-5D6E-409C-BE32-E72D297353CC}">
                  <c16:uniqueId val="{00000003-738F-4E14-9F68-4D590538D812}"/>
                </c:ext>
              </c:extLst>
            </c:dLbl>
            <c:numFmt formatCode="General" sourceLinked="0"/>
            <c:spPr>
              <a:noFill/>
              <a:ln>
                <a:noFill/>
              </a:ln>
              <a:effectLst/>
            </c:spPr>
            <c:txPr>
              <a:bodyPr/>
              <a:lstStyle/>
              <a:p>
                <a:pPr>
                  <a:defRPr sz="1800" b="0" i="0" u="none" strike="noStrike">
                    <a:solidFill>
                      <a:srgbClr val="000000"/>
                    </a:solidFill>
                    <a:latin typeface="Arial"/>
                  </a:defRPr>
                </a:pPr>
                <a:endParaRPr lang="zh-CN"/>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Xushuangbo</c:v>
                </c:pt>
                <c:pt idx="1">
                  <c:v>Teammate</c:v>
                </c:pt>
              </c:strCache>
            </c:strRef>
          </c:cat>
          <c:val>
            <c:numRef>
              <c:f>Sheet1!$B$2:$B$3</c:f>
              <c:numCache>
                <c:formatCode>General</c:formatCode>
                <c:ptCount val="2"/>
                <c:pt idx="0">
                  <c:v>80</c:v>
                </c:pt>
                <c:pt idx="1">
                  <c:v>20</c:v>
                </c:pt>
              </c:numCache>
            </c:numRef>
          </c:val>
          <c:extLst>
            <c:ext xmlns:c16="http://schemas.microsoft.com/office/drawing/2014/chart" uri="{C3380CC4-5D6E-409C-BE32-E72D297353CC}">
              <c16:uniqueId val="{00000004-738F-4E14-9F68-4D590538D812}"/>
            </c:ext>
          </c:extLst>
        </c:ser>
        <c:dLbls>
          <c:showLegendKey val="0"/>
          <c:showVal val="0"/>
          <c:showCatName val="0"/>
          <c:showSerName val="0"/>
          <c:showPercent val="0"/>
          <c:showBubbleSize val="0"/>
          <c:showLeaderLines val="0"/>
        </c:dLbls>
        <c:firstSliceAng val="0"/>
        <c:holeSize val="0"/>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058944-C1A1-4D23-AC30-C6A527D7302F}" type="datetimeFigureOut">
              <a:rPr lang="zh-CN" altLang="en-US" smtClean="0"/>
              <a:t>2025/10/12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BC829C-D09A-43DE-B9B9-5AEB4E9E12A8}" type="slidenum">
              <a:rPr lang="zh-CN" altLang="en-US" smtClean="0"/>
              <a:t>‹#›</a:t>
            </a:fld>
            <a:endParaRPr lang="zh-CN" altLang="en-US"/>
          </a:p>
        </p:txBody>
      </p:sp>
    </p:spTree>
    <p:extLst>
      <p:ext uri="{BB962C8B-B14F-4D97-AF65-F5344CB8AC3E}">
        <p14:creationId xmlns:p14="http://schemas.microsoft.com/office/powerpoint/2010/main" val="1085892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Welcome everyone to our Big Data Mini‑Project midterm checkpoint.  In this presentation we will walk through the work completed so far on a credit risk dataset.  Our aim is to predict borrowers</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interest rates, classify their credit grade and discover meaningful customer segments.  Over the past few weeks we have explored the raw data, engineered useful features, trained baseline models and even automated parts of the workflow using a LangGraph agent.  Today we</a:t>
            </a:r>
            <a:r>
              <a:rPr lang="zh-CN"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ll</a:t>
            </a:r>
            <a:r>
              <a:rPr lang="en-US" altLang="zh-CN" sz="1200" kern="1200" dirty="0">
                <a:solidFill>
                  <a:schemeClr val="tx1"/>
                </a:solidFill>
                <a:effectLst/>
                <a:latin typeface="+mn-lt"/>
                <a:ea typeface="+mn-ea"/>
                <a:cs typeface="+mn-cs"/>
              </a:rPr>
              <a:t> share what we have achieved, what we learned along the way and where we’re heading next.</a:t>
            </a: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ABBC829C-D09A-43DE-B9B9-5AEB4E9E12A8}" type="slidenum">
              <a:rPr lang="zh-CN" altLang="en-US" smtClean="0"/>
              <a:t>1</a:t>
            </a:fld>
            <a:endParaRPr lang="zh-CN" altLang="en-US"/>
          </a:p>
        </p:txBody>
      </p:sp>
    </p:spTree>
    <p:extLst>
      <p:ext uri="{BB962C8B-B14F-4D97-AF65-F5344CB8AC3E}">
        <p14:creationId xmlns:p14="http://schemas.microsoft.com/office/powerpoint/2010/main" val="255485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Here’s an overview of what we’ll cover.  We begin with a brief project overview describing the dataset and goals.  Then we explain our methodology and pipeline, highlighting how we move from exploratory analysis to feature engineering and modelling.  Separate sections present our regression, classification and clustering results.  We’ll also introduce the LangGraph agent workflow that automates the process.  After that we’ll discuss team contributions, </a:t>
            </a:r>
            <a:r>
              <a:rPr lang="en-US" altLang="zh-CN" sz="1200" kern="1200" dirty="0" err="1">
                <a:solidFill>
                  <a:schemeClr val="tx1"/>
                </a:solidFill>
                <a:effectLst/>
                <a:latin typeface="+mn-lt"/>
                <a:ea typeface="+mn-ea"/>
                <a:cs typeface="+mn-cs"/>
              </a:rPr>
              <a:t>summarise</a:t>
            </a:r>
            <a:r>
              <a:rPr lang="en-US" altLang="zh-CN" sz="1200" kern="1200" dirty="0">
                <a:solidFill>
                  <a:schemeClr val="tx1"/>
                </a:solidFill>
                <a:effectLst/>
                <a:latin typeface="+mn-lt"/>
                <a:ea typeface="+mn-ea"/>
                <a:cs typeface="+mn-cs"/>
              </a:rPr>
              <a:t> our progress and lessons learned, outline the next steps and potential risks, and conclude with key takeaways before opening the floor for questions.</a:t>
            </a: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ABBC829C-D09A-43DE-B9B9-5AEB4E9E12A8}" type="slidenum">
              <a:rPr lang="zh-CN" altLang="en-US" smtClean="0"/>
              <a:t>2</a:t>
            </a:fld>
            <a:endParaRPr lang="zh-CN" altLang="en-US"/>
          </a:p>
        </p:txBody>
      </p:sp>
    </p:spTree>
    <p:extLst>
      <p:ext uri="{BB962C8B-B14F-4D97-AF65-F5344CB8AC3E}">
        <p14:creationId xmlns:p14="http://schemas.microsoft.com/office/powerpoint/2010/main" val="2992175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Our dataset consists of historic loan records capturing borrower demographics, credit histories and loan characteristics.  From the outset our objectives were threefold: first to use regression to estimate the interest rate a borrower might receive; second to classify the credit grade assigned by lenders; and third to segment borrowers into similar groups through clustering.  To achieve these goals we assembled a reproducible pipeline that starts with exploratory data analysis, continues through feature engineering, modelling and evaluation, and culminates in automatically generated reports.  Understanding the raw data and the problem context provided a solid foundation for our modelling work.</a:t>
            </a: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ABBC829C-D09A-43DE-B9B9-5AEB4E9E12A8}" type="slidenum">
              <a:rPr lang="zh-CN" altLang="en-US" smtClean="0"/>
              <a:t>3</a:t>
            </a:fld>
            <a:endParaRPr lang="zh-CN" altLang="en-US"/>
          </a:p>
        </p:txBody>
      </p:sp>
    </p:spTree>
    <p:extLst>
      <p:ext uri="{BB962C8B-B14F-4D97-AF65-F5344CB8AC3E}">
        <p14:creationId xmlns:p14="http://schemas.microsoft.com/office/powerpoint/2010/main" val="33432035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We structured our workflow into several discrete stages.  We began with exploratory data analysis to understand distributions, relationships and temporal trends in the data.  Based on those insights we engineered features: categorical variables were one‑hot encoded and continuous variables were </a:t>
            </a:r>
            <a:r>
              <a:rPr lang="en-US" altLang="zh-CN" sz="1200" kern="1200" dirty="0" err="1">
                <a:solidFill>
                  <a:schemeClr val="tx1"/>
                </a:solidFill>
                <a:effectLst/>
                <a:latin typeface="+mn-lt"/>
                <a:ea typeface="+mn-ea"/>
                <a:cs typeface="+mn-cs"/>
              </a:rPr>
              <a:t>normalised</a:t>
            </a:r>
            <a:r>
              <a:rPr lang="en-US" altLang="zh-CN" sz="1200" kern="1200" dirty="0">
                <a:solidFill>
                  <a:schemeClr val="tx1"/>
                </a:solidFill>
                <a:effectLst/>
                <a:latin typeface="+mn-lt"/>
                <a:ea typeface="+mn-ea"/>
                <a:cs typeface="+mn-cs"/>
              </a:rPr>
              <a:t>.  For the regression task we employed a histogram‑based gradient boosting model to predict interest rates.  A similar gradient boosting classifier was used to assign credit grades.  Finally, to explore unsupervised structure we applied k‑means clustering on a principal components representation.  Each stage feeds into the next, and the entire pipeline is automated for repeatability.</a:t>
            </a: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ABBC829C-D09A-43DE-B9B9-5AEB4E9E12A8}" type="slidenum">
              <a:rPr lang="zh-CN" altLang="en-US" smtClean="0"/>
              <a:t>4</a:t>
            </a:fld>
            <a:endParaRPr lang="zh-CN" altLang="en-US"/>
          </a:p>
        </p:txBody>
      </p:sp>
    </p:spTree>
    <p:extLst>
      <p:ext uri="{BB962C8B-B14F-4D97-AF65-F5344CB8AC3E}">
        <p14:creationId xmlns:p14="http://schemas.microsoft.com/office/powerpoint/2010/main" val="35201457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Let’s look at the regression results.  The histogram‑based gradient boosting regressor achieved a mean absolute error of roughly 0.73 and a root mean squared error of 1.15 on the validation set.  On the held‑out test set the MAE rises slightly to about 1.11 and the RMSE to 1.77.  </a:t>
            </a:r>
            <a:endParaRPr lang="zh-C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Importantly, the coefficient of determination reaches 0.95 on validation and remains high at 0.90 on test.  The scatter plot of predicted versus true interest rates shows points lying close to the diagonal, confirming that the model captures the underlying relationship well.  These metrics indicate the approach provides accurate interest rate estimates for most borrowers.</a:t>
            </a: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ABBC829C-D09A-43DE-B9B9-5AEB4E9E12A8}" type="slidenum">
              <a:rPr lang="zh-CN" altLang="en-US" smtClean="0"/>
              <a:t>5</a:t>
            </a:fld>
            <a:endParaRPr lang="zh-CN" altLang="en-US"/>
          </a:p>
        </p:txBody>
      </p:sp>
    </p:spTree>
    <p:extLst>
      <p:ext uri="{BB962C8B-B14F-4D97-AF65-F5344CB8AC3E}">
        <p14:creationId xmlns:p14="http://schemas.microsoft.com/office/powerpoint/2010/main" val="24172368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To further assess our regressor we examined the residuals.  Residuals are the differences between predicted and true values; ideally they should be </a:t>
            </a:r>
            <a:r>
              <a:rPr lang="en-US" altLang="zh-CN" sz="1200" kern="1200" dirty="0" err="1">
                <a:solidFill>
                  <a:schemeClr val="tx1"/>
                </a:solidFill>
                <a:effectLst/>
                <a:latin typeface="+mn-lt"/>
                <a:ea typeface="+mn-ea"/>
                <a:cs typeface="+mn-cs"/>
              </a:rPr>
              <a:t>centred</a:t>
            </a:r>
            <a:r>
              <a:rPr lang="en-US" altLang="zh-CN" sz="1200" kern="1200" dirty="0">
                <a:solidFill>
                  <a:schemeClr val="tx1"/>
                </a:solidFill>
                <a:effectLst/>
                <a:latin typeface="+mn-lt"/>
                <a:ea typeface="+mn-ea"/>
                <a:cs typeface="+mn-cs"/>
              </a:rPr>
              <a:t> on zero with no discernible pattern.  In our case the residuals cluster tightly around zero and form an approximately symmetric distribution.  A few outliers exist, and there is a slight skew towards negative values, but the variance remains small overall.  The high R² values on both validation and test sets support the conclusion that our model fits the data well.  Nevertheless, exploring alternate models and tuning hyperparameters may help reduce those outliers and further tighten the residual distribution.</a:t>
            </a: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ABBC829C-D09A-43DE-B9B9-5AEB4E9E12A8}" type="slidenum">
              <a:rPr lang="zh-CN" altLang="en-US" smtClean="0"/>
              <a:t>6</a:t>
            </a:fld>
            <a:endParaRPr lang="zh-CN" altLang="en-US"/>
          </a:p>
        </p:txBody>
      </p:sp>
    </p:spTree>
    <p:extLst>
      <p:ext uri="{BB962C8B-B14F-4D97-AF65-F5344CB8AC3E}">
        <p14:creationId xmlns:p14="http://schemas.microsoft.com/office/powerpoint/2010/main" val="4249323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Turning to classification, we trained a histogram‑based gradient boosting classifier to predict a borrower</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s credit grade.  The model achieves an accuracy of about 57 per cent and a macro F1 score around 0.38; the weighted F1 score improves to 0.55 because the class distribution is highly imbalanced.  The overall area under the ROC curve stands at roughly 0.85, indicating good discriminative power.  Examining the confusion matrix reveals that the model tends to confuse adjacent grades, especially B and C, which is understandable given subtle differences among intermediate risk categories.  Future work will address class imbalance to improve macro F1.</a:t>
            </a: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ABBC829C-D09A-43DE-B9B9-5AEB4E9E12A8}" type="slidenum">
              <a:rPr lang="zh-CN" altLang="en-US" smtClean="0"/>
              <a:t>7</a:t>
            </a:fld>
            <a:endParaRPr lang="zh-CN" altLang="en-US"/>
          </a:p>
        </p:txBody>
      </p:sp>
    </p:spTree>
    <p:extLst>
      <p:ext uri="{BB962C8B-B14F-4D97-AF65-F5344CB8AC3E}">
        <p14:creationId xmlns:p14="http://schemas.microsoft.com/office/powerpoint/2010/main" val="23702920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We also evaluated the classifier using ROC and precision‑recall curves.  The ROC curve yields an impressive AUC of 0.936, suggesting the model separates positive and negative classes very well.  We selected the classification threshold using Youden</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s J statistic to balance sensitivity and specificity, and considered precision</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recall trade‑offs due to the imbalanced classes.  Beyond pure metrics, our analysis surfaced meaningful business insights: younger borrowers with lower incomes tend to default more frequently; larger loan amounts correlate with higher default risk; and borrowers with a history of late payments are significantly more likely to default.  These findings can guide underwriting policies and targeted interventions</a:t>
            </a:r>
            <a:endParaRPr lang="zh-CN" altLang="en-US" dirty="0"/>
          </a:p>
        </p:txBody>
      </p:sp>
      <p:sp>
        <p:nvSpPr>
          <p:cNvPr id="4" name="灯片编号占位符 3"/>
          <p:cNvSpPr>
            <a:spLocks noGrp="1"/>
          </p:cNvSpPr>
          <p:nvPr>
            <p:ph type="sldNum" sz="quarter" idx="5"/>
          </p:nvPr>
        </p:nvSpPr>
        <p:spPr/>
        <p:txBody>
          <a:bodyPr/>
          <a:lstStyle/>
          <a:p>
            <a:fld id="{ABBC829C-D09A-43DE-B9B9-5AEB4E9E12A8}" type="slidenum">
              <a:rPr lang="zh-CN" altLang="en-US" smtClean="0"/>
              <a:t>8</a:t>
            </a:fld>
            <a:endParaRPr lang="zh-CN" altLang="en-US"/>
          </a:p>
        </p:txBody>
      </p:sp>
    </p:spTree>
    <p:extLst>
      <p:ext uri="{BB962C8B-B14F-4D97-AF65-F5344CB8AC3E}">
        <p14:creationId xmlns:p14="http://schemas.microsoft.com/office/powerpoint/2010/main" val="31643077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To uncover hidden segments we applied k‑means clustering after dimensionality reduction.  Plotting the silhouette score across different cluster counts shows a clear peak around k equals 2, suggesting two well‑separated groups.  Profiling these clusters reveals distinct characteristics.  The first group comprises borrowers seeking smaller loans around thirteen thousand dollars, earning moderate incomes near seventy thousand and having roughly twenty total credit accounts.  The second cluster contains borrowers with larger loans around eighteen thousand dollars, higher incomes near ninety thousand and about thirty‑five total accounts.  Segmenting the population in this way allows lenders to tailor risk assessments and product offerings to each group</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s profile.</a:t>
            </a: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ABBC829C-D09A-43DE-B9B9-5AEB4E9E12A8}" type="slidenum">
              <a:rPr lang="zh-CN" altLang="en-US" smtClean="0"/>
              <a:t>9</a:t>
            </a:fld>
            <a:endParaRPr lang="zh-CN" altLang="en-US"/>
          </a:p>
        </p:txBody>
      </p:sp>
    </p:spTree>
    <p:extLst>
      <p:ext uri="{BB962C8B-B14F-4D97-AF65-F5344CB8AC3E}">
        <p14:creationId xmlns:p14="http://schemas.microsoft.com/office/powerpoint/2010/main" val="548224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Beyond traditional scripting, we experimented with LangGraph to automate the modelling and reporting process.  In our agent workflow the planner node determines which tasks need to run—data cleaning, training, evaluation, </a:t>
            </a:r>
            <a:r>
              <a:rPr lang="en-US" altLang="zh-CN" sz="1200" kern="1200" dirty="0" err="1">
                <a:solidFill>
                  <a:schemeClr val="tx1"/>
                </a:solidFill>
                <a:effectLst/>
                <a:latin typeface="+mn-lt"/>
                <a:ea typeface="+mn-ea"/>
                <a:cs typeface="+mn-cs"/>
              </a:rPr>
              <a:t>visualisation</a:t>
            </a:r>
            <a:r>
              <a:rPr lang="en-US" altLang="zh-CN" sz="1200" kern="1200" dirty="0">
                <a:solidFill>
                  <a:schemeClr val="tx1"/>
                </a:solidFill>
                <a:effectLst/>
                <a:latin typeface="+mn-lt"/>
                <a:ea typeface="+mn-ea"/>
                <a:cs typeface="+mn-cs"/>
              </a:rPr>
              <a:t> and report generation.  The executor then trains the appropriate model and returns metrics and artefacts.  Next, the </a:t>
            </a:r>
            <a:r>
              <a:rPr lang="en-US" altLang="zh-CN" sz="1200" kern="1200" dirty="0" err="1">
                <a:solidFill>
                  <a:schemeClr val="tx1"/>
                </a:solidFill>
                <a:effectLst/>
                <a:latin typeface="+mn-lt"/>
                <a:ea typeface="+mn-ea"/>
                <a:cs typeface="+mn-cs"/>
              </a:rPr>
              <a:t>visualiser</a:t>
            </a:r>
            <a:r>
              <a:rPr lang="en-US" altLang="zh-CN" sz="1200" kern="1200" dirty="0">
                <a:solidFill>
                  <a:schemeClr val="tx1"/>
                </a:solidFill>
                <a:effectLst/>
                <a:latin typeface="+mn-lt"/>
                <a:ea typeface="+mn-ea"/>
                <a:cs typeface="+mn-cs"/>
              </a:rPr>
              <a:t> produces plots such as ROC curves and confusion matrices for inclusion in the report.  Finally, the reporter compiles a Markdown report and can optionally call a language model to append high‑level insights.  This modular pipeline promotes reproducibility and frees us from manual bookkeeping.</a:t>
            </a: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ABBC829C-D09A-43DE-B9B9-5AEB4E9E12A8}" type="slidenum">
              <a:rPr lang="zh-CN" altLang="en-US" smtClean="0"/>
              <a:t>10</a:t>
            </a:fld>
            <a:endParaRPr lang="zh-CN" altLang="en-US"/>
          </a:p>
        </p:txBody>
      </p:sp>
    </p:spTree>
    <p:extLst>
      <p:ext uri="{BB962C8B-B14F-4D97-AF65-F5344CB8AC3E}">
        <p14:creationId xmlns:p14="http://schemas.microsoft.com/office/powerpoint/2010/main" val="14752893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Our progress reflects coordinated teamwork.  As the primary contributor, </a:t>
            </a:r>
            <a:r>
              <a:rPr lang="en-US" altLang="zh-CN" sz="1200" kern="1200" dirty="0" err="1">
                <a:solidFill>
                  <a:schemeClr val="tx1"/>
                </a:solidFill>
                <a:effectLst/>
                <a:latin typeface="+mn-lt"/>
                <a:ea typeface="+mn-ea"/>
                <a:cs typeface="+mn-cs"/>
              </a:rPr>
              <a:t>Xushuangbo</a:t>
            </a:r>
            <a:r>
              <a:rPr lang="en-US" altLang="zh-CN" sz="1200" kern="1200" dirty="0">
                <a:solidFill>
                  <a:schemeClr val="tx1"/>
                </a:solidFill>
                <a:effectLst/>
                <a:latin typeface="+mn-lt"/>
                <a:ea typeface="+mn-ea"/>
                <a:cs typeface="+mn-cs"/>
              </a:rPr>
              <a:t> designed and implemented the entire pipeline, conducted the exploratory analysis, built and tuned the models, drafted the reports and assembled this presentation.  </a:t>
            </a:r>
            <a:r>
              <a:rPr lang="en-US" altLang="zh-CN" sz="1200" kern="1200" dirty="0" err="1">
                <a:solidFill>
                  <a:schemeClr val="tx1"/>
                </a:solidFill>
                <a:effectLst/>
                <a:latin typeface="+mn-lt"/>
                <a:ea typeface="+mn-ea"/>
                <a:cs typeface="+mn-cs"/>
              </a:rPr>
              <a:t>Lishangze</a:t>
            </a:r>
            <a:r>
              <a:rPr lang="en-US" altLang="zh-CN" sz="1200" kern="1200" dirty="0">
                <a:solidFill>
                  <a:schemeClr val="tx1"/>
                </a:solidFill>
                <a:effectLst/>
                <a:latin typeface="+mn-lt"/>
                <a:ea typeface="+mn-ea"/>
                <a:cs typeface="+mn-cs"/>
              </a:rPr>
              <a:t> took on an important supporting role by </a:t>
            </a:r>
            <a:r>
              <a:rPr lang="en-US" altLang="zh-CN" sz="1200" kern="1200" dirty="0" err="1">
                <a:solidFill>
                  <a:schemeClr val="tx1"/>
                </a:solidFill>
                <a:effectLst/>
                <a:latin typeface="+mn-lt"/>
                <a:ea typeface="+mn-ea"/>
                <a:cs typeface="+mn-cs"/>
              </a:rPr>
              <a:t>organising</a:t>
            </a:r>
            <a:r>
              <a:rPr lang="en-US" altLang="zh-CN" sz="1200" kern="1200" dirty="0">
                <a:solidFill>
                  <a:schemeClr val="tx1"/>
                </a:solidFill>
                <a:effectLst/>
                <a:latin typeface="+mn-lt"/>
                <a:ea typeface="+mn-ea"/>
                <a:cs typeface="+mn-cs"/>
              </a:rPr>
              <a:t> the dataset, researching related literature, offering feedback on modelling decisions and improving the visual aesthetics of the slides.  The contribution chart illustrates that roughly eighty per cent of the work was handled by </a:t>
            </a:r>
            <a:r>
              <a:rPr lang="en-US" altLang="zh-CN" sz="1200" kern="1200" dirty="0" err="1">
                <a:solidFill>
                  <a:schemeClr val="tx1"/>
                </a:solidFill>
                <a:effectLst/>
                <a:latin typeface="+mn-lt"/>
                <a:ea typeface="+mn-ea"/>
                <a:cs typeface="+mn-cs"/>
              </a:rPr>
              <a:t>Xushuangbo</a:t>
            </a:r>
            <a:r>
              <a:rPr lang="en-US" altLang="zh-CN" sz="1200" kern="1200" dirty="0">
                <a:solidFill>
                  <a:schemeClr val="tx1"/>
                </a:solidFill>
                <a:effectLst/>
                <a:latin typeface="+mn-lt"/>
                <a:ea typeface="+mn-ea"/>
                <a:cs typeface="+mn-cs"/>
              </a:rPr>
              <a:t>, with the remaining twenty per cent contributed by the teammate.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By the midterm checkpoint we have achieved several milestones.  We completed the exploratory analysis, engineered features and built baseline regression and classification models.  Our regressor achieved high predictive accuracy with an R² near ninety‑five per cent, while our classifier reached a respectable AUC of 0.936 despite a modest macro F1 due to class imbalance.  We also explored k‑means clustering, revealing two distinct borrower segments, and integrated the LangGraph agent workflow to automate the process from training through reporting.  Along the way we learned the importance of rigorous data cleaning, dealing with imbalanced labels and carefully tuning models to avoid overfitting.</a:t>
            </a:r>
            <a:br>
              <a:rPr lang="en-US" altLang="zh-CN" sz="1200" kern="1200" dirty="0">
                <a:solidFill>
                  <a:schemeClr val="tx1"/>
                </a:solidFill>
                <a:effectLst/>
                <a:latin typeface="+mn-lt"/>
                <a:ea typeface="+mn-ea"/>
                <a:cs typeface="+mn-cs"/>
              </a:rPr>
            </a:b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ABBC829C-D09A-43DE-B9B9-5AEB4E9E12A8}" type="slidenum">
              <a:rPr lang="zh-CN" altLang="en-US" smtClean="0"/>
              <a:t>11</a:t>
            </a:fld>
            <a:endParaRPr lang="zh-CN" altLang="en-US"/>
          </a:p>
        </p:txBody>
      </p:sp>
    </p:spTree>
    <p:extLst>
      <p:ext uri="{BB962C8B-B14F-4D97-AF65-F5344CB8AC3E}">
        <p14:creationId xmlns:p14="http://schemas.microsoft.com/office/powerpoint/2010/main" val="17158459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Looking ahead, our next four weeks are clearly laid out.  In the first week we will tune hyperparameters and experiment with more powerful algorithms such as </a:t>
            </a:r>
            <a:r>
              <a:rPr lang="en-US" altLang="zh-CN" sz="1200" kern="1200" dirty="0" err="1">
                <a:solidFill>
                  <a:schemeClr val="tx1"/>
                </a:solidFill>
                <a:effectLst/>
                <a:latin typeface="+mn-lt"/>
                <a:ea typeface="+mn-ea"/>
                <a:cs typeface="+mn-cs"/>
              </a:rPr>
              <a:t>XGBoost</a:t>
            </a:r>
            <a:r>
              <a:rPr lang="en-US" altLang="zh-CN" sz="1200" kern="1200" dirty="0">
                <a:solidFill>
                  <a:schemeClr val="tx1"/>
                </a:solidFill>
                <a:effectLst/>
                <a:latin typeface="+mn-lt"/>
                <a:ea typeface="+mn-ea"/>
                <a:cs typeface="+mn-cs"/>
              </a:rPr>
              <a:t> and </a:t>
            </a:r>
            <a:r>
              <a:rPr lang="en-US" altLang="zh-CN" sz="1200" kern="1200" dirty="0" err="1">
                <a:solidFill>
                  <a:schemeClr val="tx1"/>
                </a:solidFill>
                <a:effectLst/>
                <a:latin typeface="+mn-lt"/>
                <a:ea typeface="+mn-ea"/>
                <a:cs typeface="+mn-cs"/>
              </a:rPr>
              <a:t>CatBoost</a:t>
            </a:r>
            <a:r>
              <a:rPr lang="en-US" altLang="zh-CN" sz="1200" kern="1200" dirty="0">
                <a:solidFill>
                  <a:schemeClr val="tx1"/>
                </a:solidFill>
                <a:effectLst/>
                <a:latin typeface="+mn-lt"/>
                <a:ea typeface="+mn-ea"/>
                <a:cs typeface="+mn-cs"/>
              </a:rPr>
              <a:t>.  The second week focuses on feature selection and interpretability: we will use techniques like SHAP values to understand model decisions and assess fairness.  In the third week we plan to integrate richer language‑model insights into the report and potentially tackle additional classification tasks.  Finally, the fourth week is reserved for compiling the final report and polishing the presentation for the end‑of‑term demonstration.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We </a:t>
            </a:r>
            <a:r>
              <a:rPr lang="en-US" altLang="zh-CN" sz="1200" kern="1200" dirty="0" err="1">
                <a:solidFill>
                  <a:schemeClr val="tx1"/>
                </a:solidFill>
                <a:effectLst/>
                <a:latin typeface="+mn-lt"/>
                <a:ea typeface="+mn-ea"/>
                <a:cs typeface="+mn-cs"/>
              </a:rPr>
              <a:t>recognise</a:t>
            </a:r>
            <a:r>
              <a:rPr lang="en-US" altLang="zh-CN" sz="1200" kern="1200" dirty="0">
                <a:solidFill>
                  <a:schemeClr val="tx1"/>
                </a:solidFill>
                <a:effectLst/>
                <a:latin typeface="+mn-lt"/>
                <a:ea typeface="+mn-ea"/>
                <a:cs typeface="+mn-cs"/>
              </a:rPr>
              <a:t> several risks that could impact our progress.  Data quality issues such as missing values or outliers can skew results; we will mitigate these through systematic cleaning and imputation.  Overfitting is always a concern with flexible models, so we will employ cross‑validation and </a:t>
            </a:r>
            <a:r>
              <a:rPr lang="en-US" altLang="zh-CN" sz="1200" kern="1200" dirty="0" err="1">
                <a:solidFill>
                  <a:schemeClr val="tx1"/>
                </a:solidFill>
                <a:effectLst/>
                <a:latin typeface="+mn-lt"/>
                <a:ea typeface="+mn-ea"/>
                <a:cs typeface="+mn-cs"/>
              </a:rPr>
              <a:t>regularisation</a:t>
            </a:r>
            <a:r>
              <a:rPr lang="en-US" altLang="zh-CN" sz="1200" kern="1200" dirty="0">
                <a:solidFill>
                  <a:schemeClr val="tx1"/>
                </a:solidFill>
                <a:effectLst/>
                <a:latin typeface="+mn-lt"/>
                <a:ea typeface="+mn-ea"/>
                <a:cs typeface="+mn-cs"/>
              </a:rPr>
              <a:t> and consider simpler models if necessary.  Class imbalance reduces macro F1; techniques like resampling or class weighting will help balance the training set.  Finally, computational demands may grow as models become more complex; </a:t>
            </a:r>
            <a:r>
              <a:rPr lang="en-US" altLang="zh-CN" sz="1200" kern="1200" dirty="0" err="1">
                <a:solidFill>
                  <a:schemeClr val="tx1"/>
                </a:solidFill>
                <a:effectLst/>
                <a:latin typeface="+mn-lt"/>
                <a:ea typeface="+mn-ea"/>
                <a:cs typeface="+mn-cs"/>
              </a:rPr>
              <a:t>optimising</a:t>
            </a:r>
            <a:r>
              <a:rPr lang="en-US" altLang="zh-CN" sz="1200" kern="1200" dirty="0">
                <a:solidFill>
                  <a:schemeClr val="tx1"/>
                </a:solidFill>
                <a:effectLst/>
                <a:latin typeface="+mn-lt"/>
                <a:ea typeface="+mn-ea"/>
                <a:cs typeface="+mn-cs"/>
              </a:rPr>
              <a:t> code and leveraging cloud or parallel computing resources will alleviate this.</a:t>
            </a:r>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ABBC829C-D09A-43DE-B9B9-5AEB4E9E12A8}" type="slidenum">
              <a:rPr lang="zh-CN" altLang="en-US" smtClean="0"/>
              <a:t>12</a:t>
            </a:fld>
            <a:endParaRPr lang="zh-CN" altLang="en-US"/>
          </a:p>
        </p:txBody>
      </p:sp>
    </p:spTree>
    <p:extLst>
      <p:ext uri="{BB962C8B-B14F-4D97-AF65-F5344CB8AC3E}">
        <p14:creationId xmlns:p14="http://schemas.microsoft.com/office/powerpoint/2010/main" val="23068083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In summary, we have established a reproducible pipeline that moves from exploratory analysis to automated report generation.  Our regression model delivers highly accurate interest rate predictions, while our classifier shows promise with a strong AUC, though macro F1 could be improved.  Clustering analysis uncovered two distinct borrower segments, enabling more nuanced risk strategies.  Integrating the LangGraph agent workflow has streamlined the process and improved reproducibility.  In the coming weeks we will tune our models, enhance interpretability and prepare our final deliverables.  Thank you for your attention, and we look forward to sharing our final results soon.</a:t>
            </a:r>
            <a:br>
              <a:rPr lang="en-US" altLang="zh-CN" sz="1200" kern="1200" dirty="0">
                <a:solidFill>
                  <a:schemeClr val="tx1"/>
                </a:solidFill>
                <a:effectLst/>
                <a:latin typeface="+mn-lt"/>
                <a:ea typeface="+mn-ea"/>
                <a:cs typeface="+mn-cs"/>
              </a:rPr>
            </a:br>
            <a:br>
              <a:rPr lang="en-US" altLang="zh-CN" sz="1200" kern="1200" dirty="0">
                <a:solidFill>
                  <a:schemeClr val="tx1"/>
                </a:solidFill>
                <a:effectLst/>
                <a:latin typeface="+mn-lt"/>
                <a:ea typeface="+mn-ea"/>
                <a:cs typeface="+mn-cs"/>
              </a:rPr>
            </a:br>
            <a:r>
              <a:rPr lang="en-US" altLang="zh-CN" sz="1200" kern="1200" dirty="0">
                <a:solidFill>
                  <a:schemeClr val="tx1"/>
                </a:solidFill>
                <a:effectLst/>
                <a:latin typeface="+mn-lt"/>
                <a:ea typeface="+mn-ea"/>
                <a:cs typeface="+mn-cs"/>
              </a:rPr>
              <a:t>Q&amp;A / Backup</a:t>
            </a:r>
            <a:br>
              <a:rPr lang="en-US" altLang="zh-CN" sz="1200" kern="1200" dirty="0">
                <a:solidFill>
                  <a:schemeClr val="tx1"/>
                </a:solidFill>
                <a:effectLst/>
                <a:latin typeface="+mn-lt"/>
                <a:ea typeface="+mn-ea"/>
                <a:cs typeface="+mn-cs"/>
              </a:rPr>
            </a:br>
            <a:r>
              <a:rPr lang="en-US" altLang="zh-CN" sz="1200" kern="1200" dirty="0">
                <a:solidFill>
                  <a:schemeClr val="tx1"/>
                </a:solidFill>
                <a:effectLst/>
                <a:latin typeface="+mn-lt"/>
                <a:ea typeface="+mn-ea"/>
                <a:cs typeface="+mn-cs"/>
              </a:rPr>
              <a:t>That concludes the prepared material.  Here we have a summary table of the classification metrics for quick reference.  Please feel free to ask any questions you have about our models, the metrics we reported, the clustering analysis or the agent workflow.  We are happy to discuss our methodology, dive deeper into specific results or elaborate on the business insights drawn from the analysis.  Your feedback will be invaluable as we refine our approach for the final submission.</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ABBC829C-D09A-43DE-B9B9-5AEB4E9E12A8}" type="slidenum">
              <a:rPr lang="zh-CN" altLang="en-US" smtClean="0"/>
              <a:t>13</a:t>
            </a:fld>
            <a:endParaRPr lang="zh-CN" altLang="en-US"/>
          </a:p>
        </p:txBody>
      </p:sp>
    </p:spTree>
    <p:extLst>
      <p:ext uri="{BB962C8B-B14F-4D97-AF65-F5344CB8AC3E}">
        <p14:creationId xmlns:p14="http://schemas.microsoft.com/office/powerpoint/2010/main" val="159097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9469C7-7593-DBF3-F3A0-023A3CB8ED6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329B886-E660-6FAD-A0FC-98AF891FC4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FBDB5B7-B935-0F2A-CE46-495AAA569C1C}"/>
              </a:ext>
            </a:extLst>
          </p:cNvPr>
          <p:cNvSpPr>
            <a:spLocks noGrp="1"/>
          </p:cNvSpPr>
          <p:nvPr>
            <p:ph type="dt" sz="half" idx="10"/>
          </p:nvPr>
        </p:nvSpPr>
        <p:spPr/>
        <p:txBody>
          <a:bodyPr/>
          <a:lstStyle/>
          <a:p>
            <a:fld id="{24AA53DC-87C5-4BEF-A2BB-A0A5F6D86BC2}" type="datetimeFigureOut">
              <a:rPr lang="zh-CN" altLang="en-US" smtClean="0"/>
              <a:t>2025/10/12</a:t>
            </a:fld>
            <a:endParaRPr lang="zh-CN" altLang="en-US"/>
          </a:p>
        </p:txBody>
      </p:sp>
      <p:sp>
        <p:nvSpPr>
          <p:cNvPr id="5" name="页脚占位符 4">
            <a:extLst>
              <a:ext uri="{FF2B5EF4-FFF2-40B4-BE49-F238E27FC236}">
                <a16:creationId xmlns:a16="http://schemas.microsoft.com/office/drawing/2014/main" id="{617C78D9-3A5A-519D-BF6E-0BE2063AF4E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1B7D860-92EE-81C6-CDD9-CF389F55DC75}"/>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1013163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1CE663-DF40-994E-CBF7-3AB60F1C4D8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5058717-6128-F9BD-7F9B-90B66360D73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80510E3-29C7-8C23-09BB-CDC91CC1E05F}"/>
              </a:ext>
            </a:extLst>
          </p:cNvPr>
          <p:cNvSpPr>
            <a:spLocks noGrp="1"/>
          </p:cNvSpPr>
          <p:nvPr>
            <p:ph type="dt" sz="half" idx="10"/>
          </p:nvPr>
        </p:nvSpPr>
        <p:spPr/>
        <p:txBody>
          <a:bodyPr/>
          <a:lstStyle/>
          <a:p>
            <a:fld id="{24AA53DC-87C5-4BEF-A2BB-A0A5F6D86BC2}" type="datetimeFigureOut">
              <a:rPr lang="zh-CN" altLang="en-US" smtClean="0"/>
              <a:t>2025/10/12</a:t>
            </a:fld>
            <a:endParaRPr lang="zh-CN" altLang="en-US"/>
          </a:p>
        </p:txBody>
      </p:sp>
      <p:sp>
        <p:nvSpPr>
          <p:cNvPr id="5" name="页脚占位符 4">
            <a:extLst>
              <a:ext uri="{FF2B5EF4-FFF2-40B4-BE49-F238E27FC236}">
                <a16:creationId xmlns:a16="http://schemas.microsoft.com/office/drawing/2014/main" id="{6857CA7B-427C-A91C-1C02-BC31E75258C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EBF562D-2822-B847-6BF4-FE07588F02AD}"/>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68930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7465E-4834-9AB2-6F1A-E1A874CE44A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A5A437B-9280-91E2-C003-8B49E5596C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0BADEC1-AEA3-2ED6-5749-84E5DB17EFB1}"/>
              </a:ext>
            </a:extLst>
          </p:cNvPr>
          <p:cNvSpPr>
            <a:spLocks noGrp="1"/>
          </p:cNvSpPr>
          <p:nvPr>
            <p:ph type="dt" sz="half" idx="10"/>
          </p:nvPr>
        </p:nvSpPr>
        <p:spPr/>
        <p:txBody>
          <a:bodyPr/>
          <a:lstStyle/>
          <a:p>
            <a:fld id="{24AA53DC-87C5-4BEF-A2BB-A0A5F6D86BC2}" type="datetimeFigureOut">
              <a:rPr lang="zh-CN" altLang="en-US" smtClean="0"/>
              <a:t>2025/10/12</a:t>
            </a:fld>
            <a:endParaRPr lang="zh-CN" altLang="en-US"/>
          </a:p>
        </p:txBody>
      </p:sp>
      <p:sp>
        <p:nvSpPr>
          <p:cNvPr id="5" name="页脚占位符 4">
            <a:extLst>
              <a:ext uri="{FF2B5EF4-FFF2-40B4-BE49-F238E27FC236}">
                <a16:creationId xmlns:a16="http://schemas.microsoft.com/office/drawing/2014/main" id="{D2086BC6-1EEF-87AD-03FB-5B8922825C7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9AAEAE8-351E-C1AD-9B8F-1DA203D47516}"/>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3148450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C84F41-996C-D8A9-B280-AAA020D8615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1BB2D23-F343-7EDD-540E-7680CC3EEA9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86BACA9-6126-3D51-CFCC-D9D014D0C48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3062266-4BA2-29D5-C38A-AAB801CA9A72}"/>
              </a:ext>
            </a:extLst>
          </p:cNvPr>
          <p:cNvSpPr>
            <a:spLocks noGrp="1"/>
          </p:cNvSpPr>
          <p:nvPr>
            <p:ph type="dt" sz="half" idx="10"/>
          </p:nvPr>
        </p:nvSpPr>
        <p:spPr/>
        <p:txBody>
          <a:bodyPr/>
          <a:lstStyle/>
          <a:p>
            <a:fld id="{24AA53DC-87C5-4BEF-A2BB-A0A5F6D86BC2}" type="datetimeFigureOut">
              <a:rPr lang="zh-CN" altLang="en-US" smtClean="0"/>
              <a:t>2025/10/12</a:t>
            </a:fld>
            <a:endParaRPr lang="zh-CN" altLang="en-US"/>
          </a:p>
        </p:txBody>
      </p:sp>
      <p:sp>
        <p:nvSpPr>
          <p:cNvPr id="6" name="页脚占位符 5">
            <a:extLst>
              <a:ext uri="{FF2B5EF4-FFF2-40B4-BE49-F238E27FC236}">
                <a16:creationId xmlns:a16="http://schemas.microsoft.com/office/drawing/2014/main" id="{70DBFB8B-04E7-042B-B0D7-579A7931316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96647E4-C096-E185-5D91-DEBACF73D9D7}"/>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1188710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155991-98BE-4450-0DE7-FD4D18B86AC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FD5388D-455B-DE9A-18D8-C29FFEE504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512DFB-BE1E-EB0C-361C-37CE47B3DDF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1CA5785-5569-B7F9-F2AA-C702CC103A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54ADB32-FDDB-7D15-F6B6-86405265732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9DE6DBC-2A3A-D2FD-BB49-A692BB7315D9}"/>
              </a:ext>
            </a:extLst>
          </p:cNvPr>
          <p:cNvSpPr>
            <a:spLocks noGrp="1"/>
          </p:cNvSpPr>
          <p:nvPr>
            <p:ph type="dt" sz="half" idx="10"/>
          </p:nvPr>
        </p:nvSpPr>
        <p:spPr/>
        <p:txBody>
          <a:bodyPr/>
          <a:lstStyle/>
          <a:p>
            <a:fld id="{24AA53DC-87C5-4BEF-A2BB-A0A5F6D86BC2}" type="datetimeFigureOut">
              <a:rPr lang="zh-CN" altLang="en-US" smtClean="0"/>
              <a:t>2025/10/12</a:t>
            </a:fld>
            <a:endParaRPr lang="zh-CN" altLang="en-US"/>
          </a:p>
        </p:txBody>
      </p:sp>
      <p:sp>
        <p:nvSpPr>
          <p:cNvPr id="8" name="页脚占位符 7">
            <a:extLst>
              <a:ext uri="{FF2B5EF4-FFF2-40B4-BE49-F238E27FC236}">
                <a16:creationId xmlns:a16="http://schemas.microsoft.com/office/drawing/2014/main" id="{385956D9-A43E-3B8F-8A52-F632956DEDA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AC70CD5C-A7CB-4AA0-E1D4-9FE32363C69A}"/>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2469496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F861E-AD45-21E4-60B5-86A9F225135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9006E9A-A69C-8100-E3E0-96E7294036F1}"/>
              </a:ext>
            </a:extLst>
          </p:cNvPr>
          <p:cNvSpPr>
            <a:spLocks noGrp="1"/>
          </p:cNvSpPr>
          <p:nvPr>
            <p:ph type="dt" sz="half" idx="10"/>
          </p:nvPr>
        </p:nvSpPr>
        <p:spPr/>
        <p:txBody>
          <a:bodyPr/>
          <a:lstStyle/>
          <a:p>
            <a:fld id="{24AA53DC-87C5-4BEF-A2BB-A0A5F6D86BC2}" type="datetimeFigureOut">
              <a:rPr lang="zh-CN" altLang="en-US" smtClean="0"/>
              <a:t>2025/10/12</a:t>
            </a:fld>
            <a:endParaRPr lang="zh-CN" altLang="en-US"/>
          </a:p>
        </p:txBody>
      </p:sp>
      <p:sp>
        <p:nvSpPr>
          <p:cNvPr id="4" name="页脚占位符 3">
            <a:extLst>
              <a:ext uri="{FF2B5EF4-FFF2-40B4-BE49-F238E27FC236}">
                <a16:creationId xmlns:a16="http://schemas.microsoft.com/office/drawing/2014/main" id="{A67C4B2D-5549-7EA3-EE86-E0545B9F891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918D20D-1404-758A-557C-9614345D7D42}"/>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1667744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6F81AAF-509F-C434-FB98-B9154D60B3D2}"/>
              </a:ext>
            </a:extLst>
          </p:cNvPr>
          <p:cNvSpPr>
            <a:spLocks noGrp="1"/>
          </p:cNvSpPr>
          <p:nvPr>
            <p:ph type="dt" sz="half" idx="10"/>
          </p:nvPr>
        </p:nvSpPr>
        <p:spPr/>
        <p:txBody>
          <a:bodyPr/>
          <a:lstStyle/>
          <a:p>
            <a:fld id="{24AA53DC-87C5-4BEF-A2BB-A0A5F6D86BC2}" type="datetimeFigureOut">
              <a:rPr lang="zh-CN" altLang="en-US" smtClean="0"/>
              <a:t>2025/10/12</a:t>
            </a:fld>
            <a:endParaRPr lang="zh-CN" altLang="en-US"/>
          </a:p>
        </p:txBody>
      </p:sp>
      <p:sp>
        <p:nvSpPr>
          <p:cNvPr id="3" name="页脚占位符 2">
            <a:extLst>
              <a:ext uri="{FF2B5EF4-FFF2-40B4-BE49-F238E27FC236}">
                <a16:creationId xmlns:a16="http://schemas.microsoft.com/office/drawing/2014/main" id="{D01AF0D6-991E-0CA4-05E0-F632F765F83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CF8AF06-87B6-1650-D3EF-3F8C9D8C17EC}"/>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2815298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034748-88FD-96F4-C7E1-856F24AB7BC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0503071-7180-F55A-389B-5647025ED4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9F1A52E-5A79-68C4-3082-3ABDEECFCA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AA2CCD1-585C-1960-3017-6B690E76FB6E}"/>
              </a:ext>
            </a:extLst>
          </p:cNvPr>
          <p:cNvSpPr>
            <a:spLocks noGrp="1"/>
          </p:cNvSpPr>
          <p:nvPr>
            <p:ph type="dt" sz="half" idx="10"/>
          </p:nvPr>
        </p:nvSpPr>
        <p:spPr/>
        <p:txBody>
          <a:bodyPr/>
          <a:lstStyle/>
          <a:p>
            <a:fld id="{24AA53DC-87C5-4BEF-A2BB-A0A5F6D86BC2}" type="datetimeFigureOut">
              <a:rPr lang="zh-CN" altLang="en-US" smtClean="0"/>
              <a:t>2025/10/12</a:t>
            </a:fld>
            <a:endParaRPr lang="zh-CN" altLang="en-US"/>
          </a:p>
        </p:txBody>
      </p:sp>
      <p:sp>
        <p:nvSpPr>
          <p:cNvPr id="6" name="页脚占位符 5">
            <a:extLst>
              <a:ext uri="{FF2B5EF4-FFF2-40B4-BE49-F238E27FC236}">
                <a16:creationId xmlns:a16="http://schemas.microsoft.com/office/drawing/2014/main" id="{47A127A7-78A9-B786-1035-C248A08FBE3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7517844-BD11-D75D-C185-5B3E67045046}"/>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1812762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B90A90-3F89-A470-5324-9E18216DC31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852F391-E543-DF09-7E59-C5F32891D7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3DFD44A-9F83-4D02-0683-A8C41AF9C2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642E759-B849-5E91-DD6C-FE55E622C484}"/>
              </a:ext>
            </a:extLst>
          </p:cNvPr>
          <p:cNvSpPr>
            <a:spLocks noGrp="1"/>
          </p:cNvSpPr>
          <p:nvPr>
            <p:ph type="dt" sz="half" idx="10"/>
          </p:nvPr>
        </p:nvSpPr>
        <p:spPr/>
        <p:txBody>
          <a:bodyPr/>
          <a:lstStyle/>
          <a:p>
            <a:fld id="{24AA53DC-87C5-4BEF-A2BB-A0A5F6D86BC2}" type="datetimeFigureOut">
              <a:rPr lang="zh-CN" altLang="en-US" smtClean="0"/>
              <a:t>2025/10/12</a:t>
            </a:fld>
            <a:endParaRPr lang="zh-CN" altLang="en-US"/>
          </a:p>
        </p:txBody>
      </p:sp>
      <p:sp>
        <p:nvSpPr>
          <p:cNvPr id="6" name="页脚占位符 5">
            <a:extLst>
              <a:ext uri="{FF2B5EF4-FFF2-40B4-BE49-F238E27FC236}">
                <a16:creationId xmlns:a16="http://schemas.microsoft.com/office/drawing/2014/main" id="{C57D36E4-4813-948F-5244-C93B8238EFA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E5E5534-2187-EE89-B7A8-23C4F1DD85B5}"/>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2742371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16C91A-66FF-4353-2404-87CB0776A0F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25D544-0A2B-DC7B-09D9-D4D595EBE21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52812B2-A70E-CA4F-91F7-4EE6A9725124}"/>
              </a:ext>
            </a:extLst>
          </p:cNvPr>
          <p:cNvSpPr>
            <a:spLocks noGrp="1"/>
          </p:cNvSpPr>
          <p:nvPr>
            <p:ph type="dt" sz="half" idx="10"/>
          </p:nvPr>
        </p:nvSpPr>
        <p:spPr/>
        <p:txBody>
          <a:bodyPr/>
          <a:lstStyle/>
          <a:p>
            <a:fld id="{24AA53DC-87C5-4BEF-A2BB-A0A5F6D86BC2}" type="datetimeFigureOut">
              <a:rPr lang="zh-CN" altLang="en-US" smtClean="0"/>
              <a:t>2025/10/12</a:t>
            </a:fld>
            <a:endParaRPr lang="zh-CN" altLang="en-US"/>
          </a:p>
        </p:txBody>
      </p:sp>
      <p:sp>
        <p:nvSpPr>
          <p:cNvPr id="5" name="页脚占位符 4">
            <a:extLst>
              <a:ext uri="{FF2B5EF4-FFF2-40B4-BE49-F238E27FC236}">
                <a16:creationId xmlns:a16="http://schemas.microsoft.com/office/drawing/2014/main" id="{8AE77F0C-C982-B34B-582C-CD4303C2F06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0653264-91F1-8FE5-BF5B-AEE16862E9D7}"/>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3665129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228A163-563B-A9AF-1FED-4F4E1CDF2B7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B03BB3E-7603-A8AB-AF31-3E8656EBB0B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4D9204F-38A8-0E06-F2A6-E60D15019C2D}"/>
              </a:ext>
            </a:extLst>
          </p:cNvPr>
          <p:cNvSpPr>
            <a:spLocks noGrp="1"/>
          </p:cNvSpPr>
          <p:nvPr>
            <p:ph type="dt" sz="half" idx="10"/>
          </p:nvPr>
        </p:nvSpPr>
        <p:spPr/>
        <p:txBody>
          <a:bodyPr/>
          <a:lstStyle/>
          <a:p>
            <a:fld id="{24AA53DC-87C5-4BEF-A2BB-A0A5F6D86BC2}" type="datetimeFigureOut">
              <a:rPr lang="zh-CN" altLang="en-US" smtClean="0"/>
              <a:t>2025/10/12</a:t>
            </a:fld>
            <a:endParaRPr lang="zh-CN" altLang="en-US"/>
          </a:p>
        </p:txBody>
      </p:sp>
      <p:sp>
        <p:nvSpPr>
          <p:cNvPr id="5" name="页脚占位符 4">
            <a:extLst>
              <a:ext uri="{FF2B5EF4-FFF2-40B4-BE49-F238E27FC236}">
                <a16:creationId xmlns:a16="http://schemas.microsoft.com/office/drawing/2014/main" id="{8BF26585-28AE-4873-7840-0F9EAD78048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A2E60EF-4907-BF74-9280-C93C88735466}"/>
              </a:ext>
            </a:extLst>
          </p:cNvPr>
          <p:cNvSpPr>
            <a:spLocks noGrp="1"/>
          </p:cNvSpPr>
          <p:nvPr>
            <p:ph type="sldNum" sz="quarter" idx="12"/>
          </p:nvPr>
        </p:nvSpPr>
        <p:spPr/>
        <p:txBody>
          <a:body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3575295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D445379-CD7C-0731-BAD3-EDDA9DA966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03CE6BE-32CD-7735-A7CE-78934C50EA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DF49D5D-FE9D-2F59-3317-DEEAA059AC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AA53DC-87C5-4BEF-A2BB-A0A5F6D86BC2}" type="datetimeFigureOut">
              <a:rPr lang="zh-CN" altLang="en-US" smtClean="0"/>
              <a:t>2025/10/12</a:t>
            </a:fld>
            <a:endParaRPr lang="zh-CN" altLang="en-US"/>
          </a:p>
        </p:txBody>
      </p:sp>
      <p:sp>
        <p:nvSpPr>
          <p:cNvPr id="5" name="页脚占位符 4">
            <a:extLst>
              <a:ext uri="{FF2B5EF4-FFF2-40B4-BE49-F238E27FC236}">
                <a16:creationId xmlns:a16="http://schemas.microsoft.com/office/drawing/2014/main" id="{05D07B80-27FE-6402-30C5-627AC0E491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E2E3DC9-A62D-5E14-B340-EF8C4C4FB0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0CBD5-D5A3-49CE-91B2-C42A65511701}" type="slidenum">
              <a:rPr lang="zh-CN" altLang="en-US" smtClean="0"/>
              <a:t>‹#›</a:t>
            </a:fld>
            <a:endParaRPr lang="zh-CN" altLang="en-US"/>
          </a:p>
        </p:txBody>
      </p:sp>
    </p:spTree>
    <p:extLst>
      <p:ext uri="{BB962C8B-B14F-4D97-AF65-F5344CB8AC3E}">
        <p14:creationId xmlns:p14="http://schemas.microsoft.com/office/powerpoint/2010/main" val="5653989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9.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3.xml"/><Relationship Id="rId5" Type="http://schemas.openxmlformats.org/officeDocument/2006/relationships/slide" Target="slide5.xml"/><Relationship Id="rId10" Type="http://schemas.openxmlformats.org/officeDocument/2006/relationships/slide" Target="slide12.xml"/><Relationship Id="rId4" Type="http://schemas.openxmlformats.org/officeDocument/2006/relationships/slide" Target="slide4.xml"/><Relationship Id="rId9" Type="http://schemas.openxmlformats.org/officeDocument/2006/relationships/slide" Target="slide1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6BB05261-FB93-5C9D-5A84-1194480C1544}"/>
              </a:ext>
            </a:extLst>
          </p:cNvPr>
          <p:cNvPicPr>
            <a:picLocks noChangeAspect="1"/>
          </p:cNvPicPr>
          <p:nvPr/>
        </p:nvPicPr>
        <p:blipFill>
          <a:blip r:embed="rId3">
            <a:alphaModFix amt="70000"/>
            <a:extLst>
              <a:ext uri="{BEBA8EAE-BF5A-486C-A8C5-ECC9F3942E4B}">
                <a14:imgProps xmlns:a14="http://schemas.microsoft.com/office/drawing/2010/main">
                  <a14:imgLayer r:embed="rId4">
                    <a14:imgEffect>
                      <a14:saturation sat="33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0" y="0"/>
            <a:ext cx="12200311" cy="6858000"/>
          </a:xfrm>
          <a:prstGeom prst="rect">
            <a:avLst/>
          </a:prstGeom>
        </p:spPr>
      </p:pic>
      <p:sp>
        <p:nvSpPr>
          <p:cNvPr id="2" name="标题 1">
            <a:extLst>
              <a:ext uri="{FF2B5EF4-FFF2-40B4-BE49-F238E27FC236}">
                <a16:creationId xmlns:a16="http://schemas.microsoft.com/office/drawing/2014/main" id="{FEDE2102-AC69-4704-18AF-78634A564F5D}"/>
              </a:ext>
            </a:extLst>
          </p:cNvPr>
          <p:cNvSpPr>
            <a:spLocks noGrp="1"/>
          </p:cNvSpPr>
          <p:nvPr>
            <p:ph type="ctrTitle"/>
          </p:nvPr>
        </p:nvSpPr>
        <p:spPr/>
        <p:txBody>
          <a:bodyPr/>
          <a:lstStyle/>
          <a:p>
            <a:r>
              <a:rPr lang="en-US" altLang="zh-CN" dirty="0">
                <a:latin typeface="Times New Roman" panose="02020603050405020304" pitchFamily="18" charset="0"/>
                <a:cs typeface="Times New Roman" panose="02020603050405020304" pitchFamily="18" charset="0"/>
              </a:rPr>
              <a:t>Financial Guardian: Financial Risk Prediction</a:t>
            </a:r>
            <a:endParaRPr lang="zh-CN" altLang="en-US" dirty="0">
              <a:latin typeface="Times New Roman" panose="02020603050405020304" pitchFamily="18" charset="0"/>
              <a:cs typeface="Times New Roman" panose="02020603050405020304" pitchFamily="18" charset="0"/>
            </a:endParaRPr>
          </a:p>
        </p:txBody>
      </p:sp>
      <p:sp>
        <p:nvSpPr>
          <p:cNvPr id="3" name="副标题 2">
            <a:extLst>
              <a:ext uri="{FF2B5EF4-FFF2-40B4-BE49-F238E27FC236}">
                <a16:creationId xmlns:a16="http://schemas.microsoft.com/office/drawing/2014/main" id="{46AC0701-B425-EB04-DCF3-F94C72EBC0B8}"/>
              </a:ext>
            </a:extLst>
          </p:cNvPr>
          <p:cNvSpPr>
            <a:spLocks noGrp="1"/>
          </p:cNvSpPr>
          <p:nvPr>
            <p:ph type="subTitle" idx="1"/>
          </p:nvPr>
        </p:nvSpPr>
        <p:spPr>
          <a:xfrm>
            <a:off x="1524000" y="4443179"/>
            <a:ext cx="9144000" cy="1655762"/>
          </a:xfrm>
        </p:spPr>
        <p:txBody>
          <a:bodyPr>
            <a:normAutofit/>
          </a:bodyPr>
          <a:lstStyle/>
          <a:p>
            <a:r>
              <a:rPr lang="en-US" altLang="zh-CN" dirty="0"/>
              <a:t>Team: </a:t>
            </a:r>
            <a:r>
              <a:rPr lang="en-US" altLang="zh-CN" dirty="0">
                <a:latin typeface="Times New Roman" panose="02020603050405020304" pitchFamily="18" charset="0"/>
                <a:cs typeface="Times New Roman" panose="02020603050405020304" pitchFamily="18" charset="0"/>
              </a:rPr>
              <a:t>Northlake</a:t>
            </a:r>
          </a:p>
          <a:p>
            <a:r>
              <a:rPr lang="zh-CN" altLang="en-US" dirty="0">
                <a:latin typeface="Times New Roman" panose="02020603050405020304" pitchFamily="18" charset="0"/>
                <a:ea typeface="宋体" panose="02010600030101010101" pitchFamily="2" charset="-122"/>
                <a:cs typeface="Times New Roman" panose="02020603050405020304" pitchFamily="18" charset="0"/>
              </a:rPr>
              <a:t>李尚泽</a:t>
            </a:r>
            <a:r>
              <a:rPr lang="en-US" altLang="zh-CN" dirty="0">
                <a:latin typeface="Times New Roman" panose="02020603050405020304" pitchFamily="18" charset="0"/>
                <a:ea typeface="宋体" panose="02010600030101010101" pitchFamily="2" charset="-122"/>
                <a:cs typeface="Times New Roman" panose="02020603050405020304" pitchFamily="18" charset="0"/>
              </a:rPr>
              <a:t>-1120242314</a:t>
            </a:r>
          </a:p>
          <a:p>
            <a:r>
              <a:rPr lang="zh-CN" altLang="en-US" dirty="0">
                <a:latin typeface="Times New Roman" panose="02020603050405020304" pitchFamily="18" charset="0"/>
                <a:ea typeface="宋体" panose="02010600030101010101" pitchFamily="2" charset="-122"/>
                <a:cs typeface="Times New Roman" panose="02020603050405020304" pitchFamily="18" charset="0"/>
              </a:rPr>
              <a:t>许双博</a:t>
            </a:r>
            <a:r>
              <a:rPr lang="en-US" altLang="zh-CN" dirty="0">
                <a:latin typeface="Times New Roman" panose="02020603050405020304" pitchFamily="18" charset="0"/>
                <a:ea typeface="宋体" panose="02010600030101010101" pitchFamily="2" charset="-122"/>
                <a:cs typeface="Times New Roman" panose="02020603050405020304" pitchFamily="18" charset="0"/>
              </a:rPr>
              <a:t>-1120243389</a:t>
            </a:r>
          </a:p>
          <a:p>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22E4EDFC-78AA-73B8-AE53-71B35225515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1626" y="140236"/>
            <a:ext cx="1078744" cy="1077225"/>
          </a:xfrm>
          <a:prstGeom prst="rect">
            <a:avLst/>
          </a:prstGeom>
        </p:spPr>
      </p:pic>
      <p:pic>
        <p:nvPicPr>
          <p:cNvPr id="6" name="图片 5">
            <a:extLst>
              <a:ext uri="{FF2B5EF4-FFF2-40B4-BE49-F238E27FC236}">
                <a16:creationId xmlns:a16="http://schemas.microsoft.com/office/drawing/2014/main" id="{E91B2480-5CA5-7264-0E33-FCCCA799251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30719" y="-197885"/>
            <a:ext cx="1961281" cy="1961281"/>
          </a:xfrm>
          <a:prstGeom prst="rect">
            <a:avLst/>
          </a:prstGeom>
        </p:spPr>
      </p:pic>
      <p:sp>
        <p:nvSpPr>
          <p:cNvPr id="5" name="标题 1">
            <a:extLst>
              <a:ext uri="{FF2B5EF4-FFF2-40B4-BE49-F238E27FC236}">
                <a16:creationId xmlns:a16="http://schemas.microsoft.com/office/drawing/2014/main" id="{2C91FE3B-BE0B-6F0F-02E7-5F1A79A9E40C}"/>
              </a:ext>
            </a:extLst>
          </p:cNvPr>
          <p:cNvSpPr txBox="1">
            <a:spLocks/>
          </p:cNvSpPr>
          <p:nvPr/>
        </p:nvSpPr>
        <p:spPr>
          <a:xfrm>
            <a:off x="3000030" y="1668463"/>
            <a:ext cx="9144000"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2800" dirty="0">
                <a:latin typeface="Times New Roman" panose="02020603050405020304" pitchFamily="18" charset="0"/>
                <a:cs typeface="Times New Roman" panose="02020603050405020304" pitchFamily="18" charset="0"/>
              </a:rPr>
              <a:t>——Midterm Checkpoint · 2025–2026 Autumn Semester</a:t>
            </a:r>
            <a:endParaRPr lang="zh-CN"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6182038"/>
      </p:ext>
    </p:extLst>
  </p:cSld>
  <p:clrMapOvr>
    <a:masterClrMapping/>
  </p:clrMapOvr>
  <mc:AlternateContent xmlns:mc="http://schemas.openxmlformats.org/markup-compatibility/2006" xmlns:p14="http://schemas.microsoft.com/office/powerpoint/2010/main">
    <mc:Choice Requires="p14">
      <p:transition spd="slow" p14:dur="2000" advTm="11652"/>
    </mc:Choice>
    <mc:Fallback xmlns="">
      <p:transition spd="slow" advTm="1165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47EAAD89-1AED-5DFB-411A-0A1CBC199557}"/>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E2620DE5-5E36-59D7-B151-B6210B8CE6C2}"/>
              </a:ext>
            </a:extLst>
          </p:cNvPr>
          <p:cNvSpPr txBox="1"/>
          <p:nvPr/>
        </p:nvSpPr>
        <p:spPr>
          <a:xfrm>
            <a:off x="9321800" y="6359979"/>
            <a:ext cx="2208893" cy="369332"/>
          </a:xfrm>
          <a:prstGeom prst="rect">
            <a:avLst/>
          </a:prstGeom>
          <a:noFill/>
        </p:spPr>
        <p:txBody>
          <a:bodyPr wrap="square" rtlCol="0">
            <a:spAutoFit/>
          </a:bodyPr>
          <a:lstStyle/>
          <a:p>
            <a:r>
              <a:rPr lang="en-US" altLang="zh-CN" dirty="0"/>
              <a:t>Midterm Checkpoint</a:t>
            </a:r>
            <a:endParaRPr lang="zh-CN" altLang="en-US" dirty="0"/>
          </a:p>
        </p:txBody>
      </p:sp>
      <p:sp>
        <p:nvSpPr>
          <p:cNvPr id="5" name="矩形: 圆顶角 4">
            <a:extLst>
              <a:ext uri="{FF2B5EF4-FFF2-40B4-BE49-F238E27FC236}">
                <a16:creationId xmlns:a16="http://schemas.microsoft.com/office/drawing/2014/main" id="{A0A1718B-B00A-5572-3F9B-CCFDFB9EF821}"/>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44CF5D88-CD54-A62E-FF50-034DEAFA477F}"/>
              </a:ext>
            </a:extLst>
          </p:cNvPr>
          <p:cNvSpPr txBox="1"/>
          <p:nvPr/>
        </p:nvSpPr>
        <p:spPr>
          <a:xfrm>
            <a:off x="640079" y="22206"/>
            <a:ext cx="3167482"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Agenda</a:t>
            </a:r>
            <a:endParaRPr lang="zh-CN" altLang="en-US" sz="2000" b="1" dirty="0">
              <a:latin typeface="High Tower Text" panose="02040502050506030303" pitchFamily="18" charset="0"/>
            </a:endParaRPr>
          </a:p>
        </p:txBody>
      </p:sp>
      <p:sp>
        <p:nvSpPr>
          <p:cNvPr id="7" name="文本框 6">
            <a:extLst>
              <a:ext uri="{FF2B5EF4-FFF2-40B4-BE49-F238E27FC236}">
                <a16:creationId xmlns:a16="http://schemas.microsoft.com/office/drawing/2014/main" id="{4BCC4BA3-334D-B216-C18D-585DA9BC5ECD}"/>
              </a:ext>
            </a:extLst>
          </p:cNvPr>
          <p:cNvSpPr txBox="1"/>
          <p:nvPr/>
        </p:nvSpPr>
        <p:spPr>
          <a:xfrm>
            <a:off x="640079" y="952500"/>
            <a:ext cx="9646921" cy="5011949"/>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2400" dirty="0">
                <a:solidFill>
                  <a:srgbClr val="030A18"/>
                </a:solidFill>
                <a:latin typeface="Times New Roman" panose="02020603050405020304" pitchFamily="18" charset="0"/>
                <a:cs typeface="Times New Roman" panose="02020603050405020304" pitchFamily="18" charset="0"/>
                <a:hlinkClick r:id="rId3" action="ppaction://hlinksldjump"/>
              </a:rPr>
              <a:t>Project overview</a:t>
            </a:r>
            <a:endParaRPr lang="en-US" altLang="zh-CN" sz="24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US" altLang="zh-CN" sz="2400" dirty="0">
                <a:solidFill>
                  <a:srgbClr val="030A18"/>
                </a:solidFill>
                <a:latin typeface="Times New Roman" panose="02020603050405020304" pitchFamily="18" charset="0"/>
                <a:cs typeface="Times New Roman" panose="02020603050405020304" pitchFamily="18" charset="0"/>
                <a:hlinkClick r:id="rId4" action="ppaction://hlinksldjump"/>
              </a:rPr>
              <a:t>Methodology &amp; pipeline</a:t>
            </a:r>
            <a:endParaRPr lang="en-US" altLang="zh-CN" sz="24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US" altLang="zh-CN" sz="2400" dirty="0">
                <a:solidFill>
                  <a:srgbClr val="030A18"/>
                </a:solidFill>
                <a:latin typeface="Times New Roman" panose="02020603050405020304" pitchFamily="18" charset="0"/>
                <a:cs typeface="Times New Roman" panose="02020603050405020304" pitchFamily="18" charset="0"/>
                <a:hlinkClick r:id="rId5" action="ppaction://hlinksldjump"/>
              </a:rPr>
              <a:t>Regression analysis</a:t>
            </a:r>
            <a:endParaRPr lang="en-US" altLang="zh-CN" sz="24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US" altLang="zh-CN" sz="2400" dirty="0">
                <a:solidFill>
                  <a:srgbClr val="030A18"/>
                </a:solidFill>
                <a:latin typeface="Times New Roman" panose="02020603050405020304" pitchFamily="18" charset="0"/>
                <a:cs typeface="Times New Roman" panose="02020603050405020304" pitchFamily="18" charset="0"/>
                <a:hlinkClick r:id="rId6" action="ppaction://hlinksldjump"/>
              </a:rPr>
              <a:t>Classification analysis</a:t>
            </a:r>
            <a:endParaRPr lang="en-US" altLang="zh-CN" sz="24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US" altLang="zh-CN" sz="2400" dirty="0">
                <a:solidFill>
                  <a:srgbClr val="030A18"/>
                </a:solidFill>
                <a:latin typeface="Times New Roman" panose="02020603050405020304" pitchFamily="18" charset="0"/>
                <a:cs typeface="Times New Roman" panose="02020603050405020304" pitchFamily="18" charset="0"/>
                <a:hlinkClick r:id="rId7" action="ppaction://hlinksldjump"/>
              </a:rPr>
              <a:t>Clustering analysis</a:t>
            </a:r>
            <a:endParaRPr lang="en-US" altLang="zh-CN" sz="24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US" altLang="zh-CN" sz="2400" dirty="0">
                <a:solidFill>
                  <a:srgbClr val="030A18"/>
                </a:solidFill>
                <a:latin typeface="Times New Roman" panose="02020603050405020304" pitchFamily="18" charset="0"/>
                <a:cs typeface="Times New Roman" panose="02020603050405020304" pitchFamily="18" charset="0"/>
                <a:hlinkClick r:id="rId8" action="ppaction://hlinksldjump"/>
              </a:rPr>
              <a:t>Agent workflow (LangGraph)</a:t>
            </a:r>
            <a:endParaRPr lang="en-US" altLang="zh-CN" sz="24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US" altLang="zh-CN" sz="2400" dirty="0">
                <a:solidFill>
                  <a:srgbClr val="030A18"/>
                </a:solidFill>
                <a:latin typeface="Times New Roman" panose="02020603050405020304" pitchFamily="18" charset="0"/>
                <a:cs typeface="Times New Roman" panose="02020603050405020304" pitchFamily="18" charset="0"/>
                <a:hlinkClick r:id="rId9" action="ppaction://hlinksldjump"/>
              </a:rPr>
              <a:t>Roles &amp; progress</a:t>
            </a:r>
            <a:endParaRPr lang="en-US" altLang="zh-CN" sz="24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US" altLang="zh-CN" sz="2400" dirty="0">
                <a:solidFill>
                  <a:srgbClr val="030A18"/>
                </a:solidFill>
                <a:latin typeface="Times New Roman" panose="02020603050405020304" pitchFamily="18" charset="0"/>
                <a:cs typeface="Times New Roman" panose="02020603050405020304" pitchFamily="18" charset="0"/>
                <a:hlinkClick r:id="rId10" action="ppaction://hlinksldjump"/>
              </a:rPr>
              <a:t>Next steps &amp; risks</a:t>
            </a:r>
            <a:endParaRPr lang="en-US" altLang="zh-CN" sz="24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US" altLang="zh-CN" sz="2400" dirty="0">
                <a:solidFill>
                  <a:srgbClr val="030A18"/>
                </a:solidFill>
                <a:latin typeface="Times New Roman" panose="02020603050405020304" pitchFamily="18" charset="0"/>
                <a:cs typeface="Times New Roman" panose="02020603050405020304" pitchFamily="18" charset="0"/>
                <a:hlinkClick r:id="rId11" action="ppaction://hlinksldjump"/>
              </a:rPr>
              <a:t>Summary &amp; Q&amp;A</a:t>
            </a:r>
            <a:endParaRPr lang="en-US" altLang="zh-CN" sz="2400"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8F693D7F-7FE6-2158-0950-610CE8F75D17}"/>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0/11</a:t>
            </a:r>
            <a:endParaRPr lang="zh-CN" altLang="en-US" b="1" dirty="0"/>
          </a:p>
        </p:txBody>
      </p:sp>
    </p:spTree>
    <p:extLst>
      <p:ext uri="{BB962C8B-B14F-4D97-AF65-F5344CB8AC3E}">
        <p14:creationId xmlns:p14="http://schemas.microsoft.com/office/powerpoint/2010/main" val="3601192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F72420F6-1A44-2F35-298C-4A88B8EAF757}"/>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81665DE3-C7C7-DDF3-6CC3-4E145C73CB48}"/>
              </a:ext>
            </a:extLst>
          </p:cNvPr>
          <p:cNvSpPr txBox="1"/>
          <p:nvPr/>
        </p:nvSpPr>
        <p:spPr>
          <a:xfrm>
            <a:off x="9321800" y="6359979"/>
            <a:ext cx="2208893" cy="369332"/>
          </a:xfrm>
          <a:prstGeom prst="rect">
            <a:avLst/>
          </a:prstGeom>
          <a:noFill/>
        </p:spPr>
        <p:txBody>
          <a:bodyPr wrap="square" rtlCol="0">
            <a:spAutoFit/>
          </a:bodyPr>
          <a:lstStyle/>
          <a:p>
            <a:r>
              <a:rPr lang="en-US" altLang="zh-CN" dirty="0"/>
              <a:t>Midterm Checkpoint</a:t>
            </a:r>
            <a:endParaRPr lang="zh-CN" altLang="en-US" dirty="0"/>
          </a:p>
        </p:txBody>
      </p:sp>
      <p:sp>
        <p:nvSpPr>
          <p:cNvPr id="4" name="文本框 3">
            <a:extLst>
              <a:ext uri="{FF2B5EF4-FFF2-40B4-BE49-F238E27FC236}">
                <a16:creationId xmlns:a16="http://schemas.microsoft.com/office/drawing/2014/main" id="{A654B091-20FB-E39D-2DD9-C3655A873F06}"/>
              </a:ext>
            </a:extLst>
          </p:cNvPr>
          <p:cNvSpPr txBox="1"/>
          <p:nvPr/>
        </p:nvSpPr>
        <p:spPr>
          <a:xfrm>
            <a:off x="240846" y="6359979"/>
            <a:ext cx="2917372"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Project Overview</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A027D026-7612-AE9E-E728-B62539A61FE0}"/>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E02EE6F8-579F-B6BA-39C3-F311FB8DAF14}"/>
              </a:ext>
            </a:extLst>
          </p:cNvPr>
          <p:cNvSpPr txBox="1"/>
          <p:nvPr/>
        </p:nvSpPr>
        <p:spPr>
          <a:xfrm>
            <a:off x="596900" y="22206"/>
            <a:ext cx="3210661"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Project Overview</a:t>
            </a:r>
            <a:endParaRPr lang="zh-CN" altLang="en-US" sz="2000" b="1" dirty="0">
              <a:latin typeface="High Tower Text" panose="02040502050506030303" pitchFamily="18" charset="0"/>
            </a:endParaRPr>
          </a:p>
        </p:txBody>
      </p:sp>
      <p:pic>
        <p:nvPicPr>
          <p:cNvPr id="7" name="Image 0" descr="/home/oai/share/cached_assets_used/loans_per_month.png">
            <a:extLst>
              <a:ext uri="{FF2B5EF4-FFF2-40B4-BE49-F238E27FC236}">
                <a16:creationId xmlns:a16="http://schemas.microsoft.com/office/drawing/2014/main" id="{CDD32249-053B-7DBD-90EB-F43A74F13EE3}"/>
              </a:ext>
            </a:extLst>
          </p:cNvPr>
          <p:cNvPicPr>
            <a:picLocks noChangeAspect="1"/>
          </p:cNvPicPr>
          <p:nvPr/>
        </p:nvPicPr>
        <p:blipFill>
          <a:blip r:embed="rId3"/>
          <a:stretch>
            <a:fillRect/>
          </a:stretch>
        </p:blipFill>
        <p:spPr>
          <a:xfrm>
            <a:off x="4140199" y="726982"/>
            <a:ext cx="7168079" cy="2999712"/>
          </a:xfrm>
          <a:prstGeom prst="rect">
            <a:avLst/>
          </a:prstGeom>
        </p:spPr>
      </p:pic>
      <p:sp>
        <p:nvSpPr>
          <p:cNvPr id="8" name="文本框 7">
            <a:extLst>
              <a:ext uri="{FF2B5EF4-FFF2-40B4-BE49-F238E27FC236}">
                <a16:creationId xmlns:a16="http://schemas.microsoft.com/office/drawing/2014/main" id="{020619A2-43F1-DB4C-3B74-9950593DA32B}"/>
              </a:ext>
            </a:extLst>
          </p:cNvPr>
          <p:cNvSpPr txBox="1"/>
          <p:nvPr/>
        </p:nvSpPr>
        <p:spPr>
          <a:xfrm>
            <a:off x="416965" y="1613126"/>
            <a:ext cx="3723235" cy="1569660"/>
          </a:xfrm>
          <a:prstGeom prst="rect">
            <a:avLst/>
          </a:prstGeom>
          <a:noFill/>
        </p:spPr>
        <p:txBody>
          <a:bodyPr wrap="square" rtlCol="0">
            <a:spAutoFit/>
          </a:bodyPr>
          <a:lstStyle/>
          <a:p>
            <a:r>
              <a:rPr lang="en-US" altLang="zh-CN" sz="2400" dirty="0">
                <a:solidFill>
                  <a:srgbClr val="030A18"/>
                </a:solidFill>
                <a:latin typeface="Times New Roman" panose="02020603050405020304" pitchFamily="18" charset="0"/>
                <a:cs typeface="Times New Roman" panose="02020603050405020304" pitchFamily="18" charset="0"/>
              </a:rPr>
              <a:t>Dataset: historical loan records with borrower demographics, credit history and loan characteristics.</a:t>
            </a:r>
            <a:endParaRPr lang="en-US" altLang="zh-CN" sz="2400"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E30E2C4E-AC66-206D-3B78-94CFD6C498C9}"/>
              </a:ext>
            </a:extLst>
          </p:cNvPr>
          <p:cNvSpPr txBox="1"/>
          <p:nvPr/>
        </p:nvSpPr>
        <p:spPr>
          <a:xfrm>
            <a:off x="416965" y="4048515"/>
            <a:ext cx="9768434" cy="1646605"/>
          </a:xfrm>
          <a:prstGeom prst="rect">
            <a:avLst/>
          </a:prstGeom>
          <a:noFill/>
        </p:spPr>
        <p:txBody>
          <a:bodyPr wrap="square" rtlCol="0">
            <a:spAutoFit/>
          </a:bodyPr>
          <a:lstStyle/>
          <a:p>
            <a:pPr>
              <a:spcAft>
                <a:spcPts val="600"/>
              </a:spcAft>
            </a:pPr>
            <a:r>
              <a:rPr lang="en-US" altLang="zh-CN" sz="2400" dirty="0">
                <a:solidFill>
                  <a:srgbClr val="030A18"/>
                </a:solidFill>
                <a:latin typeface="Times New Roman" panose="02020603050405020304" pitchFamily="18" charset="0"/>
                <a:cs typeface="Times New Roman" panose="02020603050405020304" pitchFamily="18" charset="0"/>
              </a:rPr>
              <a:t>Objectives: predict interest rates (regression), classify credit grades, and discover customer segments (clustering)</a:t>
            </a:r>
            <a:endParaRPr lang="en-US" altLang="zh-CN" sz="2400" dirty="0">
              <a:latin typeface="Times New Roman" panose="02020603050405020304" pitchFamily="18" charset="0"/>
              <a:cs typeface="Times New Roman" panose="02020603050405020304" pitchFamily="18" charset="0"/>
            </a:endParaRPr>
          </a:p>
          <a:p>
            <a:r>
              <a:rPr lang="en-US" altLang="zh-CN" sz="2400" dirty="0">
                <a:solidFill>
                  <a:srgbClr val="030A18"/>
                </a:solidFill>
                <a:latin typeface="Times New Roman" panose="02020603050405020304" pitchFamily="18" charset="0"/>
                <a:cs typeface="Times New Roman" panose="02020603050405020304" pitchFamily="18" charset="0"/>
              </a:rPr>
              <a:t>Pipeline: perform EDA, engineer features, build models &amp; evaluate results, then generate automated reports</a:t>
            </a:r>
            <a:endParaRPr lang="en-US" altLang="zh-CN" sz="2400"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2E0DC7ED-AAF6-8779-F363-136462F02613}"/>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1/11</a:t>
            </a:r>
            <a:endParaRPr lang="zh-CN" altLang="en-US" b="1" dirty="0"/>
          </a:p>
        </p:txBody>
      </p:sp>
    </p:spTree>
    <p:extLst>
      <p:ext uri="{BB962C8B-B14F-4D97-AF65-F5344CB8AC3E}">
        <p14:creationId xmlns:p14="http://schemas.microsoft.com/office/powerpoint/2010/main" val="3969068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229AAD13-B38E-AC65-BD4F-724CEF5506F9}"/>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E608BE9D-75CF-A628-B9B8-D873EE25E327}"/>
              </a:ext>
            </a:extLst>
          </p:cNvPr>
          <p:cNvSpPr txBox="1"/>
          <p:nvPr/>
        </p:nvSpPr>
        <p:spPr>
          <a:xfrm>
            <a:off x="9321800" y="6359979"/>
            <a:ext cx="2208893" cy="369332"/>
          </a:xfrm>
          <a:prstGeom prst="rect">
            <a:avLst/>
          </a:prstGeom>
          <a:noFill/>
        </p:spPr>
        <p:txBody>
          <a:bodyPr wrap="square" rtlCol="0">
            <a:spAutoFit/>
          </a:bodyPr>
          <a:lstStyle/>
          <a:p>
            <a:r>
              <a:rPr lang="en-US" altLang="zh-CN" dirty="0"/>
              <a:t>Midterm Checkpoint</a:t>
            </a:r>
            <a:endParaRPr lang="zh-CN" altLang="en-US" dirty="0"/>
          </a:p>
        </p:txBody>
      </p:sp>
      <p:sp>
        <p:nvSpPr>
          <p:cNvPr id="4" name="文本框 3">
            <a:extLst>
              <a:ext uri="{FF2B5EF4-FFF2-40B4-BE49-F238E27FC236}">
                <a16:creationId xmlns:a16="http://schemas.microsoft.com/office/drawing/2014/main" id="{A18B31D3-87D3-E870-0560-12A429A56189}"/>
              </a:ext>
            </a:extLst>
          </p:cNvPr>
          <p:cNvSpPr txBox="1"/>
          <p:nvPr/>
        </p:nvSpPr>
        <p:spPr>
          <a:xfrm>
            <a:off x="240846" y="6359979"/>
            <a:ext cx="2917372"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Main Content of the Project</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AD99B6CE-6BB1-55DD-B969-E3E54DF2C9B1}"/>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7E8FEBEE-E077-FEF3-1896-DF2580AFD38C}"/>
              </a:ext>
            </a:extLst>
          </p:cNvPr>
          <p:cNvSpPr txBox="1"/>
          <p:nvPr/>
        </p:nvSpPr>
        <p:spPr>
          <a:xfrm>
            <a:off x="640079" y="22206"/>
            <a:ext cx="3167482" cy="584775"/>
          </a:xfrm>
          <a:prstGeom prst="rect">
            <a:avLst/>
          </a:prstGeom>
          <a:noFill/>
        </p:spPr>
        <p:txBody>
          <a:bodyPr wrap="square" rtlCol="0">
            <a:spAutoFit/>
          </a:bodyPr>
          <a:lstStyle/>
          <a:p>
            <a:pPr algn="ctr"/>
            <a:r>
              <a:rPr lang="en-US" altLang="zh-CN" sz="3200" b="1" dirty="0">
                <a:latin typeface="Times New Roman" panose="02020603050405020304" pitchFamily="18" charset="0"/>
                <a:cs typeface="Times New Roman" panose="02020603050405020304" pitchFamily="18" charset="0"/>
              </a:rPr>
              <a:t>Main Content</a:t>
            </a:r>
            <a:endParaRPr lang="zh-CN" altLang="en-US" sz="2000" b="1" dirty="0"/>
          </a:p>
        </p:txBody>
      </p:sp>
      <p:sp>
        <p:nvSpPr>
          <p:cNvPr id="7" name="矩形: 单圆角 6">
            <a:extLst>
              <a:ext uri="{FF2B5EF4-FFF2-40B4-BE49-F238E27FC236}">
                <a16:creationId xmlns:a16="http://schemas.microsoft.com/office/drawing/2014/main" id="{1A192DD2-0584-BD6A-EA32-6EE579909587}"/>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DB4E5E76-54AA-DF2E-509D-605A6EEAF1D6}"/>
              </a:ext>
            </a:extLst>
          </p:cNvPr>
          <p:cNvSpPr txBox="1"/>
          <p:nvPr/>
        </p:nvSpPr>
        <p:spPr>
          <a:xfrm>
            <a:off x="9321800" y="6359979"/>
            <a:ext cx="2208893" cy="369332"/>
          </a:xfrm>
          <a:prstGeom prst="rect">
            <a:avLst/>
          </a:prstGeom>
          <a:noFill/>
        </p:spPr>
        <p:txBody>
          <a:bodyPr wrap="square" rtlCol="0">
            <a:spAutoFit/>
          </a:bodyPr>
          <a:lstStyle/>
          <a:p>
            <a:r>
              <a:rPr lang="en-US" altLang="zh-CN" dirty="0"/>
              <a:t>Midterm Checkpoint</a:t>
            </a:r>
            <a:endParaRPr lang="zh-CN" altLang="en-US" dirty="0"/>
          </a:p>
        </p:txBody>
      </p:sp>
      <p:sp>
        <p:nvSpPr>
          <p:cNvPr id="9" name="文本框 8">
            <a:extLst>
              <a:ext uri="{FF2B5EF4-FFF2-40B4-BE49-F238E27FC236}">
                <a16:creationId xmlns:a16="http://schemas.microsoft.com/office/drawing/2014/main" id="{214F7A67-9CFF-AC18-C5E1-5FCB5C5FE674}"/>
              </a:ext>
            </a:extLst>
          </p:cNvPr>
          <p:cNvSpPr txBox="1"/>
          <p:nvPr/>
        </p:nvSpPr>
        <p:spPr>
          <a:xfrm>
            <a:off x="240846" y="6359979"/>
            <a:ext cx="2917372"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Methodology &amp; Pipeline</a:t>
            </a:r>
            <a:endParaRPr lang="zh-CN" altLang="en-US" dirty="0">
              <a:effectLst>
                <a:outerShdw blurRad="38100" dist="38100" dir="2700000" algn="tl">
                  <a:srgbClr val="000000">
                    <a:alpha val="43137"/>
                  </a:srgbClr>
                </a:outerShdw>
              </a:effectLst>
            </a:endParaRPr>
          </a:p>
        </p:txBody>
      </p:sp>
      <p:sp>
        <p:nvSpPr>
          <p:cNvPr id="10" name="矩形: 圆顶角 9">
            <a:extLst>
              <a:ext uri="{FF2B5EF4-FFF2-40B4-BE49-F238E27FC236}">
                <a16:creationId xmlns:a16="http://schemas.microsoft.com/office/drawing/2014/main" id="{3A36B228-B915-0301-B5C5-DF09EF8584AF}"/>
              </a:ext>
            </a:extLst>
          </p:cNvPr>
          <p:cNvSpPr/>
          <p:nvPr/>
        </p:nvSpPr>
        <p:spPr>
          <a:xfrm rot="10800000">
            <a:off x="416966" y="17270"/>
            <a:ext cx="4802734"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B46E3DA4-4F58-AF39-D204-706B2B1CB8F5}"/>
              </a:ext>
            </a:extLst>
          </p:cNvPr>
          <p:cNvSpPr txBox="1"/>
          <p:nvPr/>
        </p:nvSpPr>
        <p:spPr>
          <a:xfrm>
            <a:off x="596900" y="22206"/>
            <a:ext cx="4445000"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Methodology &amp; Pipeline</a:t>
            </a:r>
            <a:endParaRPr lang="zh-CN" altLang="en-US" sz="2000" b="1" dirty="0">
              <a:latin typeface="High Tower Text" panose="02040502050506030303" pitchFamily="18" charset="0"/>
            </a:endParaRPr>
          </a:p>
        </p:txBody>
      </p:sp>
      <p:sp>
        <p:nvSpPr>
          <p:cNvPr id="13" name="文本框 12">
            <a:extLst>
              <a:ext uri="{FF2B5EF4-FFF2-40B4-BE49-F238E27FC236}">
                <a16:creationId xmlns:a16="http://schemas.microsoft.com/office/drawing/2014/main" id="{EEB46436-EC39-F93E-64E6-2DD3CA409668}"/>
              </a:ext>
            </a:extLst>
          </p:cNvPr>
          <p:cNvSpPr txBox="1"/>
          <p:nvPr/>
        </p:nvSpPr>
        <p:spPr>
          <a:xfrm>
            <a:off x="416965" y="1613126"/>
            <a:ext cx="9654135" cy="2246769"/>
          </a:xfrm>
          <a:prstGeom prst="rect">
            <a:avLst/>
          </a:prstGeom>
          <a:noFill/>
        </p:spPr>
        <p:txBody>
          <a:bodyPr wrap="square" rtlCol="0">
            <a:spAutoFit/>
          </a:bodyPr>
          <a:lstStyle/>
          <a:p>
            <a:pPr>
              <a:spcAft>
                <a:spcPts val="600"/>
              </a:spcAft>
            </a:pPr>
            <a:r>
              <a:rPr lang="en-US" altLang="zh-CN" sz="2400" dirty="0">
                <a:solidFill>
                  <a:srgbClr val="030A18"/>
                </a:solidFill>
                <a:latin typeface="Times New Roman" panose="02020603050405020304" pitchFamily="18" charset="0"/>
                <a:cs typeface="Times New Roman" panose="02020603050405020304" pitchFamily="18" charset="0"/>
              </a:rPr>
              <a:t>EDA: explore distributions and temporal trends</a:t>
            </a:r>
            <a:endParaRPr lang="en-US" altLang="zh-CN" sz="2400" dirty="0">
              <a:latin typeface="Times New Roman" panose="02020603050405020304" pitchFamily="18" charset="0"/>
              <a:cs typeface="Times New Roman" panose="02020603050405020304" pitchFamily="18" charset="0"/>
            </a:endParaRPr>
          </a:p>
          <a:p>
            <a:pPr>
              <a:spcAft>
                <a:spcPts val="600"/>
              </a:spcAft>
            </a:pPr>
            <a:r>
              <a:rPr lang="en-US" altLang="zh-CN" sz="2400" dirty="0">
                <a:solidFill>
                  <a:srgbClr val="030A18"/>
                </a:solidFill>
                <a:latin typeface="Times New Roman" panose="02020603050405020304" pitchFamily="18" charset="0"/>
                <a:cs typeface="Times New Roman" panose="02020603050405020304" pitchFamily="18" charset="0"/>
              </a:rPr>
              <a:t>Feature engineering: encode categorical, normalize continuous variables</a:t>
            </a:r>
            <a:endParaRPr lang="en-US" altLang="zh-CN" sz="2400" dirty="0">
              <a:latin typeface="Times New Roman" panose="02020603050405020304" pitchFamily="18" charset="0"/>
              <a:cs typeface="Times New Roman" panose="02020603050405020304" pitchFamily="18" charset="0"/>
            </a:endParaRPr>
          </a:p>
          <a:p>
            <a:pPr>
              <a:spcAft>
                <a:spcPts val="600"/>
              </a:spcAft>
            </a:pPr>
            <a:r>
              <a:rPr lang="en-US" altLang="zh-CN" sz="2400" dirty="0">
                <a:solidFill>
                  <a:srgbClr val="030A18"/>
                </a:solidFill>
                <a:latin typeface="Times New Roman" panose="02020603050405020304" pitchFamily="18" charset="0"/>
                <a:cs typeface="Times New Roman" panose="02020603050405020304" pitchFamily="18" charset="0"/>
              </a:rPr>
              <a:t>Regression: histogram‑based gradient boosting to estimate interest rate</a:t>
            </a:r>
            <a:endParaRPr lang="en-US" altLang="zh-CN" sz="2400" dirty="0">
              <a:latin typeface="Times New Roman" panose="02020603050405020304" pitchFamily="18" charset="0"/>
              <a:cs typeface="Times New Roman" panose="02020603050405020304" pitchFamily="18" charset="0"/>
            </a:endParaRPr>
          </a:p>
          <a:p>
            <a:pPr>
              <a:spcAft>
                <a:spcPts val="600"/>
              </a:spcAft>
            </a:pPr>
            <a:r>
              <a:rPr lang="en-US" altLang="zh-CN" sz="2400" dirty="0">
                <a:solidFill>
                  <a:srgbClr val="030A18"/>
                </a:solidFill>
                <a:latin typeface="Times New Roman" panose="02020603050405020304" pitchFamily="18" charset="0"/>
                <a:cs typeface="Times New Roman" panose="02020603050405020304" pitchFamily="18" charset="0"/>
              </a:rPr>
              <a:t>Classification: histogram‑based classifier to predict credit grade</a:t>
            </a:r>
            <a:endParaRPr lang="en-US" altLang="zh-CN" sz="2400" dirty="0">
              <a:latin typeface="Times New Roman" panose="02020603050405020304" pitchFamily="18" charset="0"/>
              <a:cs typeface="Times New Roman" panose="02020603050405020304" pitchFamily="18" charset="0"/>
            </a:endParaRPr>
          </a:p>
          <a:p>
            <a:pPr>
              <a:spcAft>
                <a:spcPts val="600"/>
              </a:spcAft>
            </a:pPr>
            <a:r>
              <a:rPr lang="en-US" altLang="zh-CN" sz="2400" dirty="0">
                <a:solidFill>
                  <a:srgbClr val="030A18"/>
                </a:solidFill>
                <a:latin typeface="Times New Roman" panose="02020603050405020304" pitchFamily="18" charset="0"/>
                <a:cs typeface="Times New Roman" panose="02020603050405020304" pitchFamily="18" charset="0"/>
              </a:rPr>
              <a:t>Clustering: k‑means (PCA) to uncover customer segments</a:t>
            </a:r>
            <a:endParaRPr lang="en-US" altLang="zh-CN" sz="2400" dirty="0">
              <a:latin typeface="Times New Roman" panose="02020603050405020304" pitchFamily="18" charset="0"/>
              <a:cs typeface="Times New Roman" panose="02020603050405020304" pitchFamily="18" charset="0"/>
            </a:endParaRPr>
          </a:p>
        </p:txBody>
      </p:sp>
      <p:sp>
        <p:nvSpPr>
          <p:cNvPr id="15" name="Shape 2">
            <a:extLst>
              <a:ext uri="{FF2B5EF4-FFF2-40B4-BE49-F238E27FC236}">
                <a16:creationId xmlns:a16="http://schemas.microsoft.com/office/drawing/2014/main" id="{7555C18B-B8F6-A729-1EC7-8C1A65F4EEEB}"/>
              </a:ext>
            </a:extLst>
          </p:cNvPr>
          <p:cNvSpPr/>
          <p:nvPr/>
        </p:nvSpPr>
        <p:spPr>
          <a:xfrm>
            <a:off x="2115820" y="4498780"/>
            <a:ext cx="1097280" cy="731520"/>
          </a:xfrm>
          <a:prstGeom prst="roundRect">
            <a:avLst>
              <a:gd name="adj" fmla="val 12500"/>
            </a:avLst>
          </a:prstGeom>
          <a:solidFill>
            <a:srgbClr val="F5F5F5"/>
          </a:solidFill>
          <a:ln w="12700">
            <a:solidFill>
              <a:srgbClr val="97B1DF"/>
            </a:solidFill>
            <a:prstDash val="solid"/>
          </a:ln>
        </p:spPr>
        <p:txBody>
          <a:bodyPr/>
          <a:lstStyle/>
          <a:p>
            <a:endParaRPr dirty="0"/>
          </a:p>
        </p:txBody>
      </p:sp>
      <p:sp>
        <p:nvSpPr>
          <p:cNvPr id="16" name="Text 3">
            <a:extLst>
              <a:ext uri="{FF2B5EF4-FFF2-40B4-BE49-F238E27FC236}">
                <a16:creationId xmlns:a16="http://schemas.microsoft.com/office/drawing/2014/main" id="{A174D67F-8A39-D705-3E06-F73CDAB72670}"/>
              </a:ext>
            </a:extLst>
          </p:cNvPr>
          <p:cNvSpPr/>
          <p:nvPr/>
        </p:nvSpPr>
        <p:spPr>
          <a:xfrm>
            <a:off x="2115820" y="4684640"/>
            <a:ext cx="1097280" cy="365760"/>
          </a:xfrm>
          <a:prstGeom prst="rect">
            <a:avLst/>
          </a:prstGeom>
          <a:noFill/>
          <a:ln/>
        </p:spPr>
        <p:txBody>
          <a:bodyPr wrap="square" rtlCol="0" anchor="ctr"/>
          <a:lstStyle/>
          <a:p>
            <a:pPr marL="0" indent="0" algn="ctr">
              <a:buNone/>
            </a:pPr>
            <a:r>
              <a:rPr lang="en-US" dirty="0">
                <a:solidFill>
                  <a:srgbClr val="030A18"/>
                </a:solidFill>
                <a:latin typeface="Eras Demi ITC" panose="020B0805030504020804" pitchFamily="34" charset="0"/>
              </a:rPr>
              <a:t>EDA</a:t>
            </a:r>
            <a:endParaRPr lang="en-US" dirty="0">
              <a:latin typeface="Eras Demi ITC" panose="020B0805030504020804" pitchFamily="34" charset="0"/>
            </a:endParaRPr>
          </a:p>
        </p:txBody>
      </p:sp>
      <p:sp>
        <p:nvSpPr>
          <p:cNvPr id="17" name="Shape 4">
            <a:extLst>
              <a:ext uri="{FF2B5EF4-FFF2-40B4-BE49-F238E27FC236}">
                <a16:creationId xmlns:a16="http://schemas.microsoft.com/office/drawing/2014/main" id="{08032272-8281-5E24-051A-0E968425A70C}"/>
              </a:ext>
            </a:extLst>
          </p:cNvPr>
          <p:cNvSpPr/>
          <p:nvPr/>
        </p:nvSpPr>
        <p:spPr>
          <a:xfrm>
            <a:off x="3213100" y="4818820"/>
            <a:ext cx="274320" cy="91440"/>
          </a:xfrm>
          <a:prstGeom prst="rightArrow">
            <a:avLst/>
          </a:prstGeom>
          <a:solidFill>
            <a:srgbClr val="97B1DF"/>
          </a:solidFill>
          <a:ln w="12700">
            <a:solidFill>
              <a:srgbClr val="97B1DF"/>
            </a:solidFill>
            <a:prstDash val="solid"/>
          </a:ln>
        </p:spPr>
        <p:txBody>
          <a:bodyPr/>
          <a:lstStyle/>
          <a:p>
            <a:endParaRPr dirty="0"/>
          </a:p>
        </p:txBody>
      </p:sp>
      <p:sp>
        <p:nvSpPr>
          <p:cNvPr id="18" name="Shape 5">
            <a:extLst>
              <a:ext uri="{FF2B5EF4-FFF2-40B4-BE49-F238E27FC236}">
                <a16:creationId xmlns:a16="http://schemas.microsoft.com/office/drawing/2014/main" id="{2F13EE27-126E-858F-811A-A7CA1BC83391}"/>
              </a:ext>
            </a:extLst>
          </p:cNvPr>
          <p:cNvSpPr/>
          <p:nvPr/>
        </p:nvSpPr>
        <p:spPr>
          <a:xfrm>
            <a:off x="3487420" y="4498780"/>
            <a:ext cx="1097280" cy="731520"/>
          </a:xfrm>
          <a:prstGeom prst="roundRect">
            <a:avLst>
              <a:gd name="adj" fmla="val 12500"/>
            </a:avLst>
          </a:prstGeom>
          <a:solidFill>
            <a:srgbClr val="F5F5F5"/>
          </a:solidFill>
          <a:ln w="12700">
            <a:solidFill>
              <a:srgbClr val="97B1DF"/>
            </a:solidFill>
            <a:prstDash val="solid"/>
          </a:ln>
        </p:spPr>
        <p:txBody>
          <a:bodyPr/>
          <a:lstStyle/>
          <a:p>
            <a:endParaRPr dirty="0"/>
          </a:p>
        </p:txBody>
      </p:sp>
      <p:sp>
        <p:nvSpPr>
          <p:cNvPr id="19" name="Text 6">
            <a:extLst>
              <a:ext uri="{FF2B5EF4-FFF2-40B4-BE49-F238E27FC236}">
                <a16:creationId xmlns:a16="http://schemas.microsoft.com/office/drawing/2014/main" id="{4B41C6D2-D9E8-E09D-DEFF-858369746738}"/>
              </a:ext>
            </a:extLst>
          </p:cNvPr>
          <p:cNvSpPr/>
          <p:nvPr/>
        </p:nvSpPr>
        <p:spPr>
          <a:xfrm>
            <a:off x="3482034" y="4678681"/>
            <a:ext cx="1097280" cy="365760"/>
          </a:xfrm>
          <a:prstGeom prst="rect">
            <a:avLst/>
          </a:prstGeom>
          <a:noFill/>
          <a:ln/>
        </p:spPr>
        <p:txBody>
          <a:bodyPr wrap="square" rtlCol="0" anchor="ctr"/>
          <a:lstStyle/>
          <a:p>
            <a:pPr marL="0" indent="0" algn="ctr">
              <a:buNone/>
            </a:pPr>
            <a:r>
              <a:rPr lang="en-US" sz="1600" dirty="0">
                <a:solidFill>
                  <a:srgbClr val="030A18"/>
                </a:solidFill>
                <a:latin typeface="Eras Demi ITC" panose="020B0805030504020804" pitchFamily="34" charset="0"/>
              </a:rPr>
              <a:t>Features</a:t>
            </a:r>
            <a:endParaRPr lang="en-US" sz="1600" dirty="0">
              <a:latin typeface="Eras Demi ITC" panose="020B0805030504020804" pitchFamily="34" charset="0"/>
            </a:endParaRPr>
          </a:p>
        </p:txBody>
      </p:sp>
      <p:sp>
        <p:nvSpPr>
          <p:cNvPr id="20" name="Shape 7">
            <a:extLst>
              <a:ext uri="{FF2B5EF4-FFF2-40B4-BE49-F238E27FC236}">
                <a16:creationId xmlns:a16="http://schemas.microsoft.com/office/drawing/2014/main" id="{267885BD-A78B-CD9D-CC24-B29023B8B375}"/>
              </a:ext>
            </a:extLst>
          </p:cNvPr>
          <p:cNvSpPr/>
          <p:nvPr/>
        </p:nvSpPr>
        <p:spPr>
          <a:xfrm>
            <a:off x="4584700" y="4818820"/>
            <a:ext cx="274320" cy="91440"/>
          </a:xfrm>
          <a:prstGeom prst="rightArrow">
            <a:avLst/>
          </a:prstGeom>
          <a:solidFill>
            <a:srgbClr val="97B1DF"/>
          </a:solidFill>
          <a:ln w="12700">
            <a:solidFill>
              <a:srgbClr val="97B1DF"/>
            </a:solidFill>
            <a:prstDash val="solid"/>
          </a:ln>
        </p:spPr>
        <p:txBody>
          <a:bodyPr/>
          <a:lstStyle/>
          <a:p>
            <a:endParaRPr dirty="0"/>
          </a:p>
        </p:txBody>
      </p:sp>
      <p:sp>
        <p:nvSpPr>
          <p:cNvPr id="21" name="Shape 8">
            <a:extLst>
              <a:ext uri="{FF2B5EF4-FFF2-40B4-BE49-F238E27FC236}">
                <a16:creationId xmlns:a16="http://schemas.microsoft.com/office/drawing/2014/main" id="{9718C18A-752C-1C9D-7DC2-C56CA8081C0F}"/>
              </a:ext>
            </a:extLst>
          </p:cNvPr>
          <p:cNvSpPr/>
          <p:nvPr/>
        </p:nvSpPr>
        <p:spPr>
          <a:xfrm>
            <a:off x="4859020" y="4498780"/>
            <a:ext cx="1097280" cy="731520"/>
          </a:xfrm>
          <a:prstGeom prst="roundRect">
            <a:avLst>
              <a:gd name="adj" fmla="val 12500"/>
            </a:avLst>
          </a:prstGeom>
          <a:solidFill>
            <a:srgbClr val="F5F5F5"/>
          </a:solidFill>
          <a:ln w="12700">
            <a:solidFill>
              <a:srgbClr val="97B1DF"/>
            </a:solidFill>
            <a:prstDash val="solid"/>
          </a:ln>
        </p:spPr>
        <p:txBody>
          <a:bodyPr/>
          <a:lstStyle/>
          <a:p>
            <a:endParaRPr dirty="0"/>
          </a:p>
        </p:txBody>
      </p:sp>
      <p:sp>
        <p:nvSpPr>
          <p:cNvPr id="22" name="Text 9">
            <a:extLst>
              <a:ext uri="{FF2B5EF4-FFF2-40B4-BE49-F238E27FC236}">
                <a16:creationId xmlns:a16="http://schemas.microsoft.com/office/drawing/2014/main" id="{8FC74A4D-96DC-C9F0-9797-5AFCA7407362}"/>
              </a:ext>
            </a:extLst>
          </p:cNvPr>
          <p:cNvSpPr/>
          <p:nvPr/>
        </p:nvSpPr>
        <p:spPr>
          <a:xfrm>
            <a:off x="4848248" y="4676581"/>
            <a:ext cx="1097280" cy="365760"/>
          </a:xfrm>
          <a:prstGeom prst="rect">
            <a:avLst/>
          </a:prstGeom>
          <a:noFill/>
          <a:ln/>
        </p:spPr>
        <p:txBody>
          <a:bodyPr wrap="square" rtlCol="0" anchor="ctr"/>
          <a:lstStyle/>
          <a:p>
            <a:pPr marL="0" indent="0" algn="ctr">
              <a:buNone/>
            </a:pPr>
            <a:r>
              <a:rPr lang="en-US" sz="1200" dirty="0">
                <a:solidFill>
                  <a:srgbClr val="030A18"/>
                </a:solidFill>
                <a:latin typeface="Eras Demi ITC" panose="020B0805030504020804" pitchFamily="34" charset="0"/>
              </a:rPr>
              <a:t>Regression</a:t>
            </a:r>
            <a:endParaRPr lang="en-US" sz="1200" dirty="0">
              <a:latin typeface="Eras Demi ITC" panose="020B0805030504020804" pitchFamily="34" charset="0"/>
            </a:endParaRPr>
          </a:p>
        </p:txBody>
      </p:sp>
      <p:sp>
        <p:nvSpPr>
          <p:cNvPr id="23" name="Shape 10">
            <a:extLst>
              <a:ext uri="{FF2B5EF4-FFF2-40B4-BE49-F238E27FC236}">
                <a16:creationId xmlns:a16="http://schemas.microsoft.com/office/drawing/2014/main" id="{B6FDEF44-47A9-D3CE-038A-098AD118CC69}"/>
              </a:ext>
            </a:extLst>
          </p:cNvPr>
          <p:cNvSpPr/>
          <p:nvPr/>
        </p:nvSpPr>
        <p:spPr>
          <a:xfrm>
            <a:off x="5956300" y="4818820"/>
            <a:ext cx="274320" cy="91440"/>
          </a:xfrm>
          <a:prstGeom prst="rightArrow">
            <a:avLst/>
          </a:prstGeom>
          <a:solidFill>
            <a:srgbClr val="97B1DF"/>
          </a:solidFill>
          <a:ln w="12700">
            <a:solidFill>
              <a:srgbClr val="97B1DF"/>
            </a:solidFill>
            <a:prstDash val="solid"/>
          </a:ln>
        </p:spPr>
        <p:txBody>
          <a:bodyPr/>
          <a:lstStyle/>
          <a:p>
            <a:endParaRPr dirty="0"/>
          </a:p>
        </p:txBody>
      </p:sp>
      <p:sp>
        <p:nvSpPr>
          <p:cNvPr id="24" name="Shape 11">
            <a:extLst>
              <a:ext uri="{FF2B5EF4-FFF2-40B4-BE49-F238E27FC236}">
                <a16:creationId xmlns:a16="http://schemas.microsoft.com/office/drawing/2014/main" id="{713B1561-C17D-DED5-EFB9-753CA0206345}"/>
              </a:ext>
            </a:extLst>
          </p:cNvPr>
          <p:cNvSpPr/>
          <p:nvPr/>
        </p:nvSpPr>
        <p:spPr>
          <a:xfrm>
            <a:off x="6230620" y="4498780"/>
            <a:ext cx="1097280" cy="731520"/>
          </a:xfrm>
          <a:prstGeom prst="roundRect">
            <a:avLst>
              <a:gd name="adj" fmla="val 12500"/>
            </a:avLst>
          </a:prstGeom>
          <a:solidFill>
            <a:srgbClr val="F5F5F5"/>
          </a:solidFill>
          <a:ln w="12700">
            <a:solidFill>
              <a:srgbClr val="97B1DF"/>
            </a:solidFill>
            <a:prstDash val="solid"/>
          </a:ln>
        </p:spPr>
        <p:txBody>
          <a:bodyPr/>
          <a:lstStyle/>
          <a:p>
            <a:endParaRPr dirty="0"/>
          </a:p>
        </p:txBody>
      </p:sp>
      <p:sp>
        <p:nvSpPr>
          <p:cNvPr id="25" name="Text 12">
            <a:extLst>
              <a:ext uri="{FF2B5EF4-FFF2-40B4-BE49-F238E27FC236}">
                <a16:creationId xmlns:a16="http://schemas.microsoft.com/office/drawing/2014/main" id="{E967EA56-30B2-DF26-9B91-9D50A923185F}"/>
              </a:ext>
            </a:extLst>
          </p:cNvPr>
          <p:cNvSpPr/>
          <p:nvPr/>
        </p:nvSpPr>
        <p:spPr>
          <a:xfrm>
            <a:off x="6209076" y="4682540"/>
            <a:ext cx="1160780" cy="365760"/>
          </a:xfrm>
          <a:prstGeom prst="rect">
            <a:avLst/>
          </a:prstGeom>
          <a:noFill/>
          <a:ln/>
        </p:spPr>
        <p:txBody>
          <a:bodyPr wrap="square" rtlCol="0" anchor="ctr"/>
          <a:lstStyle/>
          <a:p>
            <a:pPr marL="0" indent="0" algn="ctr">
              <a:buNone/>
            </a:pPr>
            <a:r>
              <a:rPr lang="en-US" sz="1200" dirty="0">
                <a:solidFill>
                  <a:srgbClr val="030A18"/>
                </a:solidFill>
                <a:latin typeface="Eras Demi ITC" panose="020B0805030504020804" pitchFamily="34" charset="0"/>
              </a:rPr>
              <a:t>Classification</a:t>
            </a:r>
            <a:endParaRPr lang="en-US" sz="1200" dirty="0">
              <a:latin typeface="Eras Demi ITC" panose="020B0805030504020804" pitchFamily="34" charset="0"/>
            </a:endParaRPr>
          </a:p>
        </p:txBody>
      </p:sp>
      <p:sp>
        <p:nvSpPr>
          <p:cNvPr id="26" name="Shape 13">
            <a:extLst>
              <a:ext uri="{FF2B5EF4-FFF2-40B4-BE49-F238E27FC236}">
                <a16:creationId xmlns:a16="http://schemas.microsoft.com/office/drawing/2014/main" id="{B40FAEBB-9A45-36D4-E355-45737E33EA15}"/>
              </a:ext>
            </a:extLst>
          </p:cNvPr>
          <p:cNvSpPr/>
          <p:nvPr/>
        </p:nvSpPr>
        <p:spPr>
          <a:xfrm>
            <a:off x="7327900" y="4818820"/>
            <a:ext cx="274320" cy="91440"/>
          </a:xfrm>
          <a:prstGeom prst="rightArrow">
            <a:avLst/>
          </a:prstGeom>
          <a:solidFill>
            <a:srgbClr val="97B1DF"/>
          </a:solidFill>
          <a:ln w="12700">
            <a:solidFill>
              <a:srgbClr val="97B1DF"/>
            </a:solidFill>
            <a:prstDash val="solid"/>
          </a:ln>
        </p:spPr>
        <p:txBody>
          <a:bodyPr/>
          <a:lstStyle/>
          <a:p>
            <a:endParaRPr dirty="0"/>
          </a:p>
        </p:txBody>
      </p:sp>
      <p:sp>
        <p:nvSpPr>
          <p:cNvPr id="27" name="Shape 14">
            <a:extLst>
              <a:ext uri="{FF2B5EF4-FFF2-40B4-BE49-F238E27FC236}">
                <a16:creationId xmlns:a16="http://schemas.microsoft.com/office/drawing/2014/main" id="{3179C75D-3E6F-EA03-CAC8-0A3D9517DB8B}"/>
              </a:ext>
            </a:extLst>
          </p:cNvPr>
          <p:cNvSpPr/>
          <p:nvPr/>
        </p:nvSpPr>
        <p:spPr>
          <a:xfrm>
            <a:off x="7602220" y="4498780"/>
            <a:ext cx="1097280" cy="731520"/>
          </a:xfrm>
          <a:prstGeom prst="roundRect">
            <a:avLst>
              <a:gd name="adj" fmla="val 12500"/>
            </a:avLst>
          </a:prstGeom>
          <a:solidFill>
            <a:srgbClr val="F5F5F5"/>
          </a:solidFill>
          <a:ln w="12700">
            <a:solidFill>
              <a:srgbClr val="97B1DF"/>
            </a:solidFill>
            <a:prstDash val="solid"/>
          </a:ln>
        </p:spPr>
        <p:txBody>
          <a:bodyPr/>
          <a:lstStyle/>
          <a:p>
            <a:endParaRPr dirty="0"/>
          </a:p>
        </p:txBody>
      </p:sp>
      <p:sp>
        <p:nvSpPr>
          <p:cNvPr id="28" name="Text 15">
            <a:extLst>
              <a:ext uri="{FF2B5EF4-FFF2-40B4-BE49-F238E27FC236}">
                <a16:creationId xmlns:a16="http://schemas.microsoft.com/office/drawing/2014/main" id="{B9959F4F-6306-98F3-61BB-DF158985851D}"/>
              </a:ext>
            </a:extLst>
          </p:cNvPr>
          <p:cNvSpPr/>
          <p:nvPr/>
        </p:nvSpPr>
        <p:spPr>
          <a:xfrm>
            <a:off x="7602220" y="4676581"/>
            <a:ext cx="1097280" cy="365760"/>
          </a:xfrm>
          <a:prstGeom prst="rect">
            <a:avLst/>
          </a:prstGeom>
          <a:noFill/>
          <a:ln/>
        </p:spPr>
        <p:txBody>
          <a:bodyPr wrap="square" rtlCol="0" anchor="ctr"/>
          <a:lstStyle/>
          <a:p>
            <a:pPr marL="0" indent="0" algn="ctr">
              <a:buNone/>
            </a:pPr>
            <a:r>
              <a:rPr lang="en-US" sz="1400" dirty="0">
                <a:solidFill>
                  <a:srgbClr val="030A18"/>
                </a:solidFill>
                <a:latin typeface="Eras Demi ITC" panose="020B0805030504020804" pitchFamily="34" charset="0"/>
              </a:rPr>
              <a:t>Clustering</a:t>
            </a:r>
            <a:endParaRPr lang="en-US" sz="1400" dirty="0">
              <a:latin typeface="Eras Demi ITC" panose="020B0805030504020804" pitchFamily="34" charset="0"/>
            </a:endParaRPr>
          </a:p>
        </p:txBody>
      </p:sp>
      <p:sp>
        <p:nvSpPr>
          <p:cNvPr id="29" name="Shape 16">
            <a:extLst>
              <a:ext uri="{FF2B5EF4-FFF2-40B4-BE49-F238E27FC236}">
                <a16:creationId xmlns:a16="http://schemas.microsoft.com/office/drawing/2014/main" id="{70D40ECE-1808-F8AE-D764-A9F3496CE8A4}"/>
              </a:ext>
            </a:extLst>
          </p:cNvPr>
          <p:cNvSpPr/>
          <p:nvPr/>
        </p:nvSpPr>
        <p:spPr>
          <a:xfrm>
            <a:off x="8699500" y="4818820"/>
            <a:ext cx="274320" cy="91440"/>
          </a:xfrm>
          <a:prstGeom prst="rightArrow">
            <a:avLst/>
          </a:prstGeom>
          <a:solidFill>
            <a:srgbClr val="97B1DF"/>
          </a:solidFill>
          <a:ln w="12700">
            <a:solidFill>
              <a:srgbClr val="97B1DF"/>
            </a:solidFill>
            <a:prstDash val="solid"/>
          </a:ln>
        </p:spPr>
        <p:txBody>
          <a:bodyPr/>
          <a:lstStyle/>
          <a:p>
            <a:endParaRPr dirty="0"/>
          </a:p>
        </p:txBody>
      </p:sp>
      <p:sp>
        <p:nvSpPr>
          <p:cNvPr id="30" name="Shape 17">
            <a:extLst>
              <a:ext uri="{FF2B5EF4-FFF2-40B4-BE49-F238E27FC236}">
                <a16:creationId xmlns:a16="http://schemas.microsoft.com/office/drawing/2014/main" id="{B453604E-9D1E-5F4D-B182-EE43A14ADE73}"/>
              </a:ext>
            </a:extLst>
          </p:cNvPr>
          <p:cNvSpPr/>
          <p:nvPr/>
        </p:nvSpPr>
        <p:spPr>
          <a:xfrm>
            <a:off x="8973820" y="4498780"/>
            <a:ext cx="1097280" cy="731520"/>
          </a:xfrm>
          <a:prstGeom prst="roundRect">
            <a:avLst>
              <a:gd name="adj" fmla="val 12500"/>
            </a:avLst>
          </a:prstGeom>
          <a:solidFill>
            <a:srgbClr val="F5F5F5"/>
          </a:solidFill>
          <a:ln w="12700">
            <a:solidFill>
              <a:srgbClr val="97B1DF"/>
            </a:solidFill>
            <a:prstDash val="solid"/>
          </a:ln>
        </p:spPr>
        <p:txBody>
          <a:bodyPr/>
          <a:lstStyle/>
          <a:p>
            <a:endParaRPr dirty="0"/>
          </a:p>
        </p:txBody>
      </p:sp>
      <p:sp>
        <p:nvSpPr>
          <p:cNvPr id="31" name="Text 18">
            <a:extLst>
              <a:ext uri="{FF2B5EF4-FFF2-40B4-BE49-F238E27FC236}">
                <a16:creationId xmlns:a16="http://schemas.microsoft.com/office/drawing/2014/main" id="{2C178DBD-D246-D33B-2500-AC7A20836FDE}"/>
              </a:ext>
            </a:extLst>
          </p:cNvPr>
          <p:cNvSpPr/>
          <p:nvPr/>
        </p:nvSpPr>
        <p:spPr>
          <a:xfrm>
            <a:off x="8973820" y="4684640"/>
            <a:ext cx="1097280" cy="365760"/>
          </a:xfrm>
          <a:prstGeom prst="rect">
            <a:avLst/>
          </a:prstGeom>
          <a:noFill/>
          <a:ln/>
        </p:spPr>
        <p:txBody>
          <a:bodyPr wrap="square" rtlCol="0" anchor="ctr"/>
          <a:lstStyle/>
          <a:p>
            <a:pPr marL="0" indent="0" algn="ctr">
              <a:buNone/>
            </a:pPr>
            <a:r>
              <a:rPr lang="en-US" sz="1600" dirty="0">
                <a:solidFill>
                  <a:srgbClr val="030A18"/>
                </a:solidFill>
                <a:latin typeface="Eras Demi ITC" panose="020B0805030504020804" pitchFamily="34" charset="0"/>
              </a:rPr>
              <a:t>Report</a:t>
            </a:r>
            <a:endParaRPr lang="en-US" sz="1600" dirty="0">
              <a:latin typeface="Eras Demi ITC" panose="020B0805030504020804" pitchFamily="34" charset="0"/>
            </a:endParaRPr>
          </a:p>
        </p:txBody>
      </p:sp>
      <p:sp>
        <p:nvSpPr>
          <p:cNvPr id="12" name="文本框 11">
            <a:extLst>
              <a:ext uri="{FF2B5EF4-FFF2-40B4-BE49-F238E27FC236}">
                <a16:creationId xmlns:a16="http://schemas.microsoft.com/office/drawing/2014/main" id="{01960DCC-6742-2483-C9F2-F6553C16BE28}"/>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2/11</a:t>
            </a:r>
            <a:endParaRPr lang="zh-CN" altLang="en-US" b="1" dirty="0"/>
          </a:p>
        </p:txBody>
      </p:sp>
    </p:spTree>
    <p:extLst>
      <p:ext uri="{BB962C8B-B14F-4D97-AF65-F5344CB8AC3E}">
        <p14:creationId xmlns:p14="http://schemas.microsoft.com/office/powerpoint/2010/main" val="2835507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0C231337-EBA3-5315-CC75-05F5003A50DD}"/>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9F34420F-44A6-97E8-5184-534FECCDA3CA}"/>
              </a:ext>
            </a:extLst>
          </p:cNvPr>
          <p:cNvSpPr txBox="1"/>
          <p:nvPr/>
        </p:nvSpPr>
        <p:spPr>
          <a:xfrm>
            <a:off x="9321800" y="6359979"/>
            <a:ext cx="2208893" cy="369332"/>
          </a:xfrm>
          <a:prstGeom prst="rect">
            <a:avLst/>
          </a:prstGeom>
          <a:noFill/>
        </p:spPr>
        <p:txBody>
          <a:bodyPr wrap="square" rtlCol="0">
            <a:spAutoFit/>
          </a:bodyPr>
          <a:lstStyle/>
          <a:p>
            <a:r>
              <a:rPr lang="en-US" altLang="zh-CN" dirty="0"/>
              <a:t>Midterm Checkpoint</a:t>
            </a:r>
            <a:endParaRPr lang="zh-CN" altLang="en-US" dirty="0"/>
          </a:p>
        </p:txBody>
      </p:sp>
      <p:sp>
        <p:nvSpPr>
          <p:cNvPr id="4" name="文本框 3">
            <a:extLst>
              <a:ext uri="{FF2B5EF4-FFF2-40B4-BE49-F238E27FC236}">
                <a16:creationId xmlns:a16="http://schemas.microsoft.com/office/drawing/2014/main" id="{2FD945F9-B842-69A8-FE2F-A4ACB3354B90}"/>
              </a:ext>
            </a:extLst>
          </p:cNvPr>
          <p:cNvSpPr txBox="1"/>
          <p:nvPr/>
        </p:nvSpPr>
        <p:spPr>
          <a:xfrm>
            <a:off x="240845" y="6359979"/>
            <a:ext cx="4855261"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Regression Analysis: </a:t>
            </a:r>
            <a:r>
              <a:rPr lang="en-US" altLang="zh-CN" b="1" dirty="0">
                <a:effectLst>
                  <a:outerShdw blurRad="38100" dist="38100" dir="2700000" algn="tl">
                    <a:srgbClr val="000000">
                      <a:alpha val="43137"/>
                    </a:srgbClr>
                  </a:outerShdw>
                </a:effectLst>
              </a:rPr>
              <a:t>Predicting Interest Rate</a:t>
            </a:r>
            <a:endParaRPr lang="zh-CN" altLang="en-US" b="1"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B699D065-3AD2-DBA5-1696-BB63C5FD0CA5}"/>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ED27114-8888-EAEF-D411-7A80984E12C5}"/>
              </a:ext>
            </a:extLst>
          </p:cNvPr>
          <p:cNvSpPr txBox="1"/>
          <p:nvPr/>
        </p:nvSpPr>
        <p:spPr>
          <a:xfrm>
            <a:off x="596900" y="22206"/>
            <a:ext cx="3210661"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Regression</a:t>
            </a:r>
            <a:endParaRPr lang="zh-CN" altLang="en-US" sz="2000" b="1" dirty="0">
              <a:latin typeface="High Tower Text" panose="02040502050506030303" pitchFamily="18" charset="0"/>
            </a:endParaRPr>
          </a:p>
        </p:txBody>
      </p:sp>
      <p:graphicFrame>
        <p:nvGraphicFramePr>
          <p:cNvPr id="10" name="Table 0">
            <a:extLst>
              <a:ext uri="{FF2B5EF4-FFF2-40B4-BE49-F238E27FC236}">
                <a16:creationId xmlns:a16="http://schemas.microsoft.com/office/drawing/2014/main" id="{A620FEF2-019E-4B08-FA92-186528199B1B}"/>
              </a:ext>
            </a:extLst>
          </p:cNvPr>
          <p:cNvGraphicFramePr>
            <a:graphicFrameLocks noGrp="1"/>
          </p:cNvGraphicFramePr>
          <p:nvPr>
            <p:extLst>
              <p:ext uri="{D42A27DB-BD31-4B8C-83A1-F6EECF244321}">
                <p14:modId xmlns:p14="http://schemas.microsoft.com/office/powerpoint/2010/main" val="2806116443"/>
              </p:ext>
            </p:extLst>
          </p:nvPr>
        </p:nvGraphicFramePr>
        <p:xfrm>
          <a:off x="1188720" y="1354795"/>
          <a:ext cx="4528686" cy="2117560"/>
        </p:xfrm>
        <a:graphic>
          <a:graphicData uri="http://schemas.openxmlformats.org/drawingml/2006/table">
            <a:tbl>
              <a:tblPr/>
              <a:tblGrid>
                <a:gridCol w="1509562">
                  <a:extLst>
                    <a:ext uri="{9D8B030D-6E8A-4147-A177-3AD203B41FA5}">
                      <a16:colId xmlns:a16="http://schemas.microsoft.com/office/drawing/2014/main" val="20000"/>
                    </a:ext>
                  </a:extLst>
                </a:gridCol>
                <a:gridCol w="1509562">
                  <a:extLst>
                    <a:ext uri="{9D8B030D-6E8A-4147-A177-3AD203B41FA5}">
                      <a16:colId xmlns:a16="http://schemas.microsoft.com/office/drawing/2014/main" val="20001"/>
                    </a:ext>
                  </a:extLst>
                </a:gridCol>
                <a:gridCol w="1509562">
                  <a:extLst>
                    <a:ext uri="{9D8B030D-6E8A-4147-A177-3AD203B41FA5}">
                      <a16:colId xmlns:a16="http://schemas.microsoft.com/office/drawing/2014/main" val="20002"/>
                    </a:ext>
                  </a:extLst>
                </a:gridCol>
              </a:tblGrid>
              <a:tr h="529390">
                <a:tc>
                  <a:txBody>
                    <a:bodyPr/>
                    <a:lstStyle/>
                    <a:p>
                      <a:pPr marL="0" indent="0" algn="ctr">
                        <a:buNone/>
                      </a:pP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97B1DF"/>
                    </a:solidFill>
                  </a:tcPr>
                </a:tc>
                <a:tc>
                  <a:txBody>
                    <a:bodyPr/>
                    <a:lstStyle/>
                    <a:p>
                      <a:pPr marL="0" indent="0" algn="ctr">
                        <a:buNone/>
                      </a:pPr>
                      <a:r>
                        <a:rPr lang="en-US" sz="1600" b="1" dirty="0">
                          <a:solidFill>
                            <a:srgbClr val="FFFFFF"/>
                          </a:solidFill>
                          <a:latin typeface="Times New Roman" panose="02020603050405020304" pitchFamily="18" charset="0"/>
                          <a:cs typeface="Times New Roman" panose="02020603050405020304" pitchFamily="18" charset="0"/>
                        </a:rPr>
                        <a:t>Validation</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97B1DF"/>
                    </a:solidFill>
                  </a:tcPr>
                </a:tc>
                <a:tc>
                  <a:txBody>
                    <a:bodyPr/>
                    <a:lstStyle/>
                    <a:p>
                      <a:pPr marL="0" indent="0" algn="ctr">
                        <a:buNone/>
                      </a:pPr>
                      <a:r>
                        <a:rPr lang="en-US" sz="1600" b="1" dirty="0">
                          <a:solidFill>
                            <a:srgbClr val="FFFFFF"/>
                          </a:solidFill>
                          <a:latin typeface="Times New Roman" panose="02020603050405020304" pitchFamily="18" charset="0"/>
                          <a:cs typeface="Times New Roman" panose="02020603050405020304" pitchFamily="18" charset="0"/>
                        </a:rPr>
                        <a:t>Test</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97B1DF"/>
                    </a:solidFill>
                  </a:tcPr>
                </a:tc>
                <a:extLst>
                  <a:ext uri="{0D108BD9-81ED-4DB2-BD59-A6C34878D82A}">
                    <a16:rowId xmlns:a16="http://schemas.microsoft.com/office/drawing/2014/main" val="10000"/>
                  </a:ext>
                </a:extLst>
              </a:tr>
              <a:tr h="529390">
                <a:tc>
                  <a:txBody>
                    <a:bodyPr/>
                    <a:lstStyle/>
                    <a:p>
                      <a:pPr marL="0" indent="0" algn="ctr">
                        <a:buNone/>
                      </a:pPr>
                      <a:r>
                        <a:rPr lang="en-US" sz="1600" b="1" dirty="0">
                          <a:solidFill>
                            <a:srgbClr val="000000"/>
                          </a:solidFill>
                          <a:latin typeface="Times New Roman" panose="02020603050405020304" pitchFamily="18" charset="0"/>
                          <a:cs typeface="Times New Roman" panose="02020603050405020304" pitchFamily="18" charset="0"/>
                        </a:rPr>
                        <a:t>MAE</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0.7326</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1.1081</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529390">
                <a:tc>
                  <a:txBody>
                    <a:bodyPr/>
                    <a:lstStyle/>
                    <a:p>
                      <a:pPr marL="0" indent="0" algn="ctr">
                        <a:buNone/>
                      </a:pPr>
                      <a:r>
                        <a:rPr lang="en-US" sz="1600" b="1" dirty="0">
                          <a:solidFill>
                            <a:srgbClr val="000000"/>
                          </a:solidFill>
                          <a:latin typeface="Times New Roman" panose="02020603050405020304" pitchFamily="18" charset="0"/>
                          <a:cs typeface="Times New Roman" panose="02020603050405020304" pitchFamily="18" charset="0"/>
                        </a:rPr>
                        <a:t>RMSE</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1.1527</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1.7732</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extLst>
                  <a:ext uri="{0D108BD9-81ED-4DB2-BD59-A6C34878D82A}">
                    <a16:rowId xmlns:a16="http://schemas.microsoft.com/office/drawing/2014/main" val="10002"/>
                  </a:ext>
                </a:extLst>
              </a:tr>
              <a:tr h="529390">
                <a:tc>
                  <a:txBody>
                    <a:bodyPr/>
                    <a:lstStyle/>
                    <a:p>
                      <a:pPr marL="0" indent="0" algn="ctr">
                        <a:buNone/>
                      </a:pPr>
                      <a:r>
                        <a:rPr lang="en-US" sz="1600" b="1" dirty="0">
                          <a:solidFill>
                            <a:srgbClr val="000000"/>
                          </a:solidFill>
                          <a:latin typeface="Times New Roman" panose="02020603050405020304" pitchFamily="18" charset="0"/>
                          <a:cs typeface="Times New Roman" panose="02020603050405020304" pitchFamily="18" charset="0"/>
                        </a:rPr>
                        <a:t>R²</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0.9472</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0.8961</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bl>
          </a:graphicData>
        </a:graphic>
      </p:graphicFrame>
      <p:sp>
        <p:nvSpPr>
          <p:cNvPr id="12" name="文本框 11">
            <a:extLst>
              <a:ext uri="{FF2B5EF4-FFF2-40B4-BE49-F238E27FC236}">
                <a16:creationId xmlns:a16="http://schemas.microsoft.com/office/drawing/2014/main" id="{898A3867-3C96-7E48-77E2-0646E3CF7DE2}"/>
              </a:ext>
            </a:extLst>
          </p:cNvPr>
          <p:cNvSpPr txBox="1"/>
          <p:nvPr/>
        </p:nvSpPr>
        <p:spPr>
          <a:xfrm>
            <a:off x="537633" y="4220169"/>
            <a:ext cx="6184900" cy="1477328"/>
          </a:xfrm>
          <a:prstGeom prst="rect">
            <a:avLst/>
          </a:prstGeom>
          <a:noFill/>
        </p:spPr>
        <p:txBody>
          <a:bodyPr wrap="square">
            <a:spAutoFit/>
          </a:bodyPr>
          <a:lstStyle/>
          <a:p>
            <a:pPr marL="0" indent="0">
              <a:spcAft>
                <a:spcPts val="600"/>
              </a:spcAft>
              <a:buNone/>
            </a:pPr>
            <a:r>
              <a:rPr lang="en-US" altLang="zh-CN" sz="2000" dirty="0">
                <a:solidFill>
                  <a:srgbClr val="030A18"/>
                </a:solidFill>
                <a:latin typeface="Times New Roman" panose="02020603050405020304" pitchFamily="18" charset="0"/>
                <a:cs typeface="Times New Roman" panose="02020603050405020304" pitchFamily="18" charset="0"/>
              </a:rPr>
              <a:t>• Strong performance with high R² on validation and test.
• Low MAE and RMSE indicate accurate interest rate predictions.</a:t>
            </a:r>
          </a:p>
          <a:p>
            <a:pPr marL="0" indent="0">
              <a:spcAft>
                <a:spcPts val="600"/>
              </a:spcAft>
              <a:buNone/>
            </a:pPr>
            <a:r>
              <a:rPr lang="en-US" altLang="zh-CN" sz="2000" dirty="0">
                <a:solidFill>
                  <a:srgbClr val="030A18"/>
                </a:solidFill>
                <a:latin typeface="Times New Roman" panose="02020603050405020304" pitchFamily="18" charset="0"/>
                <a:cs typeface="Times New Roman" panose="02020603050405020304" pitchFamily="18" charset="0"/>
              </a:rPr>
              <a:t>• Further tuning may reduce residual variance.</a:t>
            </a:r>
            <a:endParaRPr lang="en-US" altLang="zh-CN" sz="2000" dirty="0">
              <a:latin typeface="Times New Roman" panose="02020603050405020304" pitchFamily="18" charset="0"/>
              <a:cs typeface="Times New Roman" panose="02020603050405020304" pitchFamily="18" charset="0"/>
            </a:endParaRPr>
          </a:p>
        </p:txBody>
      </p:sp>
      <p:pic>
        <p:nvPicPr>
          <p:cNvPr id="13" name="Image 0" descr="/home/oai/share/cached_assets_used/pred_vs_true.png">
            <a:extLst>
              <a:ext uri="{FF2B5EF4-FFF2-40B4-BE49-F238E27FC236}">
                <a16:creationId xmlns:a16="http://schemas.microsoft.com/office/drawing/2014/main" id="{24633DD9-6AAB-A005-EDC7-947438B6D2F9}"/>
              </a:ext>
            </a:extLst>
          </p:cNvPr>
          <p:cNvPicPr>
            <a:picLocks noChangeAspect="1"/>
          </p:cNvPicPr>
          <p:nvPr/>
        </p:nvPicPr>
        <p:blipFill>
          <a:blip r:embed="rId3"/>
          <a:stretch>
            <a:fillRect/>
          </a:stretch>
        </p:blipFill>
        <p:spPr>
          <a:xfrm>
            <a:off x="6722533" y="794555"/>
            <a:ext cx="4424680" cy="4424680"/>
          </a:xfrm>
          <a:prstGeom prst="rect">
            <a:avLst/>
          </a:prstGeom>
        </p:spPr>
      </p:pic>
      <p:sp>
        <p:nvSpPr>
          <p:cNvPr id="7" name="文本框 6">
            <a:extLst>
              <a:ext uri="{FF2B5EF4-FFF2-40B4-BE49-F238E27FC236}">
                <a16:creationId xmlns:a16="http://schemas.microsoft.com/office/drawing/2014/main" id="{9CEF9679-469B-03B4-597D-B642660B3836}"/>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3/11</a:t>
            </a:r>
            <a:endParaRPr lang="zh-CN" altLang="en-US" b="1" dirty="0"/>
          </a:p>
        </p:txBody>
      </p:sp>
    </p:spTree>
    <p:extLst>
      <p:ext uri="{BB962C8B-B14F-4D97-AF65-F5344CB8AC3E}">
        <p14:creationId xmlns:p14="http://schemas.microsoft.com/office/powerpoint/2010/main" val="1352222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单圆角 17">
            <a:extLst>
              <a:ext uri="{FF2B5EF4-FFF2-40B4-BE49-F238E27FC236}">
                <a16:creationId xmlns:a16="http://schemas.microsoft.com/office/drawing/2014/main" id="{7FFBA8FF-4225-43AD-2AF1-5725F285F264}"/>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1FA688B3-C43D-E846-6A29-E712C91C69AC}"/>
              </a:ext>
            </a:extLst>
          </p:cNvPr>
          <p:cNvSpPr txBox="1"/>
          <p:nvPr/>
        </p:nvSpPr>
        <p:spPr>
          <a:xfrm>
            <a:off x="9321800" y="6359979"/>
            <a:ext cx="2208893" cy="369332"/>
          </a:xfrm>
          <a:prstGeom prst="rect">
            <a:avLst/>
          </a:prstGeom>
          <a:noFill/>
        </p:spPr>
        <p:txBody>
          <a:bodyPr wrap="square" rtlCol="0">
            <a:spAutoFit/>
          </a:bodyPr>
          <a:lstStyle/>
          <a:p>
            <a:r>
              <a:rPr lang="en-US" altLang="zh-CN" dirty="0"/>
              <a:t>Midterm Checkpoint</a:t>
            </a:r>
            <a:endParaRPr lang="zh-CN" altLang="en-US" dirty="0"/>
          </a:p>
        </p:txBody>
      </p:sp>
      <p:sp>
        <p:nvSpPr>
          <p:cNvPr id="20" name="文本框 19">
            <a:extLst>
              <a:ext uri="{FF2B5EF4-FFF2-40B4-BE49-F238E27FC236}">
                <a16:creationId xmlns:a16="http://schemas.microsoft.com/office/drawing/2014/main" id="{06E3D56D-8E95-EDD3-3C61-5AA3BD63B4F4}"/>
              </a:ext>
            </a:extLst>
          </p:cNvPr>
          <p:cNvSpPr txBox="1"/>
          <p:nvPr/>
        </p:nvSpPr>
        <p:spPr>
          <a:xfrm>
            <a:off x="240846" y="6359979"/>
            <a:ext cx="3895122"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Regression Analysis: </a:t>
            </a:r>
            <a:r>
              <a:rPr lang="en-US" altLang="zh-CN" dirty="0">
                <a:solidFill>
                  <a:srgbClr val="030A18"/>
                </a:solidFill>
                <a:effectLst>
                  <a:outerShdw blurRad="38100" dist="38100" dir="2700000" algn="tl">
                    <a:srgbClr val="000000">
                      <a:alpha val="43137"/>
                    </a:srgbClr>
                  </a:outerShdw>
                </a:effectLst>
                <a:latin typeface="Arial" pitchFamily="34" charset="0"/>
                <a:cs typeface="Arial" pitchFamily="34" charset="-120"/>
              </a:rPr>
              <a:t>Diagnostics</a:t>
            </a:r>
            <a:endParaRPr lang="zh-CN" altLang="en-US" dirty="0">
              <a:effectLst>
                <a:outerShdw blurRad="38100" dist="38100" dir="2700000" algn="tl">
                  <a:srgbClr val="000000">
                    <a:alpha val="43137"/>
                  </a:srgbClr>
                </a:outerShdw>
              </a:effectLst>
            </a:endParaRPr>
          </a:p>
        </p:txBody>
      </p:sp>
      <p:sp>
        <p:nvSpPr>
          <p:cNvPr id="21" name="矩形: 圆顶角 20">
            <a:extLst>
              <a:ext uri="{FF2B5EF4-FFF2-40B4-BE49-F238E27FC236}">
                <a16:creationId xmlns:a16="http://schemas.microsoft.com/office/drawing/2014/main" id="{E33070C7-E392-98BD-1689-B8699926346B}"/>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46BFA243-5924-EC9E-5479-F74F8197D461}"/>
              </a:ext>
            </a:extLst>
          </p:cNvPr>
          <p:cNvSpPr txBox="1"/>
          <p:nvPr/>
        </p:nvSpPr>
        <p:spPr>
          <a:xfrm>
            <a:off x="596900" y="22206"/>
            <a:ext cx="3210661"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Regression</a:t>
            </a:r>
            <a:endParaRPr lang="zh-CN" altLang="en-US" sz="2000" b="1" dirty="0">
              <a:latin typeface="High Tower Text" panose="02040502050506030303" pitchFamily="18" charset="0"/>
            </a:endParaRPr>
          </a:p>
        </p:txBody>
      </p:sp>
      <p:sp>
        <p:nvSpPr>
          <p:cNvPr id="27" name="文本框 26">
            <a:extLst>
              <a:ext uri="{FF2B5EF4-FFF2-40B4-BE49-F238E27FC236}">
                <a16:creationId xmlns:a16="http://schemas.microsoft.com/office/drawing/2014/main" id="{61E50DC4-CC6D-2F7A-E505-C2623666063B}"/>
              </a:ext>
            </a:extLst>
          </p:cNvPr>
          <p:cNvSpPr txBox="1"/>
          <p:nvPr/>
        </p:nvSpPr>
        <p:spPr>
          <a:xfrm>
            <a:off x="366209" y="1424912"/>
            <a:ext cx="6279918" cy="2831544"/>
          </a:xfrm>
          <a:prstGeom prst="rect">
            <a:avLst/>
          </a:prstGeom>
          <a:noFill/>
        </p:spPr>
        <p:txBody>
          <a:bodyPr wrap="square">
            <a:spAutoFit/>
          </a:bodyPr>
          <a:lstStyle/>
          <a:p>
            <a:pPr marL="0" indent="0">
              <a:spcAft>
                <a:spcPts val="600"/>
              </a:spcAft>
              <a:buNone/>
            </a:pPr>
            <a:r>
              <a:rPr lang="en-US" altLang="zh-CN" sz="2800" dirty="0">
                <a:solidFill>
                  <a:srgbClr val="030A18"/>
                </a:solidFill>
                <a:latin typeface="Times New Roman" panose="02020603050405020304" pitchFamily="18" charset="0"/>
                <a:cs typeface="Times New Roman" panose="02020603050405020304" pitchFamily="18" charset="0"/>
              </a:rPr>
              <a:t>• R² values of 0.947 (Val) and 0.896 (test) demonstrate excellent goodness‑of‑fit.
• Residuals cluster tightly around zero, indicating low bias and homoscedasticity.
• A few outliers and moderate skew suggest opportunities for further tuning.</a:t>
            </a:r>
            <a:endParaRPr lang="en-US" altLang="zh-CN" sz="2800" dirty="0">
              <a:latin typeface="Times New Roman" panose="02020603050405020304" pitchFamily="18" charset="0"/>
              <a:cs typeface="Times New Roman" panose="02020603050405020304" pitchFamily="18" charset="0"/>
            </a:endParaRPr>
          </a:p>
        </p:txBody>
      </p:sp>
      <p:pic>
        <p:nvPicPr>
          <p:cNvPr id="28" name="Image 0" descr="/home/oai/share/cached_assets_used/residuals.png">
            <a:extLst>
              <a:ext uri="{FF2B5EF4-FFF2-40B4-BE49-F238E27FC236}">
                <a16:creationId xmlns:a16="http://schemas.microsoft.com/office/drawing/2014/main" id="{0C645B5E-DEB3-0E2C-A3AD-A7563CDA9638}"/>
              </a:ext>
            </a:extLst>
          </p:cNvPr>
          <p:cNvPicPr>
            <a:picLocks noChangeAspect="1"/>
          </p:cNvPicPr>
          <p:nvPr/>
        </p:nvPicPr>
        <p:blipFill>
          <a:blip r:embed="rId3"/>
          <a:stretch>
            <a:fillRect/>
          </a:stretch>
        </p:blipFill>
        <p:spPr>
          <a:xfrm>
            <a:off x="6501161" y="953253"/>
            <a:ext cx="5590479" cy="4192860"/>
          </a:xfrm>
          <a:prstGeom prst="rect">
            <a:avLst/>
          </a:prstGeom>
        </p:spPr>
      </p:pic>
      <p:sp>
        <p:nvSpPr>
          <p:cNvPr id="2" name="文本框 1">
            <a:extLst>
              <a:ext uri="{FF2B5EF4-FFF2-40B4-BE49-F238E27FC236}">
                <a16:creationId xmlns:a16="http://schemas.microsoft.com/office/drawing/2014/main" id="{2AA11D52-1A1D-7EC3-DA95-0765B984B05A}"/>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4/11</a:t>
            </a:r>
            <a:endParaRPr lang="zh-CN" altLang="en-US" b="1" dirty="0"/>
          </a:p>
        </p:txBody>
      </p:sp>
    </p:spTree>
    <p:extLst>
      <p:ext uri="{BB962C8B-B14F-4D97-AF65-F5344CB8AC3E}">
        <p14:creationId xmlns:p14="http://schemas.microsoft.com/office/powerpoint/2010/main" val="1667762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A2418271-7F61-1A4E-8E0C-9BED083EB8DD}"/>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9FB94A5B-47E3-0D6D-F4A0-702AB69B550D}"/>
              </a:ext>
            </a:extLst>
          </p:cNvPr>
          <p:cNvSpPr txBox="1"/>
          <p:nvPr/>
        </p:nvSpPr>
        <p:spPr>
          <a:xfrm>
            <a:off x="9321800" y="6359979"/>
            <a:ext cx="2208893" cy="369332"/>
          </a:xfrm>
          <a:prstGeom prst="rect">
            <a:avLst/>
          </a:prstGeom>
          <a:noFill/>
        </p:spPr>
        <p:txBody>
          <a:bodyPr wrap="square" rtlCol="0">
            <a:spAutoFit/>
          </a:bodyPr>
          <a:lstStyle/>
          <a:p>
            <a:r>
              <a:rPr lang="en-US" altLang="zh-CN" dirty="0"/>
              <a:t>Midterm Checkpoint</a:t>
            </a:r>
            <a:endParaRPr lang="zh-CN" altLang="en-US" dirty="0"/>
          </a:p>
        </p:txBody>
      </p:sp>
      <p:sp>
        <p:nvSpPr>
          <p:cNvPr id="4" name="文本框 3">
            <a:extLst>
              <a:ext uri="{FF2B5EF4-FFF2-40B4-BE49-F238E27FC236}">
                <a16:creationId xmlns:a16="http://schemas.microsoft.com/office/drawing/2014/main" id="{449F9102-ED62-387E-A44B-9E26645A17EE}"/>
              </a:ext>
            </a:extLst>
          </p:cNvPr>
          <p:cNvSpPr txBox="1"/>
          <p:nvPr/>
        </p:nvSpPr>
        <p:spPr>
          <a:xfrm>
            <a:off x="240846" y="6359979"/>
            <a:ext cx="2836787"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Classification Results</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1551B681-5FFE-1A39-B598-8B919533C5AA}"/>
              </a:ext>
            </a:extLst>
          </p:cNvPr>
          <p:cNvSpPr/>
          <p:nvPr/>
        </p:nvSpPr>
        <p:spPr>
          <a:xfrm rot="10800000">
            <a:off x="416966" y="17270"/>
            <a:ext cx="4300000"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3C3BA730-0E15-5ED3-8C44-BA200B0EDB2E}"/>
              </a:ext>
            </a:extLst>
          </p:cNvPr>
          <p:cNvSpPr txBox="1"/>
          <p:nvPr/>
        </p:nvSpPr>
        <p:spPr>
          <a:xfrm>
            <a:off x="416965" y="22206"/>
            <a:ext cx="4300001"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Classifications Results</a:t>
            </a:r>
            <a:endParaRPr lang="zh-CN" altLang="en-US" sz="2000" b="1" dirty="0">
              <a:latin typeface="High Tower Text" panose="02040502050506030303" pitchFamily="18" charset="0"/>
            </a:endParaRPr>
          </a:p>
        </p:txBody>
      </p:sp>
      <p:graphicFrame>
        <p:nvGraphicFramePr>
          <p:cNvPr id="10" name="Table 0">
            <a:extLst>
              <a:ext uri="{FF2B5EF4-FFF2-40B4-BE49-F238E27FC236}">
                <a16:creationId xmlns:a16="http://schemas.microsoft.com/office/drawing/2014/main" id="{153F181A-24F6-6F2F-E2B0-646BE1BDDA3C}"/>
              </a:ext>
            </a:extLst>
          </p:cNvPr>
          <p:cNvGraphicFramePr>
            <a:graphicFrameLocks noGrp="1"/>
          </p:cNvGraphicFramePr>
          <p:nvPr>
            <p:extLst>
              <p:ext uri="{D42A27DB-BD31-4B8C-83A1-F6EECF244321}">
                <p14:modId xmlns:p14="http://schemas.microsoft.com/office/powerpoint/2010/main" val="2807657740"/>
              </p:ext>
            </p:extLst>
          </p:nvPr>
        </p:nvGraphicFramePr>
        <p:xfrm>
          <a:off x="1217712" y="999277"/>
          <a:ext cx="4067966" cy="2765500"/>
        </p:xfrm>
        <a:graphic>
          <a:graphicData uri="http://schemas.openxmlformats.org/drawingml/2006/table">
            <a:tbl>
              <a:tblPr/>
              <a:tblGrid>
                <a:gridCol w="2033983">
                  <a:extLst>
                    <a:ext uri="{9D8B030D-6E8A-4147-A177-3AD203B41FA5}">
                      <a16:colId xmlns:a16="http://schemas.microsoft.com/office/drawing/2014/main" val="20000"/>
                    </a:ext>
                  </a:extLst>
                </a:gridCol>
                <a:gridCol w="2033983">
                  <a:extLst>
                    <a:ext uri="{9D8B030D-6E8A-4147-A177-3AD203B41FA5}">
                      <a16:colId xmlns:a16="http://schemas.microsoft.com/office/drawing/2014/main" val="20001"/>
                    </a:ext>
                  </a:extLst>
                </a:gridCol>
              </a:tblGrid>
              <a:tr h="553100">
                <a:tc>
                  <a:txBody>
                    <a:bodyPr/>
                    <a:lstStyle/>
                    <a:p>
                      <a:pPr marL="0" indent="0" algn="ctr">
                        <a:buNone/>
                      </a:pP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97B1DF"/>
                    </a:solidFill>
                  </a:tcPr>
                </a:tc>
                <a:tc>
                  <a:txBody>
                    <a:bodyPr/>
                    <a:lstStyle/>
                    <a:p>
                      <a:pPr marL="0" indent="0" algn="ctr">
                        <a:buNone/>
                      </a:pPr>
                      <a:r>
                        <a:rPr lang="en-US" sz="1600" b="1" dirty="0">
                          <a:solidFill>
                            <a:srgbClr val="FFFFFF"/>
                          </a:solidFill>
                          <a:latin typeface="Times New Roman" panose="02020603050405020304" pitchFamily="18" charset="0"/>
                          <a:cs typeface="Times New Roman" panose="02020603050405020304" pitchFamily="18" charset="0"/>
                        </a:rPr>
                        <a:t>Score</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97B1DF"/>
                    </a:solidFill>
                  </a:tcPr>
                </a:tc>
                <a:extLst>
                  <a:ext uri="{0D108BD9-81ED-4DB2-BD59-A6C34878D82A}">
                    <a16:rowId xmlns:a16="http://schemas.microsoft.com/office/drawing/2014/main" val="10000"/>
                  </a:ext>
                </a:extLst>
              </a:tr>
              <a:tr h="553100">
                <a:tc>
                  <a:txBody>
                    <a:bodyPr/>
                    <a:lstStyle/>
                    <a:p>
                      <a:pPr marL="0" indent="0" algn="ctr">
                        <a:buNone/>
                      </a:pPr>
                      <a:r>
                        <a:rPr lang="en-US" sz="1600" b="1" dirty="0">
                          <a:solidFill>
                            <a:srgbClr val="000000"/>
                          </a:solidFill>
                          <a:latin typeface="Times New Roman" panose="02020603050405020304" pitchFamily="18" charset="0"/>
                          <a:cs typeface="Times New Roman" panose="02020603050405020304" pitchFamily="18" charset="0"/>
                        </a:rPr>
                        <a:t>Accuracy</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0.5738</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553100">
                <a:tc>
                  <a:txBody>
                    <a:bodyPr/>
                    <a:lstStyle/>
                    <a:p>
                      <a:pPr marL="0" indent="0" algn="ctr">
                        <a:buNone/>
                      </a:pPr>
                      <a:r>
                        <a:rPr lang="en-US" sz="1600" b="1" dirty="0">
                          <a:solidFill>
                            <a:srgbClr val="000000"/>
                          </a:solidFill>
                          <a:latin typeface="Times New Roman" panose="02020603050405020304" pitchFamily="18" charset="0"/>
                          <a:cs typeface="Times New Roman" panose="02020603050405020304" pitchFamily="18" charset="0"/>
                        </a:rPr>
                        <a:t>F1 Macro</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0.3831</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extLst>
                  <a:ext uri="{0D108BD9-81ED-4DB2-BD59-A6C34878D82A}">
                    <a16:rowId xmlns:a16="http://schemas.microsoft.com/office/drawing/2014/main" val="10002"/>
                  </a:ext>
                </a:extLst>
              </a:tr>
              <a:tr h="553100">
                <a:tc>
                  <a:txBody>
                    <a:bodyPr/>
                    <a:lstStyle/>
                    <a:p>
                      <a:pPr marL="0" indent="0" algn="ctr">
                        <a:buNone/>
                      </a:pPr>
                      <a:r>
                        <a:rPr lang="en-US" sz="1600" b="1" dirty="0">
                          <a:solidFill>
                            <a:srgbClr val="000000"/>
                          </a:solidFill>
                          <a:latin typeface="Times New Roman" panose="02020603050405020304" pitchFamily="18" charset="0"/>
                          <a:cs typeface="Times New Roman" panose="02020603050405020304" pitchFamily="18" charset="0"/>
                        </a:rPr>
                        <a:t>F1 Weighted</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0.5513</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r h="553100">
                <a:tc>
                  <a:txBody>
                    <a:bodyPr/>
                    <a:lstStyle/>
                    <a:p>
                      <a:pPr marL="0" indent="0" algn="ctr">
                        <a:buNone/>
                      </a:pPr>
                      <a:r>
                        <a:rPr lang="en-US" sz="1600" b="1" dirty="0">
                          <a:solidFill>
                            <a:srgbClr val="000000"/>
                          </a:solidFill>
                          <a:latin typeface="Times New Roman" panose="02020603050405020304" pitchFamily="18" charset="0"/>
                          <a:cs typeface="Times New Roman" panose="02020603050405020304" pitchFamily="18" charset="0"/>
                        </a:rPr>
                        <a:t>AUC (ovr)</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0.8475</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11" name="Image 0" descr="/home/oai/share/cached_assets_used/confusion_matrix.png">
            <a:extLst>
              <a:ext uri="{FF2B5EF4-FFF2-40B4-BE49-F238E27FC236}">
                <a16:creationId xmlns:a16="http://schemas.microsoft.com/office/drawing/2014/main" id="{DE243DFC-3A6C-58B6-1DB7-E8C0E78810E1}"/>
              </a:ext>
            </a:extLst>
          </p:cNvPr>
          <p:cNvPicPr>
            <a:picLocks noChangeAspect="1"/>
          </p:cNvPicPr>
          <p:nvPr/>
        </p:nvPicPr>
        <p:blipFill>
          <a:blip r:embed="rId3"/>
          <a:stretch>
            <a:fillRect/>
          </a:stretch>
        </p:blipFill>
        <p:spPr>
          <a:xfrm>
            <a:off x="5641122" y="543965"/>
            <a:ext cx="6550878" cy="5240702"/>
          </a:xfrm>
          <a:prstGeom prst="rect">
            <a:avLst/>
          </a:prstGeom>
        </p:spPr>
      </p:pic>
      <p:sp>
        <p:nvSpPr>
          <p:cNvPr id="13" name="文本框 12">
            <a:extLst>
              <a:ext uri="{FF2B5EF4-FFF2-40B4-BE49-F238E27FC236}">
                <a16:creationId xmlns:a16="http://schemas.microsoft.com/office/drawing/2014/main" id="{9CDC85D2-17BC-CDA7-0F6D-AAC41DD33165}"/>
              </a:ext>
            </a:extLst>
          </p:cNvPr>
          <p:cNvSpPr txBox="1"/>
          <p:nvPr/>
        </p:nvSpPr>
        <p:spPr>
          <a:xfrm>
            <a:off x="631035" y="4157073"/>
            <a:ext cx="6161048" cy="1785104"/>
          </a:xfrm>
          <a:prstGeom prst="rect">
            <a:avLst/>
          </a:prstGeom>
          <a:noFill/>
        </p:spPr>
        <p:txBody>
          <a:bodyPr wrap="square">
            <a:spAutoFit/>
          </a:bodyPr>
          <a:lstStyle/>
          <a:p>
            <a:pPr marL="0" indent="0">
              <a:spcAft>
                <a:spcPts val="600"/>
              </a:spcAft>
              <a:buNone/>
            </a:pPr>
            <a:r>
              <a:rPr lang="en-US" altLang="zh-CN" sz="2000" dirty="0">
                <a:solidFill>
                  <a:srgbClr val="030A18"/>
                </a:solidFill>
                <a:latin typeface="Times New Roman" panose="02020603050405020304" pitchFamily="18" charset="0"/>
                <a:cs typeface="Times New Roman" panose="02020603050405020304" pitchFamily="18" charset="0"/>
              </a:rPr>
              <a:t>• Reasonable accuracy but macro F1 reveals class imbalance
• Weighted F1 is higher, reflecting skewed label distribution
• AUC of 0.848 indicates good discriminative power</a:t>
            </a:r>
            <a:endParaRPr lang="en-US" altLang="zh-CN" sz="2000"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17894C48-F663-5546-2DC4-0685A85EAFA0}"/>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5/11</a:t>
            </a:r>
            <a:endParaRPr lang="zh-CN" altLang="en-US" b="1" dirty="0"/>
          </a:p>
        </p:txBody>
      </p:sp>
    </p:spTree>
    <p:extLst>
      <p:ext uri="{BB962C8B-B14F-4D97-AF65-F5344CB8AC3E}">
        <p14:creationId xmlns:p14="http://schemas.microsoft.com/office/powerpoint/2010/main" val="4076791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DCAB2744-B04E-5E69-E964-39F57A5E6DC5}"/>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8F6859C4-E1D0-EE3D-9FF1-D836A988DC55}"/>
              </a:ext>
            </a:extLst>
          </p:cNvPr>
          <p:cNvSpPr txBox="1"/>
          <p:nvPr/>
        </p:nvSpPr>
        <p:spPr>
          <a:xfrm>
            <a:off x="9321800" y="6359979"/>
            <a:ext cx="2208893" cy="369332"/>
          </a:xfrm>
          <a:prstGeom prst="rect">
            <a:avLst/>
          </a:prstGeom>
          <a:noFill/>
        </p:spPr>
        <p:txBody>
          <a:bodyPr wrap="square" rtlCol="0">
            <a:spAutoFit/>
          </a:bodyPr>
          <a:lstStyle/>
          <a:p>
            <a:r>
              <a:rPr lang="en-US" altLang="zh-CN" dirty="0"/>
              <a:t>Midterm Checkpoint</a:t>
            </a:r>
            <a:endParaRPr lang="zh-CN" altLang="en-US" dirty="0"/>
          </a:p>
        </p:txBody>
      </p:sp>
      <p:sp>
        <p:nvSpPr>
          <p:cNvPr id="4" name="文本框 3">
            <a:extLst>
              <a:ext uri="{FF2B5EF4-FFF2-40B4-BE49-F238E27FC236}">
                <a16:creationId xmlns:a16="http://schemas.microsoft.com/office/drawing/2014/main" id="{B333751B-2287-774D-7989-CAFF0E88735A}"/>
              </a:ext>
            </a:extLst>
          </p:cNvPr>
          <p:cNvSpPr txBox="1"/>
          <p:nvPr/>
        </p:nvSpPr>
        <p:spPr>
          <a:xfrm>
            <a:off x="240846" y="6359979"/>
            <a:ext cx="2836787"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Classification Results</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BAE9280C-6B5A-51F7-EE6D-81C392072E94}"/>
              </a:ext>
            </a:extLst>
          </p:cNvPr>
          <p:cNvSpPr/>
          <p:nvPr/>
        </p:nvSpPr>
        <p:spPr>
          <a:xfrm rot="10800000">
            <a:off x="416966" y="17270"/>
            <a:ext cx="5548936"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9149C404-385C-86C4-AE7A-8509F7E819EE}"/>
              </a:ext>
            </a:extLst>
          </p:cNvPr>
          <p:cNvSpPr txBox="1"/>
          <p:nvPr/>
        </p:nvSpPr>
        <p:spPr>
          <a:xfrm>
            <a:off x="271999" y="17269"/>
            <a:ext cx="5838869"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Classifications ROC &amp; Insights</a:t>
            </a:r>
            <a:endParaRPr lang="zh-CN" altLang="en-US" sz="2000" b="1" dirty="0">
              <a:latin typeface="High Tower Text" panose="02040502050506030303" pitchFamily="18" charset="0"/>
            </a:endParaRPr>
          </a:p>
        </p:txBody>
      </p:sp>
      <p:sp>
        <p:nvSpPr>
          <p:cNvPr id="11" name="文本框 10">
            <a:extLst>
              <a:ext uri="{FF2B5EF4-FFF2-40B4-BE49-F238E27FC236}">
                <a16:creationId xmlns:a16="http://schemas.microsoft.com/office/drawing/2014/main" id="{B15284A0-841C-F0C2-0107-8D2DD4281F70}"/>
              </a:ext>
            </a:extLst>
          </p:cNvPr>
          <p:cNvSpPr txBox="1"/>
          <p:nvPr/>
        </p:nvSpPr>
        <p:spPr>
          <a:xfrm>
            <a:off x="416966" y="1322928"/>
            <a:ext cx="6969513" cy="3647152"/>
          </a:xfrm>
          <a:prstGeom prst="rect">
            <a:avLst/>
          </a:prstGeom>
          <a:noFill/>
        </p:spPr>
        <p:txBody>
          <a:bodyPr wrap="square">
            <a:spAutoFit/>
          </a:bodyPr>
          <a:lstStyle/>
          <a:p>
            <a:pPr marL="0" indent="0">
              <a:spcAft>
                <a:spcPts val="600"/>
              </a:spcAft>
              <a:buNone/>
            </a:pPr>
            <a:r>
              <a:rPr lang="en-US" altLang="zh-CN" sz="2400" dirty="0">
                <a:solidFill>
                  <a:srgbClr val="030A18"/>
                </a:solidFill>
                <a:latin typeface="Times New Roman" panose="02020603050405020304" pitchFamily="18" charset="0"/>
                <a:cs typeface="Times New Roman" panose="02020603050405020304" pitchFamily="18" charset="0"/>
              </a:rPr>
              <a:t>• ROC curve shows AUC = 0.936, indicating strong discrimination
• Threshold chosen using Youden's J statistic to balance sensitivity &amp; specificity
• PR curve analysis highlights precision–recall trade‑offs in imbalanced data
• Insights: high‑risk groups include younger borrowers with lower income; larger loans increase default risk; poor credit history strongly predicts defaults</a:t>
            </a:r>
            <a:endParaRPr lang="en-US" altLang="zh-CN" sz="2400" dirty="0">
              <a:latin typeface="Times New Roman" panose="02020603050405020304" pitchFamily="18" charset="0"/>
              <a:cs typeface="Times New Roman" panose="02020603050405020304" pitchFamily="18" charset="0"/>
            </a:endParaRPr>
          </a:p>
        </p:txBody>
      </p:sp>
      <p:pic>
        <p:nvPicPr>
          <p:cNvPr id="12" name="Image 0" descr="/home/oai/share/cached_assets_used/roc_curve_agent.png">
            <a:extLst>
              <a:ext uri="{FF2B5EF4-FFF2-40B4-BE49-F238E27FC236}">
                <a16:creationId xmlns:a16="http://schemas.microsoft.com/office/drawing/2014/main" id="{0F361EDA-BB59-BB3E-8456-BB165E6BE795}"/>
              </a:ext>
            </a:extLst>
          </p:cNvPr>
          <p:cNvPicPr>
            <a:picLocks noChangeAspect="1"/>
          </p:cNvPicPr>
          <p:nvPr/>
        </p:nvPicPr>
        <p:blipFill>
          <a:blip r:embed="rId3"/>
          <a:stretch>
            <a:fillRect/>
          </a:stretch>
        </p:blipFill>
        <p:spPr>
          <a:xfrm>
            <a:off x="7386479" y="1070516"/>
            <a:ext cx="4485607" cy="4538967"/>
          </a:xfrm>
          <a:prstGeom prst="rect">
            <a:avLst/>
          </a:prstGeom>
        </p:spPr>
      </p:pic>
      <p:sp>
        <p:nvSpPr>
          <p:cNvPr id="7" name="文本框 6">
            <a:extLst>
              <a:ext uri="{FF2B5EF4-FFF2-40B4-BE49-F238E27FC236}">
                <a16:creationId xmlns:a16="http://schemas.microsoft.com/office/drawing/2014/main" id="{ECDB9BD2-F04C-84A8-2350-C334C6C0F5B5}"/>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6/11</a:t>
            </a:r>
            <a:endParaRPr lang="zh-CN" altLang="en-US" b="1" dirty="0"/>
          </a:p>
        </p:txBody>
      </p:sp>
    </p:spTree>
    <p:extLst>
      <p:ext uri="{BB962C8B-B14F-4D97-AF65-F5344CB8AC3E}">
        <p14:creationId xmlns:p14="http://schemas.microsoft.com/office/powerpoint/2010/main" val="1949124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12540D05-B278-F3F7-3CC7-7CBC4FBA9BB4}"/>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EF84016E-946C-DC04-B0B4-F76C0E47478B}"/>
              </a:ext>
            </a:extLst>
          </p:cNvPr>
          <p:cNvSpPr txBox="1"/>
          <p:nvPr/>
        </p:nvSpPr>
        <p:spPr>
          <a:xfrm>
            <a:off x="9321800" y="6359979"/>
            <a:ext cx="2208893" cy="369332"/>
          </a:xfrm>
          <a:prstGeom prst="rect">
            <a:avLst/>
          </a:prstGeom>
          <a:noFill/>
        </p:spPr>
        <p:txBody>
          <a:bodyPr wrap="square" rtlCol="0">
            <a:spAutoFit/>
          </a:bodyPr>
          <a:lstStyle/>
          <a:p>
            <a:r>
              <a:rPr lang="en-US" altLang="zh-CN" dirty="0"/>
              <a:t>Midterm Checkpoint</a:t>
            </a:r>
            <a:endParaRPr lang="zh-CN" altLang="en-US" dirty="0"/>
          </a:p>
        </p:txBody>
      </p:sp>
      <p:sp>
        <p:nvSpPr>
          <p:cNvPr id="4" name="文本框 3">
            <a:extLst>
              <a:ext uri="{FF2B5EF4-FFF2-40B4-BE49-F238E27FC236}">
                <a16:creationId xmlns:a16="http://schemas.microsoft.com/office/drawing/2014/main" id="{668636B9-F556-8D03-8038-6396D7D16D85}"/>
              </a:ext>
            </a:extLst>
          </p:cNvPr>
          <p:cNvSpPr txBox="1"/>
          <p:nvPr/>
        </p:nvSpPr>
        <p:spPr>
          <a:xfrm>
            <a:off x="416966" y="6332815"/>
            <a:ext cx="2727779"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Clustering Analysis</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1FA072F5-C520-6202-651A-90A5CB3E5943}"/>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E4F20C0A-E0FD-2BD2-39CE-2CCD1CD2A322}"/>
              </a:ext>
            </a:extLst>
          </p:cNvPr>
          <p:cNvSpPr txBox="1"/>
          <p:nvPr/>
        </p:nvSpPr>
        <p:spPr>
          <a:xfrm>
            <a:off x="416966" y="-13596"/>
            <a:ext cx="3613708"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Clustering Analysis</a:t>
            </a:r>
            <a:endParaRPr lang="zh-CN" altLang="en-US" sz="2000" b="1" dirty="0">
              <a:latin typeface="High Tower Text" panose="02040502050506030303" pitchFamily="18" charset="0"/>
            </a:endParaRPr>
          </a:p>
        </p:txBody>
      </p:sp>
      <p:sp>
        <p:nvSpPr>
          <p:cNvPr id="10" name="文本框 9">
            <a:extLst>
              <a:ext uri="{FF2B5EF4-FFF2-40B4-BE49-F238E27FC236}">
                <a16:creationId xmlns:a16="http://schemas.microsoft.com/office/drawing/2014/main" id="{D7A33C1F-C9F2-AF16-606D-81588F936F2E}"/>
              </a:ext>
            </a:extLst>
          </p:cNvPr>
          <p:cNvSpPr txBox="1"/>
          <p:nvPr/>
        </p:nvSpPr>
        <p:spPr>
          <a:xfrm>
            <a:off x="538046" y="1505404"/>
            <a:ext cx="6520676" cy="3277820"/>
          </a:xfrm>
          <a:prstGeom prst="rect">
            <a:avLst/>
          </a:prstGeom>
          <a:noFill/>
        </p:spPr>
        <p:txBody>
          <a:bodyPr wrap="square">
            <a:spAutoFit/>
          </a:bodyPr>
          <a:lstStyle/>
          <a:p>
            <a:pPr marL="0" indent="0">
              <a:spcAft>
                <a:spcPts val="600"/>
              </a:spcAft>
              <a:buNone/>
            </a:pPr>
            <a:r>
              <a:rPr lang="en-US" altLang="zh-CN" sz="2400" dirty="0">
                <a:solidFill>
                  <a:srgbClr val="030A18"/>
                </a:solidFill>
                <a:latin typeface="Times New Roman" panose="02020603050405020304" pitchFamily="18" charset="0"/>
                <a:cs typeface="Times New Roman" panose="02020603050405020304" pitchFamily="18" charset="0"/>
              </a:rPr>
              <a:t>• Silhouette scores peak at k=2 (≈0.22), suggesting two distinct clusters
• Cluster 0: smaller loans (~$13K), moderate incomes (~$70K) and ~20 total accounts
• Cluster 1: larger loans (~$18K), higher incomes (~$92K) and ~35 total accounts
• Segmentation enables tailored risk strategies and product offerings</a:t>
            </a:r>
            <a:endParaRPr lang="en-US" altLang="zh-CN" sz="2400" dirty="0">
              <a:latin typeface="Times New Roman" panose="02020603050405020304" pitchFamily="18" charset="0"/>
              <a:cs typeface="Times New Roman" panose="02020603050405020304" pitchFamily="18" charset="0"/>
            </a:endParaRPr>
          </a:p>
        </p:txBody>
      </p:sp>
      <p:pic>
        <p:nvPicPr>
          <p:cNvPr id="11" name="Image 0" descr="/home/oai/share/cached_assets_used/silhouette.png">
            <a:extLst>
              <a:ext uri="{FF2B5EF4-FFF2-40B4-BE49-F238E27FC236}">
                <a16:creationId xmlns:a16="http://schemas.microsoft.com/office/drawing/2014/main" id="{8468A728-2E3F-3B22-A3FC-A19A7D14F2E7}"/>
              </a:ext>
            </a:extLst>
          </p:cNvPr>
          <p:cNvPicPr>
            <a:picLocks noChangeAspect="1"/>
          </p:cNvPicPr>
          <p:nvPr/>
        </p:nvPicPr>
        <p:blipFill>
          <a:blip r:embed="rId3"/>
          <a:stretch>
            <a:fillRect/>
          </a:stretch>
        </p:blipFill>
        <p:spPr>
          <a:xfrm>
            <a:off x="6846618" y="1249877"/>
            <a:ext cx="5098569" cy="3823927"/>
          </a:xfrm>
          <a:prstGeom prst="rect">
            <a:avLst/>
          </a:prstGeom>
        </p:spPr>
      </p:pic>
      <p:sp>
        <p:nvSpPr>
          <p:cNvPr id="7" name="文本框 6">
            <a:extLst>
              <a:ext uri="{FF2B5EF4-FFF2-40B4-BE49-F238E27FC236}">
                <a16:creationId xmlns:a16="http://schemas.microsoft.com/office/drawing/2014/main" id="{C68C0D50-9CF2-1EB8-9C13-EDEA11199417}"/>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7/11</a:t>
            </a:r>
            <a:endParaRPr lang="zh-CN" altLang="en-US" b="1" dirty="0"/>
          </a:p>
        </p:txBody>
      </p:sp>
    </p:spTree>
    <p:extLst>
      <p:ext uri="{BB962C8B-B14F-4D97-AF65-F5344CB8AC3E}">
        <p14:creationId xmlns:p14="http://schemas.microsoft.com/office/powerpoint/2010/main" val="355148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hape 1">
            <a:extLst>
              <a:ext uri="{FF2B5EF4-FFF2-40B4-BE49-F238E27FC236}">
                <a16:creationId xmlns:a16="http://schemas.microsoft.com/office/drawing/2014/main" id="{1B6827F4-4B08-9A97-E10F-30202BDB4561}"/>
              </a:ext>
            </a:extLst>
          </p:cNvPr>
          <p:cNvSpPr/>
          <p:nvPr/>
        </p:nvSpPr>
        <p:spPr>
          <a:xfrm>
            <a:off x="9326936" y="1814362"/>
            <a:ext cx="2094029" cy="1111717"/>
          </a:xfrm>
          <a:prstGeom prst="roundRect">
            <a:avLst>
              <a:gd name="adj" fmla="val 12500"/>
            </a:avLst>
          </a:prstGeom>
          <a:solidFill>
            <a:srgbClr val="F5F5F5"/>
          </a:solidFill>
          <a:ln w="12700">
            <a:solidFill>
              <a:srgbClr val="97B1DF"/>
            </a:solidFill>
            <a:prstDash val="solid"/>
          </a:ln>
        </p:spPr>
        <p:txBody>
          <a:bodyPr/>
          <a:lstStyle/>
          <a:p>
            <a:endParaRPr/>
          </a:p>
        </p:txBody>
      </p:sp>
      <p:sp>
        <p:nvSpPr>
          <p:cNvPr id="22" name="Shape 1">
            <a:extLst>
              <a:ext uri="{FF2B5EF4-FFF2-40B4-BE49-F238E27FC236}">
                <a16:creationId xmlns:a16="http://schemas.microsoft.com/office/drawing/2014/main" id="{50A643B1-0CB4-A487-D197-26D48C84E616}"/>
              </a:ext>
            </a:extLst>
          </p:cNvPr>
          <p:cNvSpPr/>
          <p:nvPr/>
        </p:nvSpPr>
        <p:spPr>
          <a:xfrm>
            <a:off x="6569862" y="1814362"/>
            <a:ext cx="2094029" cy="1111717"/>
          </a:xfrm>
          <a:prstGeom prst="roundRect">
            <a:avLst>
              <a:gd name="adj" fmla="val 12500"/>
            </a:avLst>
          </a:prstGeom>
          <a:solidFill>
            <a:srgbClr val="F5F5F5"/>
          </a:solidFill>
          <a:ln w="12700">
            <a:solidFill>
              <a:srgbClr val="97B1DF"/>
            </a:solidFill>
            <a:prstDash val="solid"/>
          </a:ln>
        </p:spPr>
        <p:txBody>
          <a:bodyPr/>
          <a:lstStyle/>
          <a:p>
            <a:endParaRPr/>
          </a:p>
        </p:txBody>
      </p:sp>
      <p:sp>
        <p:nvSpPr>
          <p:cNvPr id="2" name="矩形: 单圆角 1">
            <a:extLst>
              <a:ext uri="{FF2B5EF4-FFF2-40B4-BE49-F238E27FC236}">
                <a16:creationId xmlns:a16="http://schemas.microsoft.com/office/drawing/2014/main" id="{61C6AEF4-9731-C631-866C-EAC365783AC1}"/>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AD8AE798-126F-5ECA-5668-A399531007C1}"/>
              </a:ext>
            </a:extLst>
          </p:cNvPr>
          <p:cNvSpPr txBox="1"/>
          <p:nvPr/>
        </p:nvSpPr>
        <p:spPr>
          <a:xfrm>
            <a:off x="9321800" y="6359979"/>
            <a:ext cx="2208893" cy="369332"/>
          </a:xfrm>
          <a:prstGeom prst="rect">
            <a:avLst/>
          </a:prstGeom>
          <a:noFill/>
        </p:spPr>
        <p:txBody>
          <a:bodyPr wrap="square" rtlCol="0">
            <a:spAutoFit/>
          </a:bodyPr>
          <a:lstStyle/>
          <a:p>
            <a:r>
              <a:rPr lang="en-US" altLang="zh-CN" dirty="0"/>
              <a:t>Midterm Checkpoint</a:t>
            </a:r>
            <a:endParaRPr lang="zh-CN" altLang="en-US" dirty="0"/>
          </a:p>
        </p:txBody>
      </p:sp>
      <p:sp>
        <p:nvSpPr>
          <p:cNvPr id="4" name="文本框 3">
            <a:extLst>
              <a:ext uri="{FF2B5EF4-FFF2-40B4-BE49-F238E27FC236}">
                <a16:creationId xmlns:a16="http://schemas.microsoft.com/office/drawing/2014/main" id="{74B9F4A0-00FB-763B-50B5-2E4BE9CF5DFA}"/>
              </a:ext>
            </a:extLst>
          </p:cNvPr>
          <p:cNvSpPr txBox="1"/>
          <p:nvPr/>
        </p:nvSpPr>
        <p:spPr>
          <a:xfrm>
            <a:off x="416966" y="6332815"/>
            <a:ext cx="2727779"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Agent Workflow</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4FDED339-78ED-0D99-1503-41FD6C438986}"/>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D1972C3-68FE-AEC3-82E0-08B445CB9AA4}"/>
              </a:ext>
            </a:extLst>
          </p:cNvPr>
          <p:cNvSpPr txBox="1"/>
          <p:nvPr/>
        </p:nvSpPr>
        <p:spPr>
          <a:xfrm>
            <a:off x="416966" y="-13596"/>
            <a:ext cx="3613708"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Agent Workflow</a:t>
            </a:r>
            <a:endParaRPr lang="zh-CN" altLang="en-US" sz="2000" b="1" dirty="0">
              <a:latin typeface="High Tower Text" panose="02040502050506030303" pitchFamily="18" charset="0"/>
            </a:endParaRPr>
          </a:p>
        </p:txBody>
      </p:sp>
      <p:sp>
        <p:nvSpPr>
          <p:cNvPr id="9" name="Shape 1">
            <a:extLst>
              <a:ext uri="{FF2B5EF4-FFF2-40B4-BE49-F238E27FC236}">
                <a16:creationId xmlns:a16="http://schemas.microsoft.com/office/drawing/2014/main" id="{2DA7F5FC-B4BC-CF6D-DA5B-ECF81F8301B8}"/>
              </a:ext>
            </a:extLst>
          </p:cNvPr>
          <p:cNvSpPr/>
          <p:nvPr/>
        </p:nvSpPr>
        <p:spPr>
          <a:xfrm>
            <a:off x="1006802" y="1814362"/>
            <a:ext cx="2094029" cy="1111717"/>
          </a:xfrm>
          <a:prstGeom prst="roundRect">
            <a:avLst>
              <a:gd name="adj" fmla="val 12500"/>
            </a:avLst>
          </a:prstGeom>
          <a:solidFill>
            <a:srgbClr val="F5F5F5"/>
          </a:solidFill>
          <a:ln w="12700">
            <a:solidFill>
              <a:srgbClr val="97B1DF"/>
            </a:solidFill>
            <a:prstDash val="solid"/>
          </a:ln>
        </p:spPr>
        <p:txBody>
          <a:bodyPr/>
          <a:lstStyle/>
          <a:p>
            <a:endParaRPr/>
          </a:p>
        </p:txBody>
      </p:sp>
      <p:sp>
        <p:nvSpPr>
          <p:cNvPr id="10" name="Text 2">
            <a:extLst>
              <a:ext uri="{FF2B5EF4-FFF2-40B4-BE49-F238E27FC236}">
                <a16:creationId xmlns:a16="http://schemas.microsoft.com/office/drawing/2014/main" id="{158CFA66-5D33-588F-B0A3-3E43E87004F0}"/>
              </a:ext>
            </a:extLst>
          </p:cNvPr>
          <p:cNvSpPr/>
          <p:nvPr/>
        </p:nvSpPr>
        <p:spPr>
          <a:xfrm>
            <a:off x="1306269" y="1968021"/>
            <a:ext cx="1463040" cy="731520"/>
          </a:xfrm>
          <a:prstGeom prst="rect">
            <a:avLst/>
          </a:prstGeom>
          <a:noFill/>
          <a:ln/>
        </p:spPr>
        <p:txBody>
          <a:bodyPr wrap="square" rtlCol="0" anchor="ctr"/>
          <a:lstStyle/>
          <a:p>
            <a:pPr marL="0" indent="0" algn="ctr">
              <a:buNone/>
            </a:pPr>
            <a:r>
              <a:rPr lang="en-US" sz="1600" b="1" dirty="0">
                <a:solidFill>
                  <a:srgbClr val="030A18"/>
                </a:solidFill>
                <a:latin typeface="Eras Demi ITC" panose="020B0805030504020804" pitchFamily="34" charset="0"/>
              </a:rPr>
              <a:t>Planner
Plan tasks</a:t>
            </a:r>
            <a:endParaRPr lang="en-US" sz="1600" b="1" dirty="0">
              <a:latin typeface="Eras Demi ITC" panose="020B0805030504020804" pitchFamily="34" charset="0"/>
            </a:endParaRPr>
          </a:p>
        </p:txBody>
      </p:sp>
      <p:sp>
        <p:nvSpPr>
          <p:cNvPr id="11" name="Shape 3">
            <a:extLst>
              <a:ext uri="{FF2B5EF4-FFF2-40B4-BE49-F238E27FC236}">
                <a16:creationId xmlns:a16="http://schemas.microsoft.com/office/drawing/2014/main" id="{3CA8472D-6A89-1954-2F59-40F98BA145EF}"/>
              </a:ext>
            </a:extLst>
          </p:cNvPr>
          <p:cNvSpPr/>
          <p:nvPr/>
        </p:nvSpPr>
        <p:spPr>
          <a:xfrm>
            <a:off x="3100831" y="2274503"/>
            <a:ext cx="687501" cy="271380"/>
          </a:xfrm>
          <a:prstGeom prst="rightArrow">
            <a:avLst/>
          </a:prstGeom>
          <a:solidFill>
            <a:srgbClr val="97B1DF"/>
          </a:solidFill>
          <a:ln w="12700">
            <a:solidFill>
              <a:srgbClr val="97B1DF"/>
            </a:solidFill>
            <a:prstDash val="solid"/>
          </a:ln>
        </p:spPr>
        <p:txBody>
          <a:bodyPr/>
          <a:lstStyle/>
          <a:p>
            <a:endParaRPr/>
          </a:p>
        </p:txBody>
      </p:sp>
      <p:sp>
        <p:nvSpPr>
          <p:cNvPr id="16" name="Text 8">
            <a:extLst>
              <a:ext uri="{FF2B5EF4-FFF2-40B4-BE49-F238E27FC236}">
                <a16:creationId xmlns:a16="http://schemas.microsoft.com/office/drawing/2014/main" id="{AEA16FAB-4F0F-45E6-5C37-FCA73473FA20}"/>
              </a:ext>
            </a:extLst>
          </p:cNvPr>
          <p:cNvSpPr/>
          <p:nvPr/>
        </p:nvSpPr>
        <p:spPr>
          <a:xfrm>
            <a:off x="6758738" y="2004460"/>
            <a:ext cx="1716277" cy="731520"/>
          </a:xfrm>
          <a:prstGeom prst="rect">
            <a:avLst/>
          </a:prstGeom>
          <a:noFill/>
          <a:ln/>
        </p:spPr>
        <p:txBody>
          <a:bodyPr wrap="square" rtlCol="0" anchor="ctr"/>
          <a:lstStyle/>
          <a:p>
            <a:pPr marL="0" indent="0" algn="ctr">
              <a:buNone/>
            </a:pPr>
            <a:r>
              <a:rPr lang="en-US" sz="1600" b="1" dirty="0">
                <a:solidFill>
                  <a:srgbClr val="030A18"/>
                </a:solidFill>
                <a:latin typeface="Eras Demi ITC" panose="020B0805030504020804" pitchFamily="34" charset="0"/>
              </a:rPr>
              <a:t>Visualizer
Generate plots</a:t>
            </a:r>
          </a:p>
        </p:txBody>
      </p:sp>
      <p:sp>
        <p:nvSpPr>
          <p:cNvPr id="19" name="Text 11">
            <a:extLst>
              <a:ext uri="{FF2B5EF4-FFF2-40B4-BE49-F238E27FC236}">
                <a16:creationId xmlns:a16="http://schemas.microsoft.com/office/drawing/2014/main" id="{751FB3CA-D030-4D4A-5E81-F8A3BCB3A273}"/>
              </a:ext>
            </a:extLst>
          </p:cNvPr>
          <p:cNvSpPr/>
          <p:nvPr/>
        </p:nvSpPr>
        <p:spPr>
          <a:xfrm>
            <a:off x="9532026" y="2004460"/>
            <a:ext cx="1683848" cy="725637"/>
          </a:xfrm>
          <a:prstGeom prst="rect">
            <a:avLst/>
          </a:prstGeom>
          <a:noFill/>
          <a:ln/>
        </p:spPr>
        <p:txBody>
          <a:bodyPr wrap="square" rtlCol="0" anchor="ctr"/>
          <a:lstStyle/>
          <a:p>
            <a:pPr marL="0" indent="0" algn="ctr">
              <a:buNone/>
            </a:pPr>
            <a:r>
              <a:rPr lang="en-US" sz="1600" b="1" dirty="0">
                <a:solidFill>
                  <a:srgbClr val="030A18"/>
                </a:solidFill>
                <a:latin typeface="Eras Demi ITC" panose="020B0805030504020804" pitchFamily="34" charset="0"/>
              </a:rPr>
              <a:t>Reporter
Compile report</a:t>
            </a:r>
          </a:p>
        </p:txBody>
      </p:sp>
      <p:sp>
        <p:nvSpPr>
          <p:cNvPr id="20" name="Shape 1">
            <a:extLst>
              <a:ext uri="{FF2B5EF4-FFF2-40B4-BE49-F238E27FC236}">
                <a16:creationId xmlns:a16="http://schemas.microsoft.com/office/drawing/2014/main" id="{9042D564-63F1-266C-1EFD-5CEE50DD6B06}"/>
              </a:ext>
            </a:extLst>
          </p:cNvPr>
          <p:cNvSpPr/>
          <p:nvPr/>
        </p:nvSpPr>
        <p:spPr>
          <a:xfrm>
            <a:off x="3788332" y="1814362"/>
            <a:ext cx="2094029" cy="1111717"/>
          </a:xfrm>
          <a:prstGeom prst="roundRect">
            <a:avLst>
              <a:gd name="adj" fmla="val 12500"/>
            </a:avLst>
          </a:prstGeom>
          <a:solidFill>
            <a:srgbClr val="F5F5F5"/>
          </a:solidFill>
          <a:ln w="12700">
            <a:solidFill>
              <a:srgbClr val="97B1DF"/>
            </a:solidFill>
            <a:prstDash val="solid"/>
          </a:ln>
        </p:spPr>
        <p:txBody>
          <a:bodyPr/>
          <a:lstStyle/>
          <a:p>
            <a:endParaRPr dirty="0"/>
          </a:p>
        </p:txBody>
      </p:sp>
      <p:sp>
        <p:nvSpPr>
          <p:cNvPr id="21" name="Shape 3">
            <a:extLst>
              <a:ext uri="{FF2B5EF4-FFF2-40B4-BE49-F238E27FC236}">
                <a16:creationId xmlns:a16="http://schemas.microsoft.com/office/drawing/2014/main" id="{B5F61B0F-725D-AA32-FF03-F861748949F0}"/>
              </a:ext>
            </a:extLst>
          </p:cNvPr>
          <p:cNvSpPr/>
          <p:nvPr/>
        </p:nvSpPr>
        <p:spPr>
          <a:xfrm>
            <a:off x="5882361" y="2274503"/>
            <a:ext cx="687501" cy="271380"/>
          </a:xfrm>
          <a:prstGeom prst="rightArrow">
            <a:avLst/>
          </a:prstGeom>
          <a:solidFill>
            <a:srgbClr val="97B1DF"/>
          </a:solidFill>
          <a:ln w="12700">
            <a:solidFill>
              <a:srgbClr val="97B1DF"/>
            </a:solidFill>
            <a:prstDash val="solid"/>
          </a:ln>
        </p:spPr>
        <p:txBody>
          <a:bodyPr/>
          <a:lstStyle/>
          <a:p>
            <a:endParaRPr/>
          </a:p>
        </p:txBody>
      </p:sp>
      <p:sp>
        <p:nvSpPr>
          <p:cNvPr id="23" name="Shape 3">
            <a:extLst>
              <a:ext uri="{FF2B5EF4-FFF2-40B4-BE49-F238E27FC236}">
                <a16:creationId xmlns:a16="http://schemas.microsoft.com/office/drawing/2014/main" id="{9908088A-2E22-FA8D-D1A9-C85D59725D28}"/>
              </a:ext>
            </a:extLst>
          </p:cNvPr>
          <p:cNvSpPr/>
          <p:nvPr/>
        </p:nvSpPr>
        <p:spPr>
          <a:xfrm>
            <a:off x="8663891" y="2274503"/>
            <a:ext cx="687501" cy="271380"/>
          </a:xfrm>
          <a:prstGeom prst="rightArrow">
            <a:avLst/>
          </a:prstGeom>
          <a:solidFill>
            <a:srgbClr val="97B1DF"/>
          </a:solidFill>
          <a:ln w="12700">
            <a:solidFill>
              <a:srgbClr val="97B1DF"/>
            </a:solidFill>
            <a:prstDash val="solid"/>
          </a:ln>
        </p:spPr>
        <p:txBody>
          <a:bodyPr/>
          <a:lstStyle/>
          <a:p>
            <a:endParaRPr/>
          </a:p>
        </p:txBody>
      </p:sp>
      <p:sp>
        <p:nvSpPr>
          <p:cNvPr id="13" name="Text 5">
            <a:extLst>
              <a:ext uri="{FF2B5EF4-FFF2-40B4-BE49-F238E27FC236}">
                <a16:creationId xmlns:a16="http://schemas.microsoft.com/office/drawing/2014/main" id="{6BB61F64-831B-A925-3219-4F21FBCAD07F}"/>
              </a:ext>
            </a:extLst>
          </p:cNvPr>
          <p:cNvSpPr/>
          <p:nvPr/>
        </p:nvSpPr>
        <p:spPr>
          <a:xfrm>
            <a:off x="3845534" y="2004460"/>
            <a:ext cx="1979624" cy="731520"/>
          </a:xfrm>
          <a:prstGeom prst="rect">
            <a:avLst/>
          </a:prstGeom>
          <a:noFill/>
          <a:ln/>
        </p:spPr>
        <p:txBody>
          <a:bodyPr wrap="square" rtlCol="0" anchor="ctr"/>
          <a:lstStyle/>
          <a:p>
            <a:pPr algn="ctr"/>
            <a:r>
              <a:rPr lang="en-US" sz="1600" b="1" dirty="0">
                <a:solidFill>
                  <a:srgbClr val="030A18"/>
                </a:solidFill>
                <a:latin typeface="Eras Demi ITC" panose="020B0805030504020804" pitchFamily="34" charset="0"/>
              </a:rPr>
              <a:t>Executor</a:t>
            </a:r>
          </a:p>
          <a:p>
            <a:pPr algn="ctr"/>
            <a:r>
              <a:rPr lang="en-US" sz="1600" b="1" dirty="0">
                <a:solidFill>
                  <a:srgbClr val="030A18"/>
                </a:solidFill>
                <a:latin typeface="Eras Demi ITC" panose="020B0805030504020804" pitchFamily="34" charset="0"/>
              </a:rPr>
              <a:t>Train &amp; evaluate</a:t>
            </a:r>
          </a:p>
        </p:txBody>
      </p:sp>
      <p:sp>
        <p:nvSpPr>
          <p:cNvPr id="27" name="文本框 26">
            <a:extLst>
              <a:ext uri="{FF2B5EF4-FFF2-40B4-BE49-F238E27FC236}">
                <a16:creationId xmlns:a16="http://schemas.microsoft.com/office/drawing/2014/main" id="{60C7D304-1655-2BDC-C606-F39588BBCF71}"/>
              </a:ext>
            </a:extLst>
          </p:cNvPr>
          <p:cNvSpPr txBox="1"/>
          <p:nvPr/>
        </p:nvSpPr>
        <p:spPr>
          <a:xfrm>
            <a:off x="885371" y="3794849"/>
            <a:ext cx="10645321" cy="1800493"/>
          </a:xfrm>
          <a:prstGeom prst="rect">
            <a:avLst/>
          </a:prstGeom>
          <a:noFill/>
        </p:spPr>
        <p:txBody>
          <a:bodyPr wrap="square">
            <a:spAutoFit/>
          </a:bodyPr>
          <a:lstStyle/>
          <a:p>
            <a:pPr marL="0" indent="0">
              <a:spcAft>
                <a:spcPts val="600"/>
              </a:spcAft>
              <a:buNone/>
            </a:pPr>
            <a:r>
              <a:rPr lang="en-US" altLang="zh-CN" sz="2400" dirty="0">
                <a:solidFill>
                  <a:srgbClr val="030A18"/>
                </a:solidFill>
                <a:latin typeface="Times New Roman" panose="02020603050405020304" pitchFamily="18" charset="0"/>
                <a:ea typeface="Batang" panose="02030600000101010101" pitchFamily="18" charset="-127"/>
                <a:cs typeface="Times New Roman" panose="02020603050405020304" pitchFamily="18" charset="0"/>
              </a:rPr>
              <a:t>• Planner orchestrates data cleaning, modelling, </a:t>
            </a:r>
            <a:r>
              <a:rPr lang="en-US" altLang="zh-CN" sz="2400" dirty="0" err="1">
                <a:solidFill>
                  <a:srgbClr val="030A18"/>
                </a:solidFill>
                <a:latin typeface="Times New Roman" panose="02020603050405020304" pitchFamily="18" charset="0"/>
                <a:ea typeface="Batang" panose="02030600000101010101" pitchFamily="18" charset="-127"/>
                <a:cs typeface="Times New Roman" panose="02020603050405020304" pitchFamily="18" charset="0"/>
              </a:rPr>
              <a:t>visualisation</a:t>
            </a:r>
            <a:r>
              <a:rPr lang="en-US" altLang="zh-CN" sz="2400" dirty="0">
                <a:solidFill>
                  <a:srgbClr val="030A18"/>
                </a:solidFill>
                <a:latin typeface="Times New Roman" panose="02020603050405020304" pitchFamily="18" charset="0"/>
                <a:ea typeface="Batang" panose="02030600000101010101" pitchFamily="18" charset="-127"/>
                <a:cs typeface="Times New Roman" panose="02020603050405020304" pitchFamily="18" charset="0"/>
              </a:rPr>
              <a:t> &amp; report tasks.
• Executor trains models and returns metrics &amp; trained artefacts.
• Visualizer draws curves and charts for inclusion in reports.
• Reporter compiles Markdown report and can append LLM insights.</a:t>
            </a:r>
            <a:endParaRPr lang="en-US" altLang="zh-CN" sz="2400" dirty="0">
              <a:latin typeface="Times New Roman" panose="02020603050405020304" pitchFamily="18" charset="0"/>
              <a:ea typeface="Batang" panose="02030600000101010101" pitchFamily="18" charset="-127"/>
              <a:cs typeface="Times New Roman" panose="02020603050405020304" pitchFamily="18" charset="0"/>
            </a:endParaRPr>
          </a:p>
        </p:txBody>
      </p:sp>
      <p:sp>
        <p:nvSpPr>
          <p:cNvPr id="7" name="文本框 6">
            <a:extLst>
              <a:ext uri="{FF2B5EF4-FFF2-40B4-BE49-F238E27FC236}">
                <a16:creationId xmlns:a16="http://schemas.microsoft.com/office/drawing/2014/main" id="{8C723051-E516-2B35-9A47-A48394E82839}"/>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8/11</a:t>
            </a:r>
            <a:endParaRPr lang="zh-CN" altLang="en-US" b="1" dirty="0"/>
          </a:p>
        </p:txBody>
      </p:sp>
    </p:spTree>
    <p:extLst>
      <p:ext uri="{BB962C8B-B14F-4D97-AF65-F5344CB8AC3E}">
        <p14:creationId xmlns:p14="http://schemas.microsoft.com/office/powerpoint/2010/main" val="3465890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056A3167-407A-7201-82D4-0A1A1B3A94C4}"/>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F252CB4C-7D9B-3098-89D2-778ACF9BA010}"/>
              </a:ext>
            </a:extLst>
          </p:cNvPr>
          <p:cNvSpPr txBox="1"/>
          <p:nvPr/>
        </p:nvSpPr>
        <p:spPr>
          <a:xfrm>
            <a:off x="9321800" y="6359979"/>
            <a:ext cx="2208893" cy="369332"/>
          </a:xfrm>
          <a:prstGeom prst="rect">
            <a:avLst/>
          </a:prstGeom>
          <a:noFill/>
        </p:spPr>
        <p:txBody>
          <a:bodyPr wrap="square" rtlCol="0">
            <a:spAutoFit/>
          </a:bodyPr>
          <a:lstStyle/>
          <a:p>
            <a:r>
              <a:rPr lang="en-US" altLang="zh-CN" dirty="0"/>
              <a:t>Midterm Checkpoint</a:t>
            </a:r>
            <a:endParaRPr lang="zh-CN" altLang="en-US" dirty="0"/>
          </a:p>
        </p:txBody>
      </p:sp>
      <p:sp>
        <p:nvSpPr>
          <p:cNvPr id="4" name="文本框 3">
            <a:extLst>
              <a:ext uri="{FF2B5EF4-FFF2-40B4-BE49-F238E27FC236}">
                <a16:creationId xmlns:a16="http://schemas.microsoft.com/office/drawing/2014/main" id="{CD852EB8-EFF9-E83A-C647-7E521AE388EE}"/>
              </a:ext>
            </a:extLst>
          </p:cNvPr>
          <p:cNvSpPr txBox="1"/>
          <p:nvPr/>
        </p:nvSpPr>
        <p:spPr>
          <a:xfrm>
            <a:off x="416966" y="6332815"/>
            <a:ext cx="2727779"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Roles &amp; Progress</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5D0279FF-BB52-02E0-61BA-1E21E4BC610E}"/>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F993C0-1255-5C7A-57D6-B8500C8204EB}"/>
              </a:ext>
            </a:extLst>
          </p:cNvPr>
          <p:cNvSpPr txBox="1"/>
          <p:nvPr/>
        </p:nvSpPr>
        <p:spPr>
          <a:xfrm>
            <a:off x="416966" y="-13596"/>
            <a:ext cx="3613708"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Roles &amp; Progress</a:t>
            </a:r>
            <a:endParaRPr lang="zh-CN" altLang="en-US" sz="2000" b="1" dirty="0">
              <a:latin typeface="High Tower Text" panose="02040502050506030303" pitchFamily="18" charset="0"/>
            </a:endParaRPr>
          </a:p>
        </p:txBody>
      </p:sp>
      <p:graphicFrame>
        <p:nvGraphicFramePr>
          <p:cNvPr id="9" name="Chart 0">
            <a:extLst>
              <a:ext uri="{FF2B5EF4-FFF2-40B4-BE49-F238E27FC236}">
                <a16:creationId xmlns:a16="http://schemas.microsoft.com/office/drawing/2014/main" id="{519F68C7-A111-6FF6-86E2-4BEE1AD6FE80}"/>
              </a:ext>
            </a:extLst>
          </p:cNvPr>
          <p:cNvGraphicFramePr/>
          <p:nvPr>
            <p:extLst>
              <p:ext uri="{D42A27DB-BD31-4B8C-83A1-F6EECF244321}">
                <p14:modId xmlns:p14="http://schemas.microsoft.com/office/powerpoint/2010/main" val="727060915"/>
              </p:ext>
            </p:extLst>
          </p:nvPr>
        </p:nvGraphicFramePr>
        <p:xfrm>
          <a:off x="6303818" y="748145"/>
          <a:ext cx="5226875" cy="3477491"/>
        </p:xfrm>
        <a:graphic>
          <a:graphicData uri="http://schemas.openxmlformats.org/drawingml/2006/chart">
            <c:chart xmlns:c="http://schemas.openxmlformats.org/drawingml/2006/chart" xmlns:r="http://schemas.openxmlformats.org/officeDocument/2006/relationships" r:id="rId3"/>
          </a:graphicData>
        </a:graphic>
      </p:graphicFrame>
      <p:sp>
        <p:nvSpPr>
          <p:cNvPr id="11" name="文本框 10">
            <a:extLst>
              <a:ext uri="{FF2B5EF4-FFF2-40B4-BE49-F238E27FC236}">
                <a16:creationId xmlns:a16="http://schemas.microsoft.com/office/drawing/2014/main" id="{7A28BED1-8227-8EEC-7F79-10BCA762083C}"/>
              </a:ext>
            </a:extLst>
          </p:cNvPr>
          <p:cNvSpPr txBox="1"/>
          <p:nvPr/>
        </p:nvSpPr>
        <p:spPr>
          <a:xfrm>
            <a:off x="637311" y="1218019"/>
            <a:ext cx="6165272" cy="2554545"/>
          </a:xfrm>
          <a:prstGeom prst="rect">
            <a:avLst/>
          </a:prstGeom>
          <a:noFill/>
        </p:spPr>
        <p:txBody>
          <a:bodyPr wrap="square">
            <a:spAutoFit/>
          </a:bodyPr>
          <a:lstStyle/>
          <a:p>
            <a:pPr marL="0" indent="0">
              <a:buNone/>
            </a:pPr>
            <a:r>
              <a:rPr lang="en-US" altLang="zh-CN" sz="2000" b="1" dirty="0">
                <a:solidFill>
                  <a:srgbClr val="030A18"/>
                </a:solidFill>
                <a:latin typeface="Times New Roman" panose="02020603050405020304" pitchFamily="18" charset="0"/>
                <a:cs typeface="Times New Roman" panose="02020603050405020304" pitchFamily="18" charset="0"/>
              </a:rPr>
              <a:t>Xu </a:t>
            </a:r>
            <a:r>
              <a:rPr lang="en-US" altLang="zh-CN" sz="2000" b="1" dirty="0" err="1">
                <a:solidFill>
                  <a:srgbClr val="030A18"/>
                </a:solidFill>
                <a:latin typeface="Times New Roman" panose="02020603050405020304" pitchFamily="18" charset="0"/>
                <a:cs typeface="Times New Roman" panose="02020603050405020304" pitchFamily="18" charset="0"/>
              </a:rPr>
              <a:t>Shuangbo</a:t>
            </a:r>
            <a:r>
              <a:rPr lang="en-US" altLang="zh-CN" sz="2000" b="1" dirty="0">
                <a:solidFill>
                  <a:srgbClr val="030A18"/>
                </a:solidFill>
                <a:latin typeface="Times New Roman" panose="02020603050405020304" pitchFamily="18" charset="0"/>
                <a:cs typeface="Times New Roman" panose="02020603050405020304" pitchFamily="18" charset="0"/>
              </a:rPr>
              <a:t> (Leader)
</a:t>
            </a:r>
            <a:r>
              <a:rPr lang="en-US" altLang="zh-CN" sz="2000" dirty="0">
                <a:solidFill>
                  <a:srgbClr val="030A18"/>
                </a:solidFill>
                <a:latin typeface="Times New Roman" panose="02020603050405020304" pitchFamily="18" charset="0"/>
                <a:cs typeface="Times New Roman" panose="02020603050405020304" pitchFamily="18" charset="0"/>
              </a:rPr>
              <a:t>• Designed and implemented complete pipeline
• Conducted EDA and model experimentation
• Wrote reports and compiled slides
</a:t>
            </a:r>
            <a:r>
              <a:rPr lang="en-US" altLang="zh-CN" sz="2000" b="1" dirty="0">
                <a:solidFill>
                  <a:srgbClr val="030A18"/>
                </a:solidFill>
                <a:latin typeface="Times New Roman" panose="02020603050405020304" pitchFamily="18" charset="0"/>
                <a:cs typeface="Times New Roman" panose="02020603050405020304" pitchFamily="18" charset="0"/>
              </a:rPr>
              <a:t>Li </a:t>
            </a:r>
            <a:r>
              <a:rPr lang="en-US" altLang="zh-CN" sz="2000" b="1" dirty="0" err="1">
                <a:solidFill>
                  <a:srgbClr val="030A18"/>
                </a:solidFill>
                <a:latin typeface="Times New Roman" panose="02020603050405020304" pitchFamily="18" charset="0"/>
                <a:cs typeface="Times New Roman" panose="02020603050405020304" pitchFamily="18" charset="0"/>
              </a:rPr>
              <a:t>Shangze</a:t>
            </a:r>
            <a:r>
              <a:rPr lang="en-US" altLang="zh-CN" sz="2000" b="1" dirty="0">
                <a:solidFill>
                  <a:srgbClr val="030A18"/>
                </a:solidFill>
                <a:latin typeface="Times New Roman" panose="02020603050405020304" pitchFamily="18" charset="0"/>
                <a:cs typeface="Times New Roman" panose="02020603050405020304" pitchFamily="18" charset="0"/>
              </a:rPr>
              <a:t> (Support)
</a:t>
            </a:r>
            <a:r>
              <a:rPr lang="en-US" altLang="zh-CN" sz="2000" dirty="0">
                <a:solidFill>
                  <a:srgbClr val="030A18"/>
                </a:solidFill>
                <a:latin typeface="Times New Roman" panose="02020603050405020304" pitchFamily="18" charset="0"/>
                <a:cs typeface="Times New Roman" panose="02020603050405020304" pitchFamily="18" charset="0"/>
              </a:rPr>
              <a:t>• Assisted with data </a:t>
            </a:r>
            <a:r>
              <a:rPr lang="en-US" altLang="zh-CN" sz="2000" dirty="0" err="1">
                <a:solidFill>
                  <a:srgbClr val="030A18"/>
                </a:solidFill>
                <a:latin typeface="Times New Roman" panose="02020603050405020304" pitchFamily="18" charset="0"/>
                <a:cs typeface="Times New Roman" panose="02020603050405020304" pitchFamily="18" charset="0"/>
              </a:rPr>
              <a:t>organisation</a:t>
            </a:r>
            <a:r>
              <a:rPr lang="en-US" altLang="zh-CN" sz="2000" dirty="0">
                <a:solidFill>
                  <a:srgbClr val="030A18"/>
                </a:solidFill>
                <a:latin typeface="Times New Roman" panose="02020603050405020304" pitchFamily="18" charset="0"/>
                <a:cs typeface="Times New Roman" panose="02020603050405020304" pitchFamily="18" charset="0"/>
              </a:rPr>
              <a:t> and literature review
• Provided feedback on analysis and visual aesthetics</a:t>
            </a:r>
            <a:endParaRPr lang="en-US" altLang="zh-CN" sz="2000" dirty="0">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id="{E6ED98DA-BFE9-5DE4-C186-EDD334E4E4DE}"/>
              </a:ext>
            </a:extLst>
          </p:cNvPr>
          <p:cNvSpPr txBox="1"/>
          <p:nvPr/>
        </p:nvSpPr>
        <p:spPr>
          <a:xfrm>
            <a:off x="637311" y="4097600"/>
            <a:ext cx="10232412" cy="1938992"/>
          </a:xfrm>
          <a:prstGeom prst="rect">
            <a:avLst/>
          </a:prstGeom>
          <a:noFill/>
        </p:spPr>
        <p:txBody>
          <a:bodyPr wrap="square">
            <a:spAutoFit/>
          </a:bodyPr>
          <a:lstStyle/>
          <a:p>
            <a:pPr marL="0" indent="0">
              <a:buNone/>
            </a:pPr>
            <a:r>
              <a:rPr lang="en-US" altLang="zh-CN" sz="2000" dirty="0">
                <a:solidFill>
                  <a:srgbClr val="030A18"/>
                </a:solidFill>
                <a:latin typeface="Times New Roman" panose="02020603050405020304" pitchFamily="18" charset="0"/>
                <a:cs typeface="Times New Roman" panose="02020603050405020304" pitchFamily="18" charset="0"/>
              </a:rPr>
              <a:t>• Completed EDA, feature engineering and baseline models for regression and classification
• Achieved strong regression performance (R² ≈ 0.95/0.90) and high classification AUC (0.936) but moderate macro F1
• Conducted k‑means clustering to reveal two distinct customer segments
• Integrated LangGraph agent workflow to automate modelling, </a:t>
            </a:r>
            <a:r>
              <a:rPr lang="en-US" altLang="zh-CN" sz="2000" dirty="0" err="1">
                <a:solidFill>
                  <a:srgbClr val="030A18"/>
                </a:solidFill>
                <a:latin typeface="Times New Roman" panose="02020603050405020304" pitchFamily="18" charset="0"/>
                <a:cs typeface="Times New Roman" panose="02020603050405020304" pitchFamily="18" charset="0"/>
              </a:rPr>
              <a:t>visualisation</a:t>
            </a:r>
            <a:r>
              <a:rPr lang="en-US" altLang="zh-CN" sz="2000" dirty="0">
                <a:solidFill>
                  <a:srgbClr val="030A18"/>
                </a:solidFill>
                <a:latin typeface="Times New Roman" panose="02020603050405020304" pitchFamily="18" charset="0"/>
                <a:cs typeface="Times New Roman" panose="02020603050405020304" pitchFamily="18" charset="0"/>
              </a:rPr>
              <a:t> and reporting
• Learned the importance of robust data cleaning, handling imbalance and tuning hyperparameters</a:t>
            </a:r>
            <a:endParaRPr lang="en-US" altLang="zh-CN" sz="2000"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8707B5A0-B11D-D7C2-5343-44852EF15F0A}"/>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9/11</a:t>
            </a:r>
            <a:endParaRPr lang="zh-CN" altLang="en-US" b="1" dirty="0"/>
          </a:p>
        </p:txBody>
      </p:sp>
    </p:spTree>
    <p:extLst>
      <p:ext uri="{BB962C8B-B14F-4D97-AF65-F5344CB8AC3E}">
        <p14:creationId xmlns:p14="http://schemas.microsoft.com/office/powerpoint/2010/main" val="1958373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5066305E-DA98-F869-9E6B-0502689BD03F}"/>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1EFB0480-C334-0851-76D7-36CE31498F23}"/>
              </a:ext>
            </a:extLst>
          </p:cNvPr>
          <p:cNvSpPr txBox="1"/>
          <p:nvPr/>
        </p:nvSpPr>
        <p:spPr>
          <a:xfrm>
            <a:off x="9321800" y="6359979"/>
            <a:ext cx="2208893" cy="369332"/>
          </a:xfrm>
          <a:prstGeom prst="rect">
            <a:avLst/>
          </a:prstGeom>
          <a:noFill/>
        </p:spPr>
        <p:txBody>
          <a:bodyPr wrap="square" rtlCol="0">
            <a:spAutoFit/>
          </a:bodyPr>
          <a:lstStyle/>
          <a:p>
            <a:r>
              <a:rPr lang="en-US" altLang="zh-CN" dirty="0"/>
              <a:t>Midterm Checkpoint</a:t>
            </a:r>
            <a:endParaRPr lang="zh-CN" altLang="en-US" dirty="0"/>
          </a:p>
        </p:txBody>
      </p:sp>
      <p:sp>
        <p:nvSpPr>
          <p:cNvPr id="4" name="文本框 3">
            <a:extLst>
              <a:ext uri="{FF2B5EF4-FFF2-40B4-BE49-F238E27FC236}">
                <a16:creationId xmlns:a16="http://schemas.microsoft.com/office/drawing/2014/main" id="{83F8A372-56F6-9090-9BDF-8B2DD87D8345}"/>
              </a:ext>
            </a:extLst>
          </p:cNvPr>
          <p:cNvSpPr txBox="1"/>
          <p:nvPr/>
        </p:nvSpPr>
        <p:spPr>
          <a:xfrm>
            <a:off x="416966" y="6332815"/>
            <a:ext cx="2727779"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Next Steps &amp; Risks</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C86AD138-6B80-CA18-CFEB-1215F75A8A3F}"/>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2894C8F0-6CF9-5007-7622-FFE9B9ED86DB}"/>
              </a:ext>
            </a:extLst>
          </p:cNvPr>
          <p:cNvSpPr txBox="1"/>
          <p:nvPr/>
        </p:nvSpPr>
        <p:spPr>
          <a:xfrm>
            <a:off x="416966" y="-13596"/>
            <a:ext cx="3613708"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Next Steps &amp; Risks</a:t>
            </a:r>
            <a:endParaRPr lang="zh-CN" altLang="en-US" sz="2000" b="1" dirty="0">
              <a:latin typeface="High Tower Text" panose="02040502050506030303" pitchFamily="18" charset="0"/>
            </a:endParaRPr>
          </a:p>
        </p:txBody>
      </p:sp>
      <p:sp>
        <p:nvSpPr>
          <p:cNvPr id="9" name="Shape 1">
            <a:extLst>
              <a:ext uri="{FF2B5EF4-FFF2-40B4-BE49-F238E27FC236}">
                <a16:creationId xmlns:a16="http://schemas.microsoft.com/office/drawing/2014/main" id="{7CF16337-2394-74FA-FD7E-CD0C15B93FD2}"/>
              </a:ext>
            </a:extLst>
          </p:cNvPr>
          <p:cNvSpPr/>
          <p:nvPr/>
        </p:nvSpPr>
        <p:spPr>
          <a:xfrm>
            <a:off x="715390" y="1155032"/>
            <a:ext cx="235993" cy="263348"/>
          </a:xfrm>
          <a:prstGeom prst="ellipse">
            <a:avLst/>
          </a:prstGeom>
          <a:solidFill>
            <a:srgbClr val="97B1DF"/>
          </a:solidFill>
          <a:ln w="12700">
            <a:solidFill>
              <a:srgbClr val="97B1DF"/>
            </a:solidFill>
            <a:prstDash val="solid"/>
          </a:ln>
        </p:spPr>
        <p:txBody>
          <a:bodyPr/>
          <a:lstStyle/>
          <a:p>
            <a:endParaRPr/>
          </a:p>
        </p:txBody>
      </p:sp>
      <p:sp>
        <p:nvSpPr>
          <p:cNvPr id="10" name="Shape 2">
            <a:extLst>
              <a:ext uri="{FF2B5EF4-FFF2-40B4-BE49-F238E27FC236}">
                <a16:creationId xmlns:a16="http://schemas.microsoft.com/office/drawing/2014/main" id="{C0E74CE1-1229-01FE-72FD-063C4727CDD7}"/>
              </a:ext>
            </a:extLst>
          </p:cNvPr>
          <p:cNvSpPr/>
          <p:nvPr/>
        </p:nvSpPr>
        <p:spPr>
          <a:xfrm>
            <a:off x="797686" y="1337911"/>
            <a:ext cx="45719" cy="790043"/>
          </a:xfrm>
          <a:prstGeom prst="rect">
            <a:avLst/>
          </a:prstGeom>
          <a:solidFill>
            <a:srgbClr val="97B1DF"/>
          </a:solidFill>
          <a:ln w="12700">
            <a:solidFill>
              <a:srgbClr val="97B1DF"/>
            </a:solidFill>
            <a:prstDash val="solid"/>
          </a:ln>
        </p:spPr>
        <p:txBody>
          <a:bodyPr/>
          <a:lstStyle/>
          <a:p>
            <a:endParaRPr/>
          </a:p>
        </p:txBody>
      </p:sp>
      <p:sp>
        <p:nvSpPr>
          <p:cNvPr id="11" name="Shape 3">
            <a:extLst>
              <a:ext uri="{FF2B5EF4-FFF2-40B4-BE49-F238E27FC236}">
                <a16:creationId xmlns:a16="http://schemas.microsoft.com/office/drawing/2014/main" id="{5FA1BDA4-77DF-A7B5-3F34-BDFEF2DB5716}"/>
              </a:ext>
            </a:extLst>
          </p:cNvPr>
          <p:cNvSpPr/>
          <p:nvPr/>
        </p:nvSpPr>
        <p:spPr>
          <a:xfrm>
            <a:off x="1081151" y="1109311"/>
            <a:ext cx="10029698" cy="526695"/>
          </a:xfrm>
          <a:prstGeom prst="roundRect">
            <a:avLst>
              <a:gd name="adj" fmla="val 12500"/>
            </a:avLst>
          </a:prstGeom>
          <a:solidFill>
            <a:srgbClr val="F5F5F5"/>
          </a:solidFill>
          <a:ln w="12700">
            <a:solidFill>
              <a:srgbClr val="97B1DF"/>
            </a:solidFill>
            <a:prstDash val="solid"/>
          </a:ln>
        </p:spPr>
        <p:txBody>
          <a:bodyPr/>
          <a:lstStyle/>
          <a:p>
            <a:endParaRPr/>
          </a:p>
        </p:txBody>
      </p:sp>
      <p:sp>
        <p:nvSpPr>
          <p:cNvPr id="12" name="Text 4">
            <a:extLst>
              <a:ext uri="{FF2B5EF4-FFF2-40B4-BE49-F238E27FC236}">
                <a16:creationId xmlns:a16="http://schemas.microsoft.com/office/drawing/2014/main" id="{ECE6C5DB-F657-03DD-95B4-39C50721B20F}"/>
              </a:ext>
            </a:extLst>
          </p:cNvPr>
          <p:cNvSpPr/>
          <p:nvPr/>
        </p:nvSpPr>
        <p:spPr>
          <a:xfrm>
            <a:off x="1172590" y="1155031"/>
            <a:ext cx="9793705" cy="526695"/>
          </a:xfrm>
          <a:prstGeom prst="rect">
            <a:avLst/>
          </a:prstGeom>
          <a:noFill/>
          <a:ln/>
        </p:spPr>
        <p:txBody>
          <a:bodyPr wrap="square" rtlCol="0" anchor="ctr"/>
          <a:lstStyle/>
          <a:p>
            <a:pPr marL="0" indent="0" algn="l">
              <a:buNone/>
            </a:pPr>
            <a:r>
              <a:rPr lang="en-US" sz="1600" b="1" dirty="0">
                <a:solidFill>
                  <a:srgbClr val="030A18"/>
                </a:solidFill>
                <a:latin typeface="Eras Demi ITC" panose="020B0805030504020804" pitchFamily="34" charset="0"/>
              </a:rPr>
              <a:t>Week 1: </a:t>
            </a:r>
            <a:r>
              <a:rPr lang="en-US" sz="1600" dirty="0">
                <a:solidFill>
                  <a:srgbClr val="030A18"/>
                </a:solidFill>
                <a:latin typeface="Eras Demi ITC" panose="020B0805030504020804" pitchFamily="34" charset="0"/>
              </a:rPr>
              <a:t>Hyperparameter tuning &amp; introduce XGBoost/CatBoost models</a:t>
            </a:r>
            <a:endParaRPr lang="en-US" sz="1600" dirty="0">
              <a:latin typeface="Eras Demi ITC" panose="020B0805030504020804" pitchFamily="34" charset="0"/>
            </a:endParaRPr>
          </a:p>
        </p:txBody>
      </p:sp>
      <p:sp>
        <p:nvSpPr>
          <p:cNvPr id="13" name="Shape 5">
            <a:extLst>
              <a:ext uri="{FF2B5EF4-FFF2-40B4-BE49-F238E27FC236}">
                <a16:creationId xmlns:a16="http://schemas.microsoft.com/office/drawing/2014/main" id="{231025EC-EA88-3811-EA6F-C422F5D230AF}"/>
              </a:ext>
            </a:extLst>
          </p:cNvPr>
          <p:cNvSpPr/>
          <p:nvPr/>
        </p:nvSpPr>
        <p:spPr>
          <a:xfrm>
            <a:off x="700604" y="1984289"/>
            <a:ext cx="235993" cy="263348"/>
          </a:xfrm>
          <a:prstGeom prst="ellipse">
            <a:avLst/>
          </a:prstGeom>
          <a:solidFill>
            <a:srgbClr val="97B1DF"/>
          </a:solidFill>
          <a:ln w="12700">
            <a:solidFill>
              <a:srgbClr val="97B1DF"/>
            </a:solidFill>
            <a:prstDash val="solid"/>
          </a:ln>
        </p:spPr>
        <p:txBody>
          <a:bodyPr/>
          <a:lstStyle/>
          <a:p>
            <a:endParaRPr/>
          </a:p>
        </p:txBody>
      </p:sp>
      <p:sp>
        <p:nvSpPr>
          <p:cNvPr id="14" name="Shape 6">
            <a:extLst>
              <a:ext uri="{FF2B5EF4-FFF2-40B4-BE49-F238E27FC236}">
                <a16:creationId xmlns:a16="http://schemas.microsoft.com/office/drawing/2014/main" id="{16229B08-D4EA-B520-0C03-44CB24FCC314}"/>
              </a:ext>
            </a:extLst>
          </p:cNvPr>
          <p:cNvSpPr/>
          <p:nvPr/>
        </p:nvSpPr>
        <p:spPr>
          <a:xfrm>
            <a:off x="797686" y="2069431"/>
            <a:ext cx="45719" cy="790043"/>
          </a:xfrm>
          <a:prstGeom prst="rect">
            <a:avLst/>
          </a:prstGeom>
          <a:solidFill>
            <a:srgbClr val="97B1DF"/>
          </a:solidFill>
          <a:ln w="12700">
            <a:solidFill>
              <a:srgbClr val="97B1DF"/>
            </a:solidFill>
            <a:prstDash val="solid"/>
          </a:ln>
        </p:spPr>
        <p:txBody>
          <a:bodyPr/>
          <a:lstStyle/>
          <a:p>
            <a:endParaRPr/>
          </a:p>
        </p:txBody>
      </p:sp>
      <p:sp>
        <p:nvSpPr>
          <p:cNvPr id="15" name="Shape 7">
            <a:extLst>
              <a:ext uri="{FF2B5EF4-FFF2-40B4-BE49-F238E27FC236}">
                <a16:creationId xmlns:a16="http://schemas.microsoft.com/office/drawing/2014/main" id="{F1101A50-91F3-7CBF-BF7E-D85DD8D3487D}"/>
              </a:ext>
            </a:extLst>
          </p:cNvPr>
          <p:cNvSpPr/>
          <p:nvPr/>
        </p:nvSpPr>
        <p:spPr>
          <a:xfrm>
            <a:off x="1081151" y="1840831"/>
            <a:ext cx="10029698" cy="526695"/>
          </a:xfrm>
          <a:prstGeom prst="roundRect">
            <a:avLst>
              <a:gd name="adj" fmla="val 12500"/>
            </a:avLst>
          </a:prstGeom>
          <a:solidFill>
            <a:srgbClr val="F5F5F5"/>
          </a:solidFill>
          <a:ln w="12700">
            <a:solidFill>
              <a:srgbClr val="97B1DF"/>
            </a:solidFill>
            <a:prstDash val="solid"/>
          </a:ln>
        </p:spPr>
        <p:txBody>
          <a:bodyPr/>
          <a:lstStyle/>
          <a:p>
            <a:endParaRPr/>
          </a:p>
        </p:txBody>
      </p:sp>
      <p:sp>
        <p:nvSpPr>
          <p:cNvPr id="16" name="Text 8">
            <a:extLst>
              <a:ext uri="{FF2B5EF4-FFF2-40B4-BE49-F238E27FC236}">
                <a16:creationId xmlns:a16="http://schemas.microsoft.com/office/drawing/2014/main" id="{4C3FB929-02DC-FB57-3212-24668D1EFBF3}"/>
              </a:ext>
            </a:extLst>
          </p:cNvPr>
          <p:cNvSpPr/>
          <p:nvPr/>
        </p:nvSpPr>
        <p:spPr>
          <a:xfrm>
            <a:off x="1172590" y="1886551"/>
            <a:ext cx="9793705" cy="526695"/>
          </a:xfrm>
          <a:prstGeom prst="rect">
            <a:avLst/>
          </a:prstGeom>
          <a:noFill/>
          <a:ln/>
        </p:spPr>
        <p:txBody>
          <a:bodyPr wrap="square" rtlCol="0" anchor="ctr"/>
          <a:lstStyle/>
          <a:p>
            <a:pPr marL="0" indent="0" algn="l">
              <a:buNone/>
            </a:pPr>
            <a:r>
              <a:rPr lang="en-US" sz="1600" b="1" dirty="0">
                <a:solidFill>
                  <a:srgbClr val="030A18"/>
                </a:solidFill>
                <a:latin typeface="Eras Demi ITC" panose="020B0805030504020804" pitchFamily="34" charset="0"/>
              </a:rPr>
              <a:t>Week 2: </a:t>
            </a:r>
            <a:r>
              <a:rPr lang="en-US" sz="1600" dirty="0">
                <a:solidFill>
                  <a:srgbClr val="030A18"/>
                </a:solidFill>
                <a:latin typeface="Eras Demi ITC" panose="020B0805030504020804" pitchFamily="34" charset="0"/>
              </a:rPr>
              <a:t>Feature selection &amp; interpretability analysis (SHAP, fairness)</a:t>
            </a:r>
            <a:endParaRPr lang="en-US" sz="1600" dirty="0">
              <a:latin typeface="Eras Demi ITC" panose="020B0805030504020804" pitchFamily="34" charset="0"/>
            </a:endParaRPr>
          </a:p>
        </p:txBody>
      </p:sp>
      <p:sp>
        <p:nvSpPr>
          <p:cNvPr id="17" name="Shape 9">
            <a:extLst>
              <a:ext uri="{FF2B5EF4-FFF2-40B4-BE49-F238E27FC236}">
                <a16:creationId xmlns:a16="http://schemas.microsoft.com/office/drawing/2014/main" id="{88C4F5BB-041B-F929-5337-60801F0C6CAA}"/>
              </a:ext>
            </a:extLst>
          </p:cNvPr>
          <p:cNvSpPr/>
          <p:nvPr/>
        </p:nvSpPr>
        <p:spPr>
          <a:xfrm>
            <a:off x="693863" y="2744259"/>
            <a:ext cx="235993" cy="263348"/>
          </a:xfrm>
          <a:prstGeom prst="ellipse">
            <a:avLst/>
          </a:prstGeom>
          <a:solidFill>
            <a:srgbClr val="97B1DF"/>
          </a:solidFill>
          <a:ln w="12700">
            <a:solidFill>
              <a:srgbClr val="97B1DF"/>
            </a:solidFill>
            <a:prstDash val="solid"/>
          </a:ln>
        </p:spPr>
        <p:txBody>
          <a:bodyPr/>
          <a:lstStyle/>
          <a:p>
            <a:endParaRPr/>
          </a:p>
        </p:txBody>
      </p:sp>
      <p:sp>
        <p:nvSpPr>
          <p:cNvPr id="18" name="Shape 10">
            <a:extLst>
              <a:ext uri="{FF2B5EF4-FFF2-40B4-BE49-F238E27FC236}">
                <a16:creationId xmlns:a16="http://schemas.microsoft.com/office/drawing/2014/main" id="{0AA8F35C-A564-011C-24B3-E024B65393CB}"/>
              </a:ext>
            </a:extLst>
          </p:cNvPr>
          <p:cNvSpPr/>
          <p:nvPr/>
        </p:nvSpPr>
        <p:spPr>
          <a:xfrm>
            <a:off x="797686" y="2800951"/>
            <a:ext cx="45719" cy="790043"/>
          </a:xfrm>
          <a:prstGeom prst="rect">
            <a:avLst/>
          </a:prstGeom>
          <a:solidFill>
            <a:srgbClr val="97B1DF"/>
          </a:solidFill>
          <a:ln w="12700">
            <a:solidFill>
              <a:srgbClr val="97B1DF"/>
            </a:solidFill>
            <a:prstDash val="solid"/>
          </a:ln>
        </p:spPr>
        <p:txBody>
          <a:bodyPr/>
          <a:lstStyle/>
          <a:p>
            <a:endParaRPr/>
          </a:p>
        </p:txBody>
      </p:sp>
      <p:sp>
        <p:nvSpPr>
          <p:cNvPr id="19" name="Shape 11">
            <a:extLst>
              <a:ext uri="{FF2B5EF4-FFF2-40B4-BE49-F238E27FC236}">
                <a16:creationId xmlns:a16="http://schemas.microsoft.com/office/drawing/2014/main" id="{4628B91F-4E0C-C2AB-27F8-D4ED8ECC2CA8}"/>
              </a:ext>
            </a:extLst>
          </p:cNvPr>
          <p:cNvSpPr/>
          <p:nvPr/>
        </p:nvSpPr>
        <p:spPr>
          <a:xfrm>
            <a:off x="1081151" y="2572351"/>
            <a:ext cx="10029698" cy="526695"/>
          </a:xfrm>
          <a:prstGeom prst="roundRect">
            <a:avLst>
              <a:gd name="adj" fmla="val 12500"/>
            </a:avLst>
          </a:prstGeom>
          <a:solidFill>
            <a:srgbClr val="F5F5F5"/>
          </a:solidFill>
          <a:ln w="12700">
            <a:solidFill>
              <a:srgbClr val="97B1DF"/>
            </a:solidFill>
            <a:prstDash val="solid"/>
          </a:ln>
        </p:spPr>
        <p:txBody>
          <a:bodyPr/>
          <a:lstStyle/>
          <a:p>
            <a:endParaRPr/>
          </a:p>
        </p:txBody>
      </p:sp>
      <p:sp>
        <p:nvSpPr>
          <p:cNvPr id="20" name="Text 12">
            <a:extLst>
              <a:ext uri="{FF2B5EF4-FFF2-40B4-BE49-F238E27FC236}">
                <a16:creationId xmlns:a16="http://schemas.microsoft.com/office/drawing/2014/main" id="{1718942B-CF95-4B83-FA46-2CFB59D95E77}"/>
              </a:ext>
            </a:extLst>
          </p:cNvPr>
          <p:cNvSpPr/>
          <p:nvPr/>
        </p:nvSpPr>
        <p:spPr>
          <a:xfrm>
            <a:off x="1172590" y="2618071"/>
            <a:ext cx="9793705" cy="526695"/>
          </a:xfrm>
          <a:prstGeom prst="rect">
            <a:avLst/>
          </a:prstGeom>
          <a:noFill/>
          <a:ln/>
        </p:spPr>
        <p:txBody>
          <a:bodyPr wrap="square" rtlCol="0" anchor="ctr"/>
          <a:lstStyle/>
          <a:p>
            <a:pPr marL="0" indent="0" algn="l">
              <a:buNone/>
            </a:pPr>
            <a:r>
              <a:rPr lang="en-US" sz="1600" b="1" dirty="0">
                <a:solidFill>
                  <a:srgbClr val="030A18"/>
                </a:solidFill>
                <a:latin typeface="Eras Demi ITC" panose="020B0805030504020804" pitchFamily="34" charset="0"/>
              </a:rPr>
              <a:t>Week 3: </a:t>
            </a:r>
            <a:r>
              <a:rPr lang="en-US" sz="1600" dirty="0">
                <a:solidFill>
                  <a:srgbClr val="030A18"/>
                </a:solidFill>
                <a:latin typeface="Eras Demi ITC" panose="020B0805030504020804" pitchFamily="34" charset="0"/>
              </a:rPr>
              <a:t>Integrate richer LLM insights &amp; expand classification tasks</a:t>
            </a:r>
            <a:endParaRPr lang="en-US" sz="1600" dirty="0">
              <a:latin typeface="Eras Demi ITC" panose="020B0805030504020804" pitchFamily="34" charset="0"/>
            </a:endParaRPr>
          </a:p>
        </p:txBody>
      </p:sp>
      <p:sp>
        <p:nvSpPr>
          <p:cNvPr id="21" name="Shape 13">
            <a:extLst>
              <a:ext uri="{FF2B5EF4-FFF2-40B4-BE49-F238E27FC236}">
                <a16:creationId xmlns:a16="http://schemas.microsoft.com/office/drawing/2014/main" id="{76EC9377-D680-ED57-9EA7-C37F2D5C2489}"/>
              </a:ext>
            </a:extLst>
          </p:cNvPr>
          <p:cNvSpPr/>
          <p:nvPr/>
        </p:nvSpPr>
        <p:spPr>
          <a:xfrm>
            <a:off x="715390" y="3481266"/>
            <a:ext cx="235993" cy="263348"/>
          </a:xfrm>
          <a:prstGeom prst="ellipse">
            <a:avLst/>
          </a:prstGeom>
          <a:solidFill>
            <a:srgbClr val="97B1DF"/>
          </a:solidFill>
          <a:ln w="12700">
            <a:solidFill>
              <a:srgbClr val="97B1DF"/>
            </a:solidFill>
            <a:prstDash val="solid"/>
          </a:ln>
        </p:spPr>
        <p:txBody>
          <a:bodyPr/>
          <a:lstStyle/>
          <a:p>
            <a:endParaRPr/>
          </a:p>
        </p:txBody>
      </p:sp>
      <p:sp>
        <p:nvSpPr>
          <p:cNvPr id="22" name="Shape 14">
            <a:extLst>
              <a:ext uri="{FF2B5EF4-FFF2-40B4-BE49-F238E27FC236}">
                <a16:creationId xmlns:a16="http://schemas.microsoft.com/office/drawing/2014/main" id="{C3793816-AC74-DF09-8116-55E42B848A07}"/>
              </a:ext>
            </a:extLst>
          </p:cNvPr>
          <p:cNvSpPr/>
          <p:nvPr/>
        </p:nvSpPr>
        <p:spPr>
          <a:xfrm>
            <a:off x="1081151" y="3303871"/>
            <a:ext cx="10029698" cy="526695"/>
          </a:xfrm>
          <a:prstGeom prst="roundRect">
            <a:avLst>
              <a:gd name="adj" fmla="val 12500"/>
            </a:avLst>
          </a:prstGeom>
          <a:solidFill>
            <a:srgbClr val="F5F5F5"/>
          </a:solidFill>
          <a:ln w="12700">
            <a:solidFill>
              <a:srgbClr val="97B1DF"/>
            </a:solidFill>
            <a:prstDash val="solid"/>
          </a:ln>
        </p:spPr>
        <p:txBody>
          <a:bodyPr/>
          <a:lstStyle/>
          <a:p>
            <a:endParaRPr/>
          </a:p>
        </p:txBody>
      </p:sp>
      <p:sp>
        <p:nvSpPr>
          <p:cNvPr id="23" name="Text 15">
            <a:extLst>
              <a:ext uri="{FF2B5EF4-FFF2-40B4-BE49-F238E27FC236}">
                <a16:creationId xmlns:a16="http://schemas.microsoft.com/office/drawing/2014/main" id="{D48A53FC-4CBD-54D9-BDC9-FE8C91CF9059}"/>
              </a:ext>
            </a:extLst>
          </p:cNvPr>
          <p:cNvSpPr/>
          <p:nvPr/>
        </p:nvSpPr>
        <p:spPr>
          <a:xfrm>
            <a:off x="1172590" y="3349591"/>
            <a:ext cx="9793705" cy="526695"/>
          </a:xfrm>
          <a:prstGeom prst="rect">
            <a:avLst/>
          </a:prstGeom>
          <a:noFill/>
          <a:ln/>
        </p:spPr>
        <p:txBody>
          <a:bodyPr wrap="square" rtlCol="0" anchor="ctr"/>
          <a:lstStyle/>
          <a:p>
            <a:pPr marL="0" indent="0" algn="l">
              <a:buNone/>
            </a:pPr>
            <a:r>
              <a:rPr lang="en-US" sz="1600" b="1" dirty="0">
                <a:solidFill>
                  <a:srgbClr val="030A18"/>
                </a:solidFill>
                <a:latin typeface="Eras Demi ITC" panose="020B0805030504020804" pitchFamily="34" charset="0"/>
              </a:rPr>
              <a:t>Week 4: </a:t>
            </a:r>
            <a:r>
              <a:rPr lang="en-US" sz="1600" dirty="0">
                <a:solidFill>
                  <a:srgbClr val="030A18"/>
                </a:solidFill>
                <a:latin typeface="Eras Demi ITC" panose="020B0805030504020804" pitchFamily="34" charset="0"/>
              </a:rPr>
              <a:t>Prepare final report and polished presentation</a:t>
            </a:r>
            <a:endParaRPr lang="en-US" sz="1600" dirty="0">
              <a:latin typeface="Eras Demi ITC" panose="020B0805030504020804" pitchFamily="34" charset="0"/>
            </a:endParaRPr>
          </a:p>
        </p:txBody>
      </p:sp>
      <p:sp>
        <p:nvSpPr>
          <p:cNvPr id="25" name="文本框 24">
            <a:extLst>
              <a:ext uri="{FF2B5EF4-FFF2-40B4-BE49-F238E27FC236}">
                <a16:creationId xmlns:a16="http://schemas.microsoft.com/office/drawing/2014/main" id="{D4B9FB97-56F6-69C8-487B-5DCCF4172A88}"/>
              </a:ext>
            </a:extLst>
          </p:cNvPr>
          <p:cNvSpPr txBox="1"/>
          <p:nvPr/>
        </p:nvSpPr>
        <p:spPr>
          <a:xfrm>
            <a:off x="691552" y="4218273"/>
            <a:ext cx="10635072" cy="1554272"/>
          </a:xfrm>
          <a:prstGeom prst="rect">
            <a:avLst/>
          </a:prstGeom>
          <a:noFill/>
        </p:spPr>
        <p:txBody>
          <a:bodyPr wrap="square">
            <a:spAutoFit/>
          </a:bodyPr>
          <a:lstStyle/>
          <a:p>
            <a:pPr marL="0" indent="0">
              <a:spcAft>
                <a:spcPts val="600"/>
              </a:spcAft>
              <a:buNone/>
            </a:pPr>
            <a:r>
              <a:rPr lang="en-US" altLang="zh-CN" sz="2000" dirty="0">
                <a:solidFill>
                  <a:srgbClr val="030A18"/>
                </a:solidFill>
                <a:latin typeface="Times New Roman" panose="02020603050405020304" pitchFamily="18" charset="0"/>
                <a:cs typeface="Times New Roman" panose="02020603050405020304" pitchFamily="18" charset="0"/>
              </a:rPr>
              <a:t>• Data quality &amp; missing values: address via robust cleaning, imputation and outlier handling.
• Overfitting: employ cross‑validation, </a:t>
            </a:r>
            <a:r>
              <a:rPr lang="en-US" altLang="zh-CN" sz="2000" dirty="0" err="1">
                <a:solidFill>
                  <a:srgbClr val="030A18"/>
                </a:solidFill>
                <a:latin typeface="Times New Roman" panose="02020603050405020304" pitchFamily="18" charset="0"/>
                <a:cs typeface="Times New Roman" panose="02020603050405020304" pitchFamily="18" charset="0"/>
              </a:rPr>
              <a:t>regularisation</a:t>
            </a:r>
            <a:r>
              <a:rPr lang="en-US" altLang="zh-CN" sz="2000" dirty="0">
                <a:solidFill>
                  <a:srgbClr val="030A18"/>
                </a:solidFill>
                <a:latin typeface="Times New Roman" panose="02020603050405020304" pitchFamily="18" charset="0"/>
                <a:cs typeface="Times New Roman" panose="02020603050405020304" pitchFamily="18" charset="0"/>
              </a:rPr>
              <a:t> and simpler models when necessary.
• Class imbalance: use resampling or class weighting to boost minority classes.
• Compute resources: </a:t>
            </a:r>
            <a:r>
              <a:rPr lang="en-US" altLang="zh-CN" sz="2000" dirty="0" err="1">
                <a:solidFill>
                  <a:srgbClr val="030A18"/>
                </a:solidFill>
                <a:latin typeface="Times New Roman" panose="02020603050405020304" pitchFamily="18" charset="0"/>
                <a:cs typeface="Times New Roman" panose="02020603050405020304" pitchFamily="18" charset="0"/>
              </a:rPr>
              <a:t>optimise</a:t>
            </a:r>
            <a:r>
              <a:rPr lang="en-US" altLang="zh-CN" sz="2000" dirty="0">
                <a:solidFill>
                  <a:srgbClr val="030A18"/>
                </a:solidFill>
                <a:latin typeface="Times New Roman" panose="02020603050405020304" pitchFamily="18" charset="0"/>
                <a:cs typeface="Times New Roman" panose="02020603050405020304" pitchFamily="18" charset="0"/>
              </a:rPr>
              <a:t> code and consider cloud or </a:t>
            </a:r>
            <a:r>
              <a:rPr lang="en-US" altLang="zh-CN" sz="2000" dirty="0" err="1">
                <a:solidFill>
                  <a:srgbClr val="030A18"/>
                </a:solidFill>
                <a:latin typeface="Times New Roman" panose="02020603050405020304" pitchFamily="18" charset="0"/>
                <a:cs typeface="Times New Roman" panose="02020603050405020304" pitchFamily="18" charset="0"/>
              </a:rPr>
              <a:t>parallelisation</a:t>
            </a:r>
            <a:r>
              <a:rPr lang="en-US" altLang="zh-CN" sz="2000" dirty="0">
                <a:solidFill>
                  <a:srgbClr val="030A18"/>
                </a:solidFill>
                <a:latin typeface="Times New Roman" panose="02020603050405020304" pitchFamily="18" charset="0"/>
                <a:cs typeface="Times New Roman" panose="02020603050405020304" pitchFamily="18" charset="0"/>
              </a:rPr>
              <a:t> for heavy workloads.</a:t>
            </a:r>
            <a:endParaRPr lang="en-US" altLang="zh-CN" sz="2000" dirty="0">
              <a:latin typeface="Times New Roman" panose="02020603050405020304" pitchFamily="18" charset="0"/>
              <a:cs typeface="Times New Roman" panose="02020603050405020304" pitchFamily="18" charset="0"/>
            </a:endParaRPr>
          </a:p>
        </p:txBody>
      </p:sp>
      <p:sp>
        <p:nvSpPr>
          <p:cNvPr id="26" name="文本框 25">
            <a:extLst>
              <a:ext uri="{FF2B5EF4-FFF2-40B4-BE49-F238E27FC236}">
                <a16:creationId xmlns:a16="http://schemas.microsoft.com/office/drawing/2014/main" id="{AC6DC2E1-31B7-0811-55FD-8A62AE2005B8}"/>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10/11</a:t>
            </a:r>
            <a:endParaRPr lang="zh-CN" altLang="en-US" b="1" dirty="0"/>
          </a:p>
        </p:txBody>
      </p:sp>
    </p:spTree>
    <p:extLst>
      <p:ext uri="{BB962C8B-B14F-4D97-AF65-F5344CB8AC3E}">
        <p14:creationId xmlns:p14="http://schemas.microsoft.com/office/powerpoint/2010/main" val="2339553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单圆角 1">
            <a:extLst>
              <a:ext uri="{FF2B5EF4-FFF2-40B4-BE49-F238E27FC236}">
                <a16:creationId xmlns:a16="http://schemas.microsoft.com/office/drawing/2014/main" id="{E584D35E-7BB9-61FA-BA5A-2830087B16B9}"/>
              </a:ext>
            </a:extLst>
          </p:cNvPr>
          <p:cNvSpPr/>
          <p:nvPr/>
        </p:nvSpPr>
        <p:spPr>
          <a:xfrm>
            <a:off x="0" y="6176963"/>
            <a:ext cx="12192000" cy="681037"/>
          </a:xfrm>
          <a:prstGeom prst="round1Rect">
            <a:avLst/>
          </a:prstGeom>
          <a:gradFill flip="none"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18900000" scaled="1"/>
            <a:tileRect/>
          </a:gradFill>
          <a:ln>
            <a:no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DB0521D8-5B76-EDCD-C103-214FA0605CFE}"/>
              </a:ext>
            </a:extLst>
          </p:cNvPr>
          <p:cNvSpPr txBox="1"/>
          <p:nvPr/>
        </p:nvSpPr>
        <p:spPr>
          <a:xfrm>
            <a:off x="9321800" y="6359979"/>
            <a:ext cx="2208893" cy="369332"/>
          </a:xfrm>
          <a:prstGeom prst="rect">
            <a:avLst/>
          </a:prstGeom>
          <a:noFill/>
        </p:spPr>
        <p:txBody>
          <a:bodyPr wrap="square" rtlCol="0">
            <a:spAutoFit/>
          </a:bodyPr>
          <a:lstStyle/>
          <a:p>
            <a:r>
              <a:rPr lang="en-US" altLang="zh-CN" dirty="0"/>
              <a:t>Midterm Checkpoint</a:t>
            </a:r>
            <a:endParaRPr lang="zh-CN" altLang="en-US" dirty="0"/>
          </a:p>
        </p:txBody>
      </p:sp>
      <p:sp>
        <p:nvSpPr>
          <p:cNvPr id="4" name="文本框 3">
            <a:extLst>
              <a:ext uri="{FF2B5EF4-FFF2-40B4-BE49-F238E27FC236}">
                <a16:creationId xmlns:a16="http://schemas.microsoft.com/office/drawing/2014/main" id="{95133661-AF23-B1EE-3D42-77D411032F29}"/>
              </a:ext>
            </a:extLst>
          </p:cNvPr>
          <p:cNvSpPr txBox="1"/>
          <p:nvPr/>
        </p:nvSpPr>
        <p:spPr>
          <a:xfrm>
            <a:off x="416966" y="6332815"/>
            <a:ext cx="2727779" cy="369332"/>
          </a:xfrm>
          <a:prstGeom prst="rect">
            <a:avLst/>
          </a:prstGeom>
          <a:noFill/>
        </p:spPr>
        <p:txBody>
          <a:bodyPr wrap="square" rtlCol="0">
            <a:spAutoFit/>
          </a:bodyPr>
          <a:lstStyle/>
          <a:p>
            <a:pPr algn="ctr"/>
            <a:r>
              <a:rPr lang="en-US" altLang="zh-CN" dirty="0">
                <a:effectLst>
                  <a:outerShdw blurRad="38100" dist="38100" dir="2700000" algn="tl">
                    <a:srgbClr val="000000">
                      <a:alpha val="43137"/>
                    </a:srgbClr>
                  </a:outerShdw>
                </a:effectLst>
              </a:rPr>
              <a:t>Summary</a:t>
            </a:r>
            <a:endParaRPr lang="zh-CN" altLang="en-US" dirty="0">
              <a:effectLst>
                <a:outerShdw blurRad="38100" dist="38100" dir="2700000" algn="tl">
                  <a:srgbClr val="000000">
                    <a:alpha val="43137"/>
                  </a:srgbClr>
                </a:outerShdw>
              </a:effectLst>
            </a:endParaRPr>
          </a:p>
        </p:txBody>
      </p:sp>
      <p:sp>
        <p:nvSpPr>
          <p:cNvPr id="5" name="矩形: 圆顶角 4">
            <a:extLst>
              <a:ext uri="{FF2B5EF4-FFF2-40B4-BE49-F238E27FC236}">
                <a16:creationId xmlns:a16="http://schemas.microsoft.com/office/drawing/2014/main" id="{B159B0A8-F7B4-8C92-B7C4-CC6ABF6497DF}"/>
              </a:ext>
            </a:extLst>
          </p:cNvPr>
          <p:cNvSpPr/>
          <p:nvPr/>
        </p:nvSpPr>
        <p:spPr>
          <a:xfrm rot="10800000">
            <a:off x="416966" y="17270"/>
            <a:ext cx="3613708" cy="526694"/>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23B21A59-8FD2-0EC6-D10F-48AEDE599D28}"/>
              </a:ext>
            </a:extLst>
          </p:cNvPr>
          <p:cNvSpPr txBox="1"/>
          <p:nvPr/>
        </p:nvSpPr>
        <p:spPr>
          <a:xfrm>
            <a:off x="416966" y="-13596"/>
            <a:ext cx="3613708" cy="584775"/>
          </a:xfrm>
          <a:prstGeom prst="rect">
            <a:avLst/>
          </a:prstGeom>
          <a:noFill/>
        </p:spPr>
        <p:txBody>
          <a:bodyPr wrap="square" rtlCol="0">
            <a:spAutoFit/>
          </a:bodyPr>
          <a:lstStyle/>
          <a:p>
            <a:pPr algn="ctr"/>
            <a:r>
              <a:rPr lang="en-US" altLang="zh-CN" sz="3200" b="1" dirty="0">
                <a:latin typeface="High Tower Text" panose="02040502050506030303" pitchFamily="18" charset="0"/>
                <a:cs typeface="Times New Roman" panose="02020603050405020304" pitchFamily="18" charset="0"/>
              </a:rPr>
              <a:t>Summary</a:t>
            </a:r>
            <a:endParaRPr lang="zh-CN" altLang="en-US" sz="2000" b="1" dirty="0">
              <a:latin typeface="High Tower Text" panose="02040502050506030303" pitchFamily="18" charset="0"/>
            </a:endParaRPr>
          </a:p>
        </p:txBody>
      </p:sp>
      <p:sp>
        <p:nvSpPr>
          <p:cNvPr id="10" name="文本框 9">
            <a:extLst>
              <a:ext uri="{FF2B5EF4-FFF2-40B4-BE49-F238E27FC236}">
                <a16:creationId xmlns:a16="http://schemas.microsoft.com/office/drawing/2014/main" id="{8F6A6961-223C-7AA8-771B-1F44707B3447}"/>
              </a:ext>
            </a:extLst>
          </p:cNvPr>
          <p:cNvSpPr txBox="1"/>
          <p:nvPr/>
        </p:nvSpPr>
        <p:spPr>
          <a:xfrm>
            <a:off x="904774" y="924025"/>
            <a:ext cx="9519385" cy="2323713"/>
          </a:xfrm>
          <a:prstGeom prst="rect">
            <a:avLst/>
          </a:prstGeom>
          <a:noFill/>
        </p:spPr>
        <p:txBody>
          <a:bodyPr wrap="square">
            <a:spAutoFit/>
          </a:bodyPr>
          <a:lstStyle/>
          <a:p>
            <a:pPr marL="0" indent="0">
              <a:spcAft>
                <a:spcPts val="600"/>
              </a:spcAft>
              <a:buNone/>
            </a:pPr>
            <a:r>
              <a:rPr lang="en-US" altLang="zh-CN" sz="2000" dirty="0">
                <a:solidFill>
                  <a:srgbClr val="030A18"/>
                </a:solidFill>
                <a:latin typeface="Times New Roman" panose="02020603050405020304" pitchFamily="18" charset="0"/>
                <a:cs typeface="Times New Roman" panose="02020603050405020304" pitchFamily="18" charset="0"/>
              </a:rPr>
              <a:t>• Established a reproducible pipeline from EDA through automated reporting.
• Regression model delivers highly accurate interest rate predictions.
• Classification model shows promise but requires improvements in macro F1.
• Clustering reveals two customer segments, enabling targeted strategies.
• LangGraph agent workflow increases automation and reproducibility.
• Next steps focus on tuning, interpretability and final deliverables.</a:t>
            </a:r>
            <a:endParaRPr lang="en-US" altLang="zh-CN" sz="2000" dirty="0">
              <a:latin typeface="Times New Roman" panose="02020603050405020304" pitchFamily="18" charset="0"/>
              <a:cs typeface="Times New Roman" panose="02020603050405020304" pitchFamily="18" charset="0"/>
            </a:endParaRPr>
          </a:p>
        </p:txBody>
      </p:sp>
      <p:graphicFrame>
        <p:nvGraphicFramePr>
          <p:cNvPr id="13" name="Table 0">
            <a:extLst>
              <a:ext uri="{FF2B5EF4-FFF2-40B4-BE49-F238E27FC236}">
                <a16:creationId xmlns:a16="http://schemas.microsoft.com/office/drawing/2014/main" id="{F1F28994-68D8-AB4D-1E34-736FBC8517D2}"/>
              </a:ext>
            </a:extLst>
          </p:cNvPr>
          <p:cNvGraphicFramePr>
            <a:graphicFrameLocks noGrp="1"/>
          </p:cNvGraphicFramePr>
          <p:nvPr>
            <p:extLst>
              <p:ext uri="{D42A27DB-BD31-4B8C-83A1-F6EECF244321}">
                <p14:modId xmlns:p14="http://schemas.microsoft.com/office/powerpoint/2010/main" val="2084032871"/>
              </p:ext>
            </p:extLst>
          </p:nvPr>
        </p:nvGraphicFramePr>
        <p:xfrm>
          <a:off x="1164657" y="3518822"/>
          <a:ext cx="4576812" cy="2323715"/>
        </p:xfrm>
        <a:graphic>
          <a:graphicData uri="http://schemas.openxmlformats.org/drawingml/2006/table">
            <a:tbl>
              <a:tblPr/>
              <a:tblGrid>
                <a:gridCol w="1525604">
                  <a:extLst>
                    <a:ext uri="{9D8B030D-6E8A-4147-A177-3AD203B41FA5}">
                      <a16:colId xmlns:a16="http://schemas.microsoft.com/office/drawing/2014/main" val="20000"/>
                    </a:ext>
                  </a:extLst>
                </a:gridCol>
                <a:gridCol w="1525604">
                  <a:extLst>
                    <a:ext uri="{9D8B030D-6E8A-4147-A177-3AD203B41FA5}">
                      <a16:colId xmlns:a16="http://schemas.microsoft.com/office/drawing/2014/main" val="20001"/>
                    </a:ext>
                  </a:extLst>
                </a:gridCol>
                <a:gridCol w="1525604">
                  <a:extLst>
                    <a:ext uri="{9D8B030D-6E8A-4147-A177-3AD203B41FA5}">
                      <a16:colId xmlns:a16="http://schemas.microsoft.com/office/drawing/2014/main" val="20002"/>
                    </a:ext>
                  </a:extLst>
                </a:gridCol>
              </a:tblGrid>
              <a:tr h="464743">
                <a:tc>
                  <a:txBody>
                    <a:bodyPr/>
                    <a:lstStyle/>
                    <a:p>
                      <a:pPr marL="0" indent="0" algn="ctr">
                        <a:buNone/>
                      </a:pP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97B1DF"/>
                    </a:solidFill>
                  </a:tcPr>
                </a:tc>
                <a:tc>
                  <a:txBody>
                    <a:bodyPr/>
                    <a:lstStyle/>
                    <a:p>
                      <a:pPr marL="0" indent="0" algn="ctr">
                        <a:buNone/>
                      </a:pPr>
                      <a:r>
                        <a:rPr lang="en-US" sz="1600" b="1" dirty="0">
                          <a:solidFill>
                            <a:srgbClr val="FFFFFF"/>
                          </a:solidFill>
                          <a:latin typeface="Times New Roman" panose="02020603050405020304" pitchFamily="18" charset="0"/>
                          <a:cs typeface="Times New Roman" panose="02020603050405020304" pitchFamily="18" charset="0"/>
                        </a:rPr>
                        <a:t>Metric</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97B1DF"/>
                    </a:solidFill>
                  </a:tcPr>
                </a:tc>
                <a:tc>
                  <a:txBody>
                    <a:bodyPr/>
                    <a:lstStyle/>
                    <a:p>
                      <a:pPr marL="0" indent="0" algn="ctr">
                        <a:buNone/>
                      </a:pPr>
                      <a:r>
                        <a:rPr lang="en-US" sz="1600" b="1" dirty="0">
                          <a:solidFill>
                            <a:srgbClr val="FFFFFF"/>
                          </a:solidFill>
                          <a:latin typeface="Times New Roman" panose="02020603050405020304" pitchFamily="18" charset="0"/>
                          <a:cs typeface="Times New Roman" panose="02020603050405020304" pitchFamily="18" charset="0"/>
                        </a:rPr>
                        <a:t>Value</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97B1DF"/>
                    </a:solidFill>
                  </a:tcPr>
                </a:tc>
                <a:extLst>
                  <a:ext uri="{0D108BD9-81ED-4DB2-BD59-A6C34878D82A}">
                    <a16:rowId xmlns:a16="http://schemas.microsoft.com/office/drawing/2014/main" val="10000"/>
                  </a:ext>
                </a:extLst>
              </a:tr>
              <a:tr h="464743">
                <a:tc>
                  <a:txBody>
                    <a:bodyPr/>
                    <a:lstStyle/>
                    <a:p>
                      <a:pPr marL="0" indent="0" algn="ctr">
                        <a:buNone/>
                      </a:pP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Accuracy</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0.5738</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464743">
                <a:tc>
                  <a:txBody>
                    <a:bodyPr/>
                    <a:lstStyle/>
                    <a:p>
                      <a:pPr marL="0" indent="0" algn="ctr">
                        <a:buNone/>
                      </a:pP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F1 Macro</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0.3831</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extLst>
                  <a:ext uri="{0D108BD9-81ED-4DB2-BD59-A6C34878D82A}">
                    <a16:rowId xmlns:a16="http://schemas.microsoft.com/office/drawing/2014/main" val="10002"/>
                  </a:ext>
                </a:extLst>
              </a:tr>
              <a:tr h="464743">
                <a:tc>
                  <a:txBody>
                    <a:bodyPr/>
                    <a:lstStyle/>
                    <a:p>
                      <a:pPr marL="0" indent="0" algn="ctr">
                        <a:buNone/>
                      </a:pP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F1 Weighted</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0.5513</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r h="464743">
                <a:tc>
                  <a:txBody>
                    <a:bodyPr/>
                    <a:lstStyle/>
                    <a:p>
                      <a:pPr marL="0" indent="0" algn="ctr">
                        <a:buNone/>
                      </a:pP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AUC (ovr)</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tc>
                  <a:txBody>
                    <a:bodyPr/>
                    <a:lstStyle/>
                    <a:p>
                      <a:pPr marL="0" indent="0" algn="ctr">
                        <a:buNone/>
                      </a:pPr>
                      <a:r>
                        <a:rPr lang="en-US" sz="1600" dirty="0">
                          <a:solidFill>
                            <a:srgbClr val="000000"/>
                          </a:solidFill>
                          <a:latin typeface="Times New Roman" panose="02020603050405020304" pitchFamily="18" charset="0"/>
                          <a:cs typeface="Times New Roman" panose="02020603050405020304" pitchFamily="18" charset="0"/>
                        </a:rPr>
                        <a:t>0.8475</a:t>
                      </a:r>
                      <a:endParaRPr lang="en-US" sz="1600" dirty="0">
                        <a:latin typeface="Times New Roman" panose="02020603050405020304" pitchFamily="18" charset="0"/>
                        <a:cs typeface="Times New Roman" panose="02020603050405020304" pitchFamily="18" charset="0"/>
                      </a:endParaRPr>
                    </a:p>
                  </a:txBody>
                  <a:tcPr anchor="ctr">
                    <a:lnL w="3810" cap="flat" cmpd="sng" algn="ctr">
                      <a:solidFill>
                        <a:srgbClr val="97B1DF"/>
                      </a:solidFill>
                      <a:prstDash val="solid"/>
                      <a:round/>
                      <a:headEnd type="none" w="med" len="med"/>
                      <a:tailEnd type="none" w="med" len="med"/>
                    </a:lnL>
                    <a:lnR w="3810" cap="flat" cmpd="sng" algn="ctr">
                      <a:solidFill>
                        <a:srgbClr val="97B1DF"/>
                      </a:solidFill>
                      <a:prstDash val="solid"/>
                      <a:round/>
                      <a:headEnd type="none" w="med" len="med"/>
                      <a:tailEnd type="none" w="med" len="med"/>
                    </a:lnR>
                    <a:lnT w="3810" cap="flat" cmpd="sng" algn="ctr">
                      <a:solidFill>
                        <a:srgbClr val="97B1DF"/>
                      </a:solidFill>
                      <a:prstDash val="solid"/>
                      <a:round/>
                      <a:headEnd type="none" w="med" len="med"/>
                      <a:tailEnd type="none" w="med" len="med"/>
                    </a:lnT>
                    <a:lnB w="3810" cap="flat" cmpd="sng" algn="ctr">
                      <a:solidFill>
                        <a:srgbClr val="97B1D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5" name="文本框 14">
            <a:extLst>
              <a:ext uri="{FF2B5EF4-FFF2-40B4-BE49-F238E27FC236}">
                <a16:creationId xmlns:a16="http://schemas.microsoft.com/office/drawing/2014/main" id="{38EEB4CF-B4DF-25B5-E50F-F72A1EC37881}"/>
              </a:ext>
            </a:extLst>
          </p:cNvPr>
          <p:cNvSpPr txBox="1"/>
          <p:nvPr/>
        </p:nvSpPr>
        <p:spPr>
          <a:xfrm>
            <a:off x="6450533" y="3876525"/>
            <a:ext cx="4882147" cy="1200329"/>
          </a:xfrm>
          <a:prstGeom prst="rect">
            <a:avLst/>
          </a:prstGeom>
          <a:noFill/>
        </p:spPr>
        <p:txBody>
          <a:bodyPr wrap="square">
            <a:spAutoFit/>
          </a:bodyPr>
          <a:lstStyle/>
          <a:p>
            <a:pPr marL="0" indent="0">
              <a:buNone/>
            </a:pPr>
            <a:r>
              <a:rPr lang="en-US" altLang="zh-CN" sz="3600" b="1" dirty="0">
                <a:solidFill>
                  <a:srgbClr val="030A18"/>
                </a:solidFill>
              </a:rPr>
              <a:t>Any questions?
</a:t>
            </a:r>
            <a:r>
              <a:rPr lang="en-US" altLang="zh-CN" sz="1800" dirty="0">
                <a:solidFill>
                  <a:srgbClr val="030A18"/>
                </a:solidFill>
              </a:rPr>
              <a:t>We are happy to dive deeper into metrics, modelling choices or the agent workflow.</a:t>
            </a:r>
            <a:endParaRPr lang="en-US" altLang="zh-CN" sz="3600" dirty="0"/>
          </a:p>
        </p:txBody>
      </p:sp>
      <p:sp>
        <p:nvSpPr>
          <p:cNvPr id="16" name="文本框 15">
            <a:extLst>
              <a:ext uri="{FF2B5EF4-FFF2-40B4-BE49-F238E27FC236}">
                <a16:creationId xmlns:a16="http://schemas.microsoft.com/office/drawing/2014/main" id="{680659AA-9E5F-D8E1-86FA-CB56BB6F7A42}"/>
              </a:ext>
            </a:extLst>
          </p:cNvPr>
          <p:cNvSpPr txBox="1"/>
          <p:nvPr/>
        </p:nvSpPr>
        <p:spPr>
          <a:xfrm>
            <a:off x="2942924" y="6332815"/>
            <a:ext cx="6155356" cy="369332"/>
          </a:xfrm>
          <a:prstGeom prst="rect">
            <a:avLst/>
          </a:prstGeom>
          <a:noFill/>
        </p:spPr>
        <p:txBody>
          <a:bodyPr wrap="square">
            <a:spAutoFit/>
          </a:bodyPr>
          <a:lstStyle/>
          <a:p>
            <a:pPr algn="ctr"/>
            <a:r>
              <a:rPr lang="en-US" altLang="zh-CN" b="1" dirty="0"/>
              <a:t>Page 11/11</a:t>
            </a:r>
            <a:endParaRPr lang="zh-CN" altLang="en-US" b="1" dirty="0"/>
          </a:p>
        </p:txBody>
      </p:sp>
    </p:spTree>
    <p:extLst>
      <p:ext uri="{BB962C8B-B14F-4D97-AF65-F5344CB8AC3E}">
        <p14:creationId xmlns:p14="http://schemas.microsoft.com/office/powerpoint/2010/main" val="1168561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05A2C-8A02-EAC8-3AA2-1FCA2B5BFF65}"/>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246A48E9-CD78-DB8A-0CC1-6BE81BB5225B}"/>
              </a:ext>
            </a:extLst>
          </p:cNvPr>
          <p:cNvPicPr>
            <a:picLocks noChangeAspect="1"/>
          </p:cNvPicPr>
          <p:nvPr/>
        </p:nvPicPr>
        <p:blipFill>
          <a:blip r:embed="rId2">
            <a:alphaModFix amt="70000"/>
            <a:extLst>
              <a:ext uri="{BEBA8EAE-BF5A-486C-A8C5-ECC9F3942E4B}">
                <a14:imgProps xmlns:a14="http://schemas.microsoft.com/office/drawing/2010/main">
                  <a14:imgLayer r:embed="rId3">
                    <a14:imgEffect>
                      <a14:saturation sat="33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8311" y="0"/>
            <a:ext cx="12200311" cy="6858000"/>
          </a:xfrm>
          <a:prstGeom prst="rect">
            <a:avLst/>
          </a:prstGeom>
        </p:spPr>
      </p:pic>
      <p:sp>
        <p:nvSpPr>
          <p:cNvPr id="2" name="标题 1">
            <a:extLst>
              <a:ext uri="{FF2B5EF4-FFF2-40B4-BE49-F238E27FC236}">
                <a16:creationId xmlns:a16="http://schemas.microsoft.com/office/drawing/2014/main" id="{2B34644E-DA64-F22B-4C0B-1E9024A24BD7}"/>
              </a:ext>
            </a:extLst>
          </p:cNvPr>
          <p:cNvSpPr>
            <a:spLocks noGrp="1"/>
          </p:cNvSpPr>
          <p:nvPr>
            <p:ph type="ctrTitle"/>
          </p:nvPr>
        </p:nvSpPr>
        <p:spPr>
          <a:xfrm>
            <a:off x="1524000" y="1763396"/>
            <a:ext cx="9144000" cy="2387600"/>
          </a:xfrm>
        </p:spPr>
        <p:txBody>
          <a:bodyPr>
            <a:normAutofit/>
          </a:bodyPr>
          <a:lstStyle/>
          <a:p>
            <a:r>
              <a:rPr lang="en-US" altLang="zh-CN" sz="11500" dirty="0">
                <a:latin typeface="Times New Roman" panose="02020603050405020304" pitchFamily="18" charset="0"/>
                <a:cs typeface="Times New Roman" panose="02020603050405020304" pitchFamily="18" charset="0"/>
              </a:rPr>
              <a:t>Thanks</a:t>
            </a:r>
            <a:endParaRPr lang="zh-CN" altLang="en-US" sz="11500" dirty="0">
              <a:latin typeface="Times New Roman" panose="02020603050405020304" pitchFamily="18" charset="0"/>
              <a:cs typeface="Times New Roman" panose="02020603050405020304" pitchFamily="18" charset="0"/>
            </a:endParaRPr>
          </a:p>
        </p:txBody>
      </p:sp>
      <p:sp>
        <p:nvSpPr>
          <p:cNvPr id="3" name="副标题 2">
            <a:extLst>
              <a:ext uri="{FF2B5EF4-FFF2-40B4-BE49-F238E27FC236}">
                <a16:creationId xmlns:a16="http://schemas.microsoft.com/office/drawing/2014/main" id="{5BF3CB77-FE46-E770-B22B-220AA282BA60}"/>
              </a:ext>
            </a:extLst>
          </p:cNvPr>
          <p:cNvSpPr>
            <a:spLocks noGrp="1"/>
          </p:cNvSpPr>
          <p:nvPr>
            <p:ph type="subTitle" idx="1"/>
          </p:nvPr>
        </p:nvSpPr>
        <p:spPr>
          <a:xfrm>
            <a:off x="1524000" y="5101269"/>
            <a:ext cx="9144000" cy="1655762"/>
          </a:xfrm>
        </p:spPr>
        <p:txBody>
          <a:bodyPr>
            <a:normAutofit/>
          </a:bodyPr>
          <a:lstStyle/>
          <a:p>
            <a:r>
              <a:rPr lang="en-US" altLang="zh-CN" dirty="0"/>
              <a:t>Team: </a:t>
            </a:r>
            <a:r>
              <a:rPr lang="en-US" altLang="zh-CN" dirty="0">
                <a:latin typeface="Times New Roman" panose="02020603050405020304" pitchFamily="18" charset="0"/>
                <a:cs typeface="Times New Roman" panose="02020603050405020304" pitchFamily="18" charset="0"/>
              </a:rPr>
              <a:t>Northlake</a:t>
            </a:r>
          </a:p>
        </p:txBody>
      </p:sp>
      <p:pic>
        <p:nvPicPr>
          <p:cNvPr id="4" name="图片 3">
            <a:extLst>
              <a:ext uri="{FF2B5EF4-FFF2-40B4-BE49-F238E27FC236}">
                <a16:creationId xmlns:a16="http://schemas.microsoft.com/office/drawing/2014/main" id="{D95E5094-4CFB-7A21-B342-E225891DE17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1626" y="140236"/>
            <a:ext cx="1078744" cy="1077225"/>
          </a:xfrm>
          <a:prstGeom prst="rect">
            <a:avLst/>
          </a:prstGeom>
        </p:spPr>
      </p:pic>
      <p:pic>
        <p:nvPicPr>
          <p:cNvPr id="6" name="图片 5">
            <a:extLst>
              <a:ext uri="{FF2B5EF4-FFF2-40B4-BE49-F238E27FC236}">
                <a16:creationId xmlns:a16="http://schemas.microsoft.com/office/drawing/2014/main" id="{E2C81C59-B02C-159B-24C8-D14758F0DD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30719" y="-197885"/>
            <a:ext cx="1961281" cy="1961281"/>
          </a:xfrm>
          <a:prstGeom prst="rect">
            <a:avLst/>
          </a:prstGeom>
        </p:spPr>
      </p:pic>
    </p:spTree>
    <p:extLst>
      <p:ext uri="{BB962C8B-B14F-4D97-AF65-F5344CB8AC3E}">
        <p14:creationId xmlns:p14="http://schemas.microsoft.com/office/powerpoint/2010/main" val="2290658328"/>
      </p:ext>
    </p:extLst>
  </p:cSld>
  <p:clrMapOvr>
    <a:masterClrMapping/>
  </p:clrMapOvr>
  <mc:AlternateContent xmlns:mc="http://schemas.openxmlformats.org/markup-compatibility/2006" xmlns:p14="http://schemas.microsoft.com/office/powerpoint/2010/main">
    <mc:Choice Requires="p14">
      <p:transition spd="slow" p14:dur="2000" advTm="3962"/>
    </mc:Choice>
    <mc:Fallback xmlns="">
      <p:transition spd="slow" advTm="3962"/>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1230</TotalTime>
  <Words>2704</Words>
  <Application>Microsoft Office PowerPoint</Application>
  <PresentationFormat>宽屏</PresentationFormat>
  <Paragraphs>165</Paragraphs>
  <Slides>14</Slides>
  <Notes>13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14</vt:i4>
      </vt:variant>
    </vt:vector>
  </HeadingPairs>
  <TitlesOfParts>
    <vt:vector size="22" baseType="lpstr">
      <vt:lpstr>Wingdings</vt:lpstr>
      <vt:lpstr>等线</vt:lpstr>
      <vt:lpstr>Eras Demi ITC</vt:lpstr>
      <vt:lpstr>Times New Roman</vt:lpstr>
      <vt:lpstr>Arial</vt:lpstr>
      <vt:lpstr>High Tower Text</vt:lpstr>
      <vt:lpstr>等线 Light</vt:lpstr>
      <vt:lpstr>Office 主题​​</vt:lpstr>
      <vt:lpstr>Financial Guardian: Financial Risk Prediction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Alan Lee</dc:creator>
  <cp:lastModifiedBy>Alan Lee</cp:lastModifiedBy>
  <cp:revision>39</cp:revision>
  <dcterms:created xsi:type="dcterms:W3CDTF">2025-09-15T15:34:56Z</dcterms:created>
  <dcterms:modified xsi:type="dcterms:W3CDTF">2025-10-12T00:45:00Z</dcterms:modified>
</cp:coreProperties>
</file>